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
      <p:font typeface="Fira Sans"/>
      <p:regular r:id="rId33"/>
      <p:bold r:id="rId34"/>
      <p:italic r:id="rId35"/>
      <p:boldItalic r:id="rId36"/>
    </p:embeddedFont>
    <p:embeddedFont>
      <p:font typeface="Quattrocento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FiraSans-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FiraSans-italic.fntdata"/><Relationship Id="rId12" Type="http://schemas.openxmlformats.org/officeDocument/2006/relationships/slide" Target="slides/slide7.xml"/><Relationship Id="rId34" Type="http://schemas.openxmlformats.org/officeDocument/2006/relationships/font" Target="fonts/FiraSans-bold.fntdata"/><Relationship Id="rId15" Type="http://schemas.openxmlformats.org/officeDocument/2006/relationships/slide" Target="slides/slide10.xml"/><Relationship Id="rId37" Type="http://schemas.openxmlformats.org/officeDocument/2006/relationships/font" Target="fonts/QuattrocentoSans-regular.fntdata"/><Relationship Id="rId14" Type="http://schemas.openxmlformats.org/officeDocument/2006/relationships/slide" Target="slides/slide9.xml"/><Relationship Id="rId36" Type="http://schemas.openxmlformats.org/officeDocument/2006/relationships/font" Target="fonts/FiraSans-boldItalic.fntdata"/><Relationship Id="rId17" Type="http://schemas.openxmlformats.org/officeDocument/2006/relationships/slide" Target="slides/slide12.xml"/><Relationship Id="rId39" Type="http://schemas.openxmlformats.org/officeDocument/2006/relationships/font" Target="fonts/QuattrocentoSans-italic.fntdata"/><Relationship Id="rId16" Type="http://schemas.openxmlformats.org/officeDocument/2006/relationships/slide" Target="slides/slide11.xml"/><Relationship Id="rId38" Type="http://schemas.openxmlformats.org/officeDocument/2006/relationships/font" Target="fonts/Quattrocento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D</a:t>
            </a:r>
            <a:r>
              <a:rPr lang="en"/>
              <a:t>octrine defines a BDA as the timely and accurate estimate of damage resulting from lethal and nonlethal military force. That estimate drives the commander’s reattack decision and shapes follow on targeting and maneuver.</a:t>
            </a:r>
            <a:br>
              <a:rPr lang="en"/>
            </a:br>
            <a:br>
              <a:rPr lang="en"/>
            </a:br>
            <a:r>
              <a:rPr lang="en"/>
              <a:t>From a single snapshot, an analyst can capture obvious physical effects and produce initial BDA inputs. </a:t>
            </a:r>
            <a:br>
              <a:rPr lang="en"/>
            </a:br>
            <a:r>
              <a:rPr lang="en"/>
              <a:t>	However, the current </a:t>
            </a:r>
            <a:r>
              <a:rPr b="1" lang="en"/>
              <a:t>process still depends on trained analysts applying human judgment, which is manpower intensive</a:t>
            </a:r>
            <a:r>
              <a:rPr lang="en"/>
              <a:t>, subjective, and </a:t>
            </a:r>
            <a:r>
              <a:rPr b="1" lang="en"/>
              <a:t>does not scale in high tempo operations</a:t>
            </a:r>
            <a:r>
              <a:rPr lang="en"/>
              <a:t>. </a:t>
            </a:r>
            <a:br>
              <a:rPr lang="en"/>
            </a:br>
            <a:r>
              <a:rPr lang="en"/>
              <a:t>	The comprehensive nature of BDA makes it </a:t>
            </a:r>
            <a:r>
              <a:rPr b="1" lang="en"/>
              <a:t>slow</a:t>
            </a:r>
            <a:r>
              <a:rPr lang="en"/>
              <a:t>; </a:t>
            </a:r>
            <a:r>
              <a:rPr b="1" lang="en"/>
              <a:t>large volumes of reporting</a:t>
            </a:r>
            <a:r>
              <a:rPr lang="en"/>
              <a:t> can overwhelm analysts and delay decisions. </a:t>
            </a:r>
            <a:br>
              <a:rPr lang="en"/>
            </a:br>
            <a:r>
              <a:rPr lang="en"/>
              <a:t>	</a:t>
            </a:r>
            <a:r>
              <a:rPr b="1" lang="en"/>
              <a:t>Errors in the process can become dangerous</a:t>
            </a:r>
            <a:r>
              <a:rPr lang="en"/>
              <a:t> when commanders demand high confidence and teams must push for additional collection in contested environments. </a:t>
            </a:r>
            <a:br>
              <a:rPr lang="en"/>
            </a:br>
            <a:r>
              <a:rPr lang="en"/>
              <a:t>	Finally, </a:t>
            </a:r>
            <a:r>
              <a:rPr b="1" lang="en"/>
              <a:t>BDA Outputs are also inconsistent and not standardized across analysts and organizations</a:t>
            </a:r>
            <a:r>
              <a:rPr lang="en"/>
              <a:t>, leading to uneven quality, duplicate reporting, and friction during reconciliation.</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3f8ab9a5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c3f8ab9a51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t>The current method by ARL takes a </a:t>
            </a:r>
            <a:r>
              <a:rPr b="1" lang="en"/>
              <a:t>single image</a:t>
            </a:r>
            <a:r>
              <a:rPr lang="en"/>
              <a:t>, feeds it to a </a:t>
            </a:r>
            <a:r>
              <a:rPr b="1" lang="en"/>
              <a:t>VLM</a:t>
            </a:r>
            <a:r>
              <a:rPr lang="en"/>
              <a:t>, and </a:t>
            </a:r>
            <a:r>
              <a:rPr b="1" lang="en"/>
              <a:t>outputs a JSON report</a:t>
            </a:r>
            <a:r>
              <a:rPr lang="en"/>
              <a:t>. </a:t>
            </a:r>
            <a:br>
              <a:rPr lang="en"/>
            </a:br>
            <a:endParaRPr/>
          </a:p>
          <a:p>
            <a:pPr indent="0" lvl="0" marL="0" rtl="0" algn="l">
              <a:lnSpc>
                <a:spcPct val="115000"/>
              </a:lnSpc>
              <a:spcBef>
                <a:spcPts val="1200"/>
              </a:spcBef>
              <a:spcAft>
                <a:spcPts val="0"/>
              </a:spcAft>
              <a:buSzPts val="1100"/>
              <a:buNone/>
            </a:pPr>
            <a:r>
              <a:rPr lang="en"/>
              <a:t>Challenges</a:t>
            </a:r>
            <a:r>
              <a:rPr lang="en"/>
              <a:t> that have been previously faced by the ARL team:</a:t>
            </a:r>
            <a:br>
              <a:rPr lang="en"/>
            </a:br>
            <a:r>
              <a:rPr lang="en"/>
              <a:t>	If the </a:t>
            </a:r>
            <a:r>
              <a:rPr b="1" lang="en"/>
              <a:t>prompt and schema are not aligned to doctrinal definitions</a:t>
            </a:r>
            <a:r>
              <a:rPr lang="en"/>
              <a:t>, phases, and confidence rules, the </a:t>
            </a:r>
            <a:r>
              <a:rPr b="1" lang="en"/>
              <a:t>output can drift</a:t>
            </a:r>
            <a:r>
              <a:rPr lang="en"/>
              <a:t> from while still seeming </a:t>
            </a:r>
            <a:r>
              <a:rPr lang="en"/>
              <a:t>authoritative</a:t>
            </a:r>
            <a:r>
              <a:rPr lang="en"/>
              <a:t>. </a:t>
            </a:r>
            <a:br>
              <a:rPr lang="en"/>
            </a:br>
            <a:r>
              <a:rPr lang="en"/>
              <a:t>	Understanding the </a:t>
            </a:r>
            <a:r>
              <a:rPr b="1" lang="en"/>
              <a:t>Model quality and evaluation is critical</a:t>
            </a:r>
            <a:r>
              <a:rPr lang="en"/>
              <a:t> because you must </a:t>
            </a:r>
            <a:r>
              <a:rPr b="1" lang="en"/>
              <a:t>measure accuracy and calibrate confidence</a:t>
            </a:r>
            <a:r>
              <a:rPr lang="en"/>
              <a:t> on the mission dataset, </a:t>
            </a:r>
            <a:r>
              <a:rPr b="1" lang="en"/>
              <a:t>or mistakes and hallucinations will scale</a:t>
            </a:r>
            <a:r>
              <a:rPr lang="en"/>
              <a:t> fast. </a:t>
            </a:r>
            <a:br>
              <a:rPr lang="en"/>
            </a:br>
            <a:r>
              <a:rPr lang="en"/>
              <a:t>	</a:t>
            </a:r>
            <a:r>
              <a:rPr b="1" lang="en"/>
              <a:t>Jupyter notebooks add delivery</a:t>
            </a:r>
            <a:r>
              <a:rPr lang="en"/>
              <a:t> </a:t>
            </a:r>
            <a:r>
              <a:rPr b="1" lang="en"/>
              <a:t>challenges </a:t>
            </a:r>
            <a:r>
              <a:rPr lang="en"/>
              <a:t>through weak </a:t>
            </a:r>
            <a:r>
              <a:rPr lang="en"/>
              <a:t>repeatability</a:t>
            </a:r>
            <a:r>
              <a:rPr lang="en"/>
              <a:t>, </a:t>
            </a:r>
            <a:r>
              <a:rPr b="1" lang="en"/>
              <a:t>making outputs harder to reproduce</a:t>
            </a:r>
            <a:r>
              <a:rPr lang="en"/>
              <a:t>, audit, and version.</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tackle these challenges, we are </a:t>
            </a:r>
            <a:r>
              <a:rPr b="1" lang="en"/>
              <a:t>objectively scoring VLM generated BDAs to measure accuracy, doctrinal alignment, and failure modes</a:t>
            </a:r>
            <a:r>
              <a:rPr lang="en"/>
              <a:t> as well as </a:t>
            </a:r>
            <a:r>
              <a:rPr b="1" lang="en"/>
              <a:t>developing</a:t>
            </a:r>
            <a:r>
              <a:rPr b="1" lang="en"/>
              <a:t> a portable, offline environment for edge devices in research settings</a:t>
            </a:r>
            <a:r>
              <a:rPr lang="en"/>
              <a:t> with pinned dependencies and repeatable execution, so BDA outputs are reproducible, versioned, and traceable.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3f8ab9a5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c3f8ab9a51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are </a:t>
            </a:r>
            <a:r>
              <a:rPr b="1" lang="en"/>
              <a:t>focusing the VLM on Phase 1 BDA, the initial, time sensitive physical damage assessment immediately after a strike</a:t>
            </a:r>
            <a:r>
              <a:rPr lang="en"/>
              <a:t>. Phase 1 is where </a:t>
            </a:r>
            <a:r>
              <a:rPr b="1" lang="en" u="sng"/>
              <a:t>imagery is most useful</a:t>
            </a:r>
            <a:r>
              <a:rPr lang="en"/>
              <a:t> because it </a:t>
            </a:r>
            <a:r>
              <a:rPr b="1" lang="en"/>
              <a:t>captures observable effects like fire, smoke, wreckage, and structural collapse</a:t>
            </a:r>
            <a:r>
              <a:rPr lang="en"/>
              <a:t>, and it is </a:t>
            </a:r>
            <a:r>
              <a:rPr b="1" lang="en"/>
              <a:t>often based on single source reporting</a:t>
            </a:r>
            <a:r>
              <a:rPr lang="en"/>
              <a:t>. We focus on the </a:t>
            </a:r>
            <a:r>
              <a:rPr b="1" lang="en"/>
              <a:t>VLM reporting on the target element </a:t>
            </a:r>
            <a:r>
              <a:rPr b="1" lang="en"/>
              <a:t>identifier</a:t>
            </a:r>
            <a:r>
              <a:rPr b="1" lang="en"/>
              <a:t>, the Phase 1 physical damage category, and provide a confidence level</a:t>
            </a:r>
            <a:r>
              <a:rPr lang="en"/>
              <a:t> tied to what is visible in the image </a:t>
            </a:r>
            <a:r>
              <a:rPr b="1" lang="en"/>
              <a:t>according</a:t>
            </a:r>
            <a:r>
              <a:rPr b="1" lang="en"/>
              <a:t> to </a:t>
            </a:r>
            <a:r>
              <a:rPr b="1" lang="en"/>
              <a:t>doctrine</a:t>
            </a:r>
            <a:r>
              <a:rPr lang="en"/>
              <a:t>.</a:t>
            </a:r>
            <a:endParaRPr/>
          </a:p>
          <a:p>
            <a:pPr indent="0" lvl="0" marL="0" rtl="0" algn="l">
              <a:lnSpc>
                <a:spcPct val="115000"/>
              </a:lnSpc>
              <a:spcBef>
                <a:spcPts val="1200"/>
              </a:spcBef>
              <a:spcAft>
                <a:spcPts val="0"/>
              </a:spcAft>
              <a:buClr>
                <a:schemeClr val="dk1"/>
              </a:buClr>
              <a:buSzPts val="1100"/>
              <a:buFont typeface="Arial"/>
              <a:buNone/>
            </a:pPr>
            <a:r>
              <a:rPr lang="en"/>
              <a:t>The </a:t>
            </a:r>
            <a:r>
              <a:rPr b="1" lang="en"/>
              <a:t>Target </a:t>
            </a:r>
            <a:r>
              <a:rPr lang="en"/>
              <a:t>reported are objects identified in the scene of military importance, example: </a:t>
            </a:r>
            <a:r>
              <a:rPr b="1" lang="en"/>
              <a:t>building</a:t>
            </a:r>
            <a:r>
              <a:rPr lang="en"/>
              <a:t>, </a:t>
            </a:r>
            <a:r>
              <a:rPr b="1" lang="en"/>
              <a:t>military </a:t>
            </a:r>
            <a:r>
              <a:rPr b="1" lang="en"/>
              <a:t>vehicle</a:t>
            </a:r>
            <a:r>
              <a:rPr lang="en"/>
              <a:t>, military </a:t>
            </a:r>
            <a:r>
              <a:rPr b="1" lang="en"/>
              <a:t>equipment</a:t>
            </a:r>
            <a:r>
              <a:rPr lang="en"/>
              <a:t>, </a:t>
            </a:r>
            <a:r>
              <a:rPr b="1" lang="en"/>
              <a:t>bridge</a:t>
            </a:r>
            <a:r>
              <a:rPr lang="en"/>
              <a:t>, </a:t>
            </a:r>
            <a:r>
              <a:rPr b="1" lang="en"/>
              <a:t>road</a:t>
            </a:r>
            <a:r>
              <a:rPr lang="en"/>
              <a:t>, etc</a:t>
            </a:r>
            <a:endParaRPr/>
          </a:p>
          <a:p>
            <a:pPr indent="0" lvl="0" marL="0" rtl="0" algn="l">
              <a:lnSpc>
                <a:spcPct val="115000"/>
              </a:lnSpc>
              <a:spcBef>
                <a:spcPts val="1200"/>
              </a:spcBef>
              <a:spcAft>
                <a:spcPts val="0"/>
              </a:spcAft>
              <a:buClr>
                <a:schemeClr val="dk1"/>
              </a:buClr>
              <a:buSzPts val="1100"/>
              <a:buFont typeface="Arial"/>
              <a:buNone/>
            </a:pPr>
            <a:r>
              <a:rPr lang="en"/>
              <a:t> Phase 1 </a:t>
            </a:r>
            <a:r>
              <a:rPr b="1" lang="en"/>
              <a:t>Physical Damage</a:t>
            </a:r>
            <a:r>
              <a:rPr lang="en"/>
              <a:t> can range from:</a:t>
            </a:r>
            <a:endParaRPr/>
          </a:p>
          <a:p>
            <a:pPr indent="457200" lvl="0" marL="0" rtl="0" algn="l">
              <a:lnSpc>
                <a:spcPct val="115000"/>
              </a:lnSpc>
              <a:spcBef>
                <a:spcPts val="1200"/>
              </a:spcBef>
              <a:spcAft>
                <a:spcPts val="0"/>
              </a:spcAft>
              <a:buClr>
                <a:schemeClr val="dk1"/>
              </a:buClr>
              <a:buSzPts val="1100"/>
              <a:buFont typeface="Arial"/>
              <a:buNone/>
            </a:pPr>
            <a:r>
              <a:rPr b="1" lang="en"/>
              <a:t>NO DAMAGE</a:t>
            </a:r>
            <a:r>
              <a:rPr lang="en"/>
              <a:t> - No apparent/observable damage.</a:t>
            </a:r>
            <a:endParaRPr/>
          </a:p>
          <a:p>
            <a:pPr indent="0" lvl="0" marL="0" rtl="0" algn="l">
              <a:lnSpc>
                <a:spcPct val="115000"/>
              </a:lnSpc>
              <a:spcBef>
                <a:spcPts val="1200"/>
              </a:spcBef>
              <a:spcAft>
                <a:spcPts val="0"/>
              </a:spcAft>
              <a:buClr>
                <a:schemeClr val="dk1"/>
              </a:buClr>
              <a:buSzPts val="1100"/>
              <a:buFont typeface="Arial"/>
              <a:buNone/>
            </a:pPr>
            <a:r>
              <a:rPr lang="en"/>
              <a:t> 	 </a:t>
            </a:r>
            <a:r>
              <a:rPr b="1" lang="en"/>
              <a:t>LIGHT </a:t>
            </a:r>
            <a:r>
              <a:rPr lang="en"/>
              <a:t>DAMAGE </a:t>
            </a:r>
            <a:endParaRPr/>
          </a:p>
          <a:p>
            <a:pPr indent="457200" lvl="0" marL="0" rtl="0" algn="l">
              <a:lnSpc>
                <a:spcPct val="115000"/>
              </a:lnSpc>
              <a:spcBef>
                <a:spcPts val="1200"/>
              </a:spcBef>
              <a:spcAft>
                <a:spcPts val="0"/>
              </a:spcAft>
              <a:buClr>
                <a:schemeClr val="dk1"/>
              </a:buClr>
              <a:buSzPts val="1100"/>
              <a:buFont typeface="Arial"/>
              <a:buNone/>
            </a:pPr>
            <a:r>
              <a:rPr lang="en"/>
              <a:t> </a:t>
            </a:r>
            <a:r>
              <a:rPr b="1" lang="en"/>
              <a:t>MODERATE </a:t>
            </a:r>
            <a:r>
              <a:rPr lang="en"/>
              <a:t>DAMAGE - All spans intact, but one or more spans damaged.</a:t>
            </a:r>
            <a:endParaRPr/>
          </a:p>
          <a:p>
            <a:pPr indent="0" lvl="0" marL="0" rtl="0" algn="l">
              <a:lnSpc>
                <a:spcPct val="115000"/>
              </a:lnSpc>
              <a:spcBef>
                <a:spcPts val="1200"/>
              </a:spcBef>
              <a:spcAft>
                <a:spcPts val="0"/>
              </a:spcAft>
              <a:buClr>
                <a:schemeClr val="dk1"/>
              </a:buClr>
              <a:buSzPts val="1100"/>
              <a:buFont typeface="Arial"/>
              <a:buNone/>
            </a:pPr>
            <a:r>
              <a:rPr lang="en"/>
              <a:t>    	</a:t>
            </a:r>
            <a:r>
              <a:rPr b="1" lang="en"/>
              <a:t>SEVERE </a:t>
            </a:r>
            <a:r>
              <a:rPr lang="en"/>
              <a:t>DAMAGE</a:t>
            </a:r>
            <a:endParaRPr/>
          </a:p>
          <a:p>
            <a:pPr indent="0" lvl="0" marL="0" rtl="0" algn="l">
              <a:lnSpc>
                <a:spcPct val="115000"/>
              </a:lnSpc>
              <a:spcBef>
                <a:spcPts val="1200"/>
              </a:spcBef>
              <a:spcAft>
                <a:spcPts val="0"/>
              </a:spcAft>
              <a:buClr>
                <a:schemeClr val="dk1"/>
              </a:buClr>
              <a:buSzPts val="1100"/>
              <a:buFont typeface="Arial"/>
              <a:buNone/>
            </a:pPr>
            <a:r>
              <a:rPr lang="en"/>
              <a:t> 	 </a:t>
            </a:r>
            <a:r>
              <a:rPr b="1" lang="en"/>
              <a:t>DESTROYED</a:t>
            </a:r>
            <a:endParaRPr b="1"/>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b="1" lang="en"/>
              <a:t>Confidence </a:t>
            </a:r>
            <a:r>
              <a:rPr lang="en"/>
              <a:t>is based on 3 levels</a:t>
            </a:r>
            <a:endParaRPr/>
          </a:p>
          <a:p>
            <a:pPr indent="457200" lvl="0" marL="0" rtl="0" algn="l">
              <a:lnSpc>
                <a:spcPct val="115000"/>
              </a:lnSpc>
              <a:spcBef>
                <a:spcPts val="1200"/>
              </a:spcBef>
              <a:spcAft>
                <a:spcPts val="0"/>
              </a:spcAft>
              <a:buClr>
                <a:schemeClr val="dk1"/>
              </a:buClr>
              <a:buSzPts val="1100"/>
              <a:buFont typeface="Arial"/>
              <a:buNone/>
            </a:pPr>
            <a:r>
              <a:rPr b="1" lang="en"/>
              <a:t>confirmed </a:t>
            </a:r>
            <a:r>
              <a:rPr lang="en"/>
              <a:t>— clear, direct visual evidence (</a:t>
            </a:r>
            <a:r>
              <a:rPr b="1" lang="en"/>
              <a:t>&gt;= 95</a:t>
            </a:r>
            <a:r>
              <a:rPr lang="en"/>
              <a:t> percent confidence)</a:t>
            </a:r>
            <a:endParaRPr/>
          </a:p>
          <a:p>
            <a:pPr indent="457200" lvl="0" marL="0" rtl="0" algn="l">
              <a:lnSpc>
                <a:spcPct val="115000"/>
              </a:lnSpc>
              <a:spcBef>
                <a:spcPts val="1200"/>
              </a:spcBef>
              <a:spcAft>
                <a:spcPts val="0"/>
              </a:spcAft>
              <a:buClr>
                <a:schemeClr val="dk1"/>
              </a:buClr>
              <a:buSzPts val="1100"/>
              <a:buFont typeface="Arial"/>
              <a:buNone/>
            </a:pPr>
            <a:r>
              <a:rPr b="1" lang="en"/>
              <a:t>probable </a:t>
            </a:r>
            <a:r>
              <a:rPr lang="en"/>
              <a:t>— visible but partially obscured or ambiguous (</a:t>
            </a:r>
            <a:r>
              <a:rPr b="1" lang="en"/>
              <a:t>50 to 94 </a:t>
            </a:r>
            <a:r>
              <a:rPr lang="en"/>
              <a:t>percent confidence)</a:t>
            </a:r>
            <a:endParaRPr/>
          </a:p>
          <a:p>
            <a:pPr indent="457200" lvl="0" marL="0" rtl="0" algn="l">
              <a:lnSpc>
                <a:spcPct val="115000"/>
              </a:lnSpc>
              <a:spcBef>
                <a:spcPts val="1200"/>
              </a:spcBef>
              <a:spcAft>
                <a:spcPts val="0"/>
              </a:spcAft>
              <a:buClr>
                <a:schemeClr val="dk1"/>
              </a:buClr>
              <a:buSzPts val="1100"/>
              <a:buFont typeface="Arial"/>
              <a:buNone/>
            </a:pPr>
            <a:r>
              <a:rPr b="1" lang="en"/>
              <a:t>possible </a:t>
            </a:r>
            <a:r>
              <a:rPr lang="en"/>
              <a:t>— weak or limited visual indicators (</a:t>
            </a:r>
            <a:r>
              <a:rPr b="1" lang="en"/>
              <a:t>&lt;50</a:t>
            </a:r>
            <a:r>
              <a:rPr lang="en"/>
              <a:t> percent confidence</a:t>
            </a:r>
            <a:endParaRPr i="1"/>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3f8ab9a5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c3f8ab9a51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t>Phase 2 and Phase 3 are where BDA stops being an image problem. </a:t>
            </a:r>
            <a:r>
              <a:rPr b="1" lang="en"/>
              <a:t>Phase 2 estimates functional damage at the scene level</a:t>
            </a:r>
            <a:r>
              <a:rPr lang="en"/>
              <a:t> and requires all source fusion over time. </a:t>
            </a:r>
            <a:r>
              <a:rPr b="1" lang="en"/>
              <a:t>Phase 3</a:t>
            </a:r>
            <a:r>
              <a:rPr lang="en"/>
              <a:t> </a:t>
            </a:r>
            <a:r>
              <a:rPr b="1" lang="en"/>
              <a:t>rolls that forward</a:t>
            </a:r>
            <a:r>
              <a:rPr lang="en"/>
              <a:t> into target system impact, recuperation time, re attack recommendation, and task assessment</a:t>
            </a:r>
            <a:r>
              <a:rPr b="1" lang="en"/>
              <a:t> tied to mission Measures of Effectiveness and OPORDs</a:t>
            </a:r>
            <a:r>
              <a:rPr lang="en"/>
              <a:t>. A </a:t>
            </a:r>
            <a:r>
              <a:rPr b="1" lang="en"/>
              <a:t>VLM is not viable for Phase 2–3 from imagery</a:t>
            </a:r>
            <a:r>
              <a:rPr lang="en"/>
              <a:t> because </a:t>
            </a:r>
            <a:r>
              <a:rPr b="1" lang="en"/>
              <a:t>functional effects are often non observable</a:t>
            </a:r>
            <a:r>
              <a:rPr lang="en"/>
              <a:t> and the conclusions depend on fused intelligence and mission context. If forced, it will either stay generic or over infer and produce non defensible outputs.</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Pass to </a:t>
            </a:r>
            <a:r>
              <a:rPr b="1" lang="en"/>
              <a:t>Carlos</a:t>
            </a: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99d2328b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c99d2328b3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Our system automates Phase 1 of the BDA process and includes limited Phase 2 functionality when the image supports it. This slide shows that transformation: raw image in, structured JSON assessment out, with categories, labels, and confidence scores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99d2328b3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c99d2328b3_3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Our system automates Phase 1 of the BDA process. This slide shows that transformation: raw image in, structured JSON assessment out, with categories, labels, and confidence scores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3f8ab9a5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c3f8ab9a51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449aa83f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449aa83f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We’ve collected 100 open‑source images that cover a wide range of real conflict environments. This gives us a strong starting point for testing and improving our workflow before we scale up. We focused on capturing variety so the dataset reflects the unpredictable nature of real scenes. Each image is labeled, tagged, and organized the same way, and every image gets a human‑written BDA report. That means the dataset isn’t just collected — it’s checked, graded, and ready to use. If an image doesn’t meet our standards, we replace it to keep the dataset clean and reliable. We’re starting with 100 images, but our goal is to grow to 250 and eventually toward 1,000. Overall, this pipeline shows we’re building a repeatable process, not just gathering pictures.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95a0908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95a0908b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dataset of 100 images is currently weighted towards military equipment. About 27% of the images contain buildings, and another 9% fall into a mixed category that includes both buildings and military equipment. Across all categories, scenes can contain either a single object or multiple objects. The remaining 64% of the dataset </a:t>
            </a:r>
            <a:r>
              <a:rPr lang="en"/>
              <a:t>consists</a:t>
            </a:r>
            <a:r>
              <a:rPr lang="en"/>
              <a:t> of images showing only </a:t>
            </a:r>
            <a:r>
              <a:rPr lang="en"/>
              <a:t>military</a:t>
            </a:r>
            <a:r>
              <a:rPr lang="en"/>
              <a:t> equipment.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Currently we have only these 3 categories, we plan to expand the dataset to include multiple different types of data. Bridges, dams, bunkers, runways, roads and everything </a:t>
            </a:r>
            <a:r>
              <a:rPr lang="en"/>
              <a:t>in between</a:t>
            </a: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91c67ffe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91c67ffe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now in our dataset of 100 images 61 are ground based photos. The set is skewed more towards ground level imagery as an end goal of ours is to deploy on a ground based robotics platform. The top bars represent images that have multiple objects in each image, while the bottom bars represent single target images. </a:t>
            </a:r>
            <a:r>
              <a:rPr lang="en">
                <a:solidFill>
                  <a:schemeClr val="dk1"/>
                </a:solidFill>
              </a:rPr>
              <a:t>Emphasizing ground perspectives ensure the model is trained on the same viewpoint where equipment is most relevant during real world operations.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99d2328b3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c99d2328b3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remaining</a:t>
            </a:r>
            <a:r>
              <a:rPr lang="en"/>
              <a:t> 39 photos in our current dataset of 100 are aerial based imagery. Aerial images make up a smaller part of the dataset, but still help the model see the same categories from a different viewpoint. This will add variety to help the model stay </a:t>
            </a:r>
            <a:r>
              <a:rPr lang="en"/>
              <a:t>consistent</a:t>
            </a:r>
            <a:r>
              <a:rPr lang="en"/>
              <a:t> when we run multiple different </a:t>
            </a:r>
            <a:r>
              <a:rPr lang="en"/>
              <a:t>viewpoints</a:t>
            </a:r>
            <a:r>
              <a:rPr lang="en"/>
              <a:t> through.</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3f8ab9a5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c3f8ab9a51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Current Phase:</a:t>
            </a:r>
            <a:endParaRPr/>
          </a:p>
          <a:p>
            <a:pPr indent="-298450" lvl="0" marL="457200" rtl="0" algn="l">
              <a:lnSpc>
                <a:spcPct val="100000"/>
              </a:lnSpc>
              <a:spcBef>
                <a:spcPts val="0"/>
              </a:spcBef>
              <a:spcAft>
                <a:spcPts val="0"/>
              </a:spcAft>
              <a:buSzPts val="1100"/>
              <a:buChar char="-"/>
            </a:pPr>
            <a:r>
              <a:rPr lang="en"/>
              <a:t>Edge device captures input scene</a:t>
            </a:r>
            <a:endParaRPr/>
          </a:p>
          <a:p>
            <a:pPr indent="-298450" lvl="0" marL="457200" rtl="0" algn="l">
              <a:lnSpc>
                <a:spcPct val="100000"/>
              </a:lnSpc>
              <a:spcBef>
                <a:spcPts val="0"/>
              </a:spcBef>
              <a:spcAft>
                <a:spcPts val="0"/>
              </a:spcAft>
              <a:buSzPts val="1100"/>
              <a:buChar char="-"/>
            </a:pPr>
            <a:r>
              <a:rPr lang="en"/>
              <a:t>Pass input scene to lightweight VLM, reason about scene, output only the doctrinal categories in the scene</a:t>
            </a:r>
            <a:endParaRPr/>
          </a:p>
          <a:p>
            <a:pPr indent="-298450" lvl="0" marL="457200" rtl="0" algn="l">
              <a:lnSpc>
                <a:spcPct val="100000"/>
              </a:lnSpc>
              <a:spcBef>
                <a:spcPts val="0"/>
              </a:spcBef>
              <a:spcAft>
                <a:spcPts val="0"/>
              </a:spcAft>
              <a:buSzPts val="1100"/>
              <a:buChar char="-"/>
            </a:pPr>
            <a:r>
              <a:rPr lang="en"/>
              <a:t>Generate prompt with doctrinal category definitions injected, pass the input scene and full prompt to the VLM</a:t>
            </a:r>
            <a:endParaRPr/>
          </a:p>
          <a:p>
            <a:pPr indent="-298450" lvl="0" marL="457200" rtl="0" algn="l">
              <a:lnSpc>
                <a:spcPct val="100000"/>
              </a:lnSpc>
              <a:spcBef>
                <a:spcPts val="0"/>
              </a:spcBef>
              <a:spcAft>
                <a:spcPts val="0"/>
              </a:spcAft>
              <a:buSzPts val="1100"/>
              <a:buChar char="-"/>
            </a:pPr>
            <a:r>
              <a:rPr lang="en"/>
              <a:t>VLM produces an output, which either gets sent to the analyst, or goes into our evaluation pipeline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Future Phase:</a:t>
            </a:r>
            <a:endParaRPr/>
          </a:p>
          <a:p>
            <a:pPr indent="-298450" lvl="0" marL="457200" rtl="0" algn="l">
              <a:lnSpc>
                <a:spcPct val="100000"/>
              </a:lnSpc>
              <a:spcBef>
                <a:spcPts val="0"/>
              </a:spcBef>
              <a:spcAft>
                <a:spcPts val="0"/>
              </a:spcAft>
              <a:buSzPts val="1100"/>
              <a:buChar char="-"/>
            </a:pPr>
            <a:r>
              <a:rPr lang="en"/>
              <a:t>Sometimes when an image has </a:t>
            </a:r>
            <a:r>
              <a:rPr lang="en"/>
              <a:t>many</a:t>
            </a:r>
            <a:r>
              <a:rPr lang="en"/>
              <a:t> targets, it can be difficult to tell what object in the scene corresponds to what object in the report. It would be nice to have a feature where the model draws an exact bounding box around the objects in the scene to output in the final report. To solve this, we plan on adding a lightweight object detector after the VLM does it’s inference.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3f8ab9a5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c3f8ab9a51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the purpose of the edge device, the model </a:t>
            </a:r>
            <a:r>
              <a:rPr lang="en"/>
              <a:t>simply</a:t>
            </a:r>
            <a:r>
              <a:rPr lang="en"/>
              <a:t> outputs a report and we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However, a major goal of this project is rigorous evaluation – how do we know how well the model performs?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Our evaluation approach uses a custom metric to evaluate all aspects of the report:</a:t>
            </a:r>
            <a:endParaRPr/>
          </a:p>
          <a:p>
            <a:pPr indent="-298450" lvl="0" marL="457200" rtl="0" algn="l">
              <a:lnSpc>
                <a:spcPct val="100000"/>
              </a:lnSpc>
              <a:spcBef>
                <a:spcPts val="0"/>
              </a:spcBef>
              <a:spcAft>
                <a:spcPts val="0"/>
              </a:spcAft>
              <a:buSzPts val="1100"/>
              <a:buChar char="-"/>
            </a:pPr>
            <a:r>
              <a:rPr lang="en"/>
              <a:t>Identifying the presence of individual targets  in the scene</a:t>
            </a:r>
            <a:endParaRPr/>
          </a:p>
          <a:p>
            <a:pPr indent="-298450" lvl="0" marL="457200" rtl="0" algn="l">
              <a:lnSpc>
                <a:spcPct val="100000"/>
              </a:lnSpc>
              <a:spcBef>
                <a:spcPts val="0"/>
              </a:spcBef>
              <a:spcAft>
                <a:spcPts val="0"/>
              </a:spcAft>
              <a:buSzPts val="1100"/>
              <a:buChar char="-"/>
            </a:pPr>
            <a:r>
              <a:rPr lang="en"/>
              <a:t>The correct doctrinal target type, damage level, and confidence level</a:t>
            </a:r>
            <a:endParaRPr/>
          </a:p>
          <a:p>
            <a:pPr indent="-298450" lvl="0" marL="457200" rtl="0" algn="l">
              <a:lnSpc>
                <a:spcPct val="100000"/>
              </a:lnSpc>
              <a:spcBef>
                <a:spcPts val="0"/>
              </a:spcBef>
              <a:spcAft>
                <a:spcPts val="0"/>
              </a:spcAft>
              <a:buSzPts val="1100"/>
              <a:buChar char="-"/>
            </a:pPr>
            <a:r>
              <a:rPr lang="en"/>
              <a:t>The natural language – evaluating the written logic to support these fields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We use an object matching approach to parse fixed categories such as the target type, damage level, and confidence level.</a:t>
            </a:r>
            <a:endParaRPr/>
          </a:p>
          <a:p>
            <a:pPr indent="0" lvl="0" marL="0" rtl="0" algn="l">
              <a:lnSpc>
                <a:spcPct val="100000"/>
              </a:lnSpc>
              <a:spcBef>
                <a:spcPts val="0"/>
              </a:spcBef>
              <a:spcAft>
                <a:spcPts val="0"/>
              </a:spcAft>
              <a:buNone/>
            </a:pPr>
            <a:r>
              <a:rPr lang="en"/>
              <a:t>We use an llm as a judge approach to evaluate the written logic.</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The final score for each image is the combination of the structured accuracy minus any </a:t>
            </a:r>
            <a:r>
              <a:rPr lang="en"/>
              <a:t>penalties</a:t>
            </a:r>
            <a:r>
              <a:rPr lang="en"/>
              <a:t> for hallucinations or missed objects plus the llm as a judge logic quality.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91c67ff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c91c67ffe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3f8ab9a5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3c3f8ab9a51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3f8ab9a5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c3f8ab9a51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Phase 3 is the target system assessment. It consolidates Phase 1 and Phase 2 reporting over time and estimates system level impact on a deliberate battle rhythm. This is where recuperation time, reattack recommendation, and task assessment require mission context tied to measures of effectiveness and planning products like the OPORD. A VLM is not viable for Phase 3 because answers depend on all source analysis and mission context, not image interpretation. If forced, it will either stay generic or produce non defensible system level conclusions.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c449aa83fe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3c449aa83fe_1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c99d2328b3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c99d2328b3_3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1475200"/>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125E4C"/>
              </a:buClr>
              <a:buSzPts val="5200"/>
              <a:buNone/>
              <a:defRPr sz="5200">
                <a:solidFill>
                  <a:srgbClr val="125E4C"/>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
          <p:cNvSpPr txBox="1"/>
          <p:nvPr>
            <p:ph idx="1" type="subTitle"/>
          </p:nvPr>
        </p:nvSpPr>
        <p:spPr>
          <a:xfrm>
            <a:off x="311700" y="358025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 name="Google Shape;14;p2"/>
          <p:cNvPicPr preferRelativeResize="0"/>
          <p:nvPr/>
        </p:nvPicPr>
        <p:blipFill rotWithShape="1">
          <a:blip r:embed="rId2">
            <a:alphaModFix/>
          </a:blip>
          <a:srcRect b="0" l="0" r="0" t="0"/>
          <a:stretch/>
        </p:blipFill>
        <p:spPr>
          <a:xfrm>
            <a:off x="3851639" y="542775"/>
            <a:ext cx="1440725" cy="520950"/>
          </a:xfrm>
          <a:prstGeom prst="rect">
            <a:avLst/>
          </a:prstGeom>
          <a:noFill/>
          <a:ln>
            <a:noFill/>
          </a:ln>
        </p:spPr>
      </p:pic>
      <p:sp>
        <p:nvSpPr>
          <p:cNvPr id="15" name="Google Shape;15;p2"/>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2"/>
          <p:cNvSpPr/>
          <p:nvPr/>
        </p:nvSpPr>
        <p:spPr>
          <a:xfrm>
            <a:off x="0" y="4697575"/>
            <a:ext cx="9144000" cy="445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 name="Google Shape;24;p4"/>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5"/>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il()">
  <p:cSld name="CUSTOM">
    <p:bg>
      <p:bgPr>
        <a:solidFill>
          <a:schemeClr val="lt2"/>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0" l="0" r="0" t="0"/>
          <a:stretch/>
        </p:blipFill>
        <p:spPr>
          <a:xfrm>
            <a:off x="3749731" y="2274428"/>
            <a:ext cx="1644550" cy="594650"/>
          </a:xfrm>
          <a:prstGeom prst="rect">
            <a:avLst/>
          </a:prstGeom>
          <a:noFill/>
          <a:ln>
            <a:noFill/>
          </a:ln>
        </p:spPr>
      </p:pic>
      <p:sp>
        <p:nvSpPr>
          <p:cNvPr id="31" name="Google Shape;31;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7"/>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1"/>
              </a:buClr>
              <a:buSzPts val="2400"/>
              <a:buNone/>
              <a:defRPr sz="2400">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8"/>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125E4C"/>
              </a:buClr>
              <a:buSzPts val="4800"/>
              <a:buNone/>
              <a:defRPr sz="4800">
                <a:solidFill>
                  <a:srgbClr val="125E4C"/>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9"/>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125E4C"/>
              </a:buClr>
              <a:buSzPts val="4200"/>
              <a:buNone/>
              <a:defRPr sz="4200">
                <a:solidFill>
                  <a:srgbClr val="125E4C"/>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5" name="Google Shape;45;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sz="2100">
                <a:solidFill>
                  <a:schemeClr val="accen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10"/>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0" name="Google Shape;50;p11"/>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3" name="Google Shape;53;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4" name="Google Shape;54;p12"/>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3"/>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57" name="Shape 57"/>
        <p:cNvGrpSpPr/>
        <p:nvPr/>
      </p:nvGrpSpPr>
      <p:grpSpPr>
        <a:xfrm>
          <a:off x="0" y="0"/>
          <a:ext cx="0" cy="0"/>
          <a:chOff x="0" y="0"/>
          <a:chExt cx="0" cy="0"/>
        </a:xfrm>
      </p:grpSpPr>
      <p:sp>
        <p:nvSpPr>
          <p:cNvPr id="58" name="Google Shape;58;p14"/>
          <p:cNvSpPr txBox="1"/>
          <p:nvPr>
            <p:ph type="title"/>
          </p:nvPr>
        </p:nvSpPr>
        <p:spPr>
          <a:xfrm>
            <a:off x="342898" y="171450"/>
            <a:ext cx="8458200" cy="8574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2700"/>
              <a:buFont typeface="Arial"/>
              <a:buNone/>
              <a:defRPr b="0" i="0" sz="3600" u="none" cap="none" strike="noStrike">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9" name="Google Shape;59;p14"/>
          <p:cNvSpPr txBox="1"/>
          <p:nvPr>
            <p:ph idx="1" type="body"/>
          </p:nvPr>
        </p:nvSpPr>
        <p:spPr>
          <a:xfrm>
            <a:off x="342898" y="1085849"/>
            <a:ext cx="8458200" cy="3771900"/>
          </a:xfrm>
          <a:prstGeom prst="rect">
            <a:avLst/>
          </a:prstGeom>
          <a:noFill/>
          <a:ln>
            <a:noFill/>
          </a:ln>
        </p:spPr>
        <p:txBody>
          <a:bodyPr anchorCtr="0" anchor="t" bIns="68575" lIns="68575" spcFirstLastPara="1" rIns="68575" wrap="square" tIns="68575">
            <a:normAutofit/>
          </a:bodyPr>
          <a:lstStyle>
            <a:lvl1pPr indent="-228600" lvl="0" marL="457200" marR="0" algn="l">
              <a:lnSpc>
                <a:spcPct val="100000"/>
              </a:lnSpc>
              <a:spcBef>
                <a:spcPts val="500"/>
              </a:spcBef>
              <a:spcAft>
                <a:spcPts val="0"/>
              </a:spcAft>
              <a:buClr>
                <a:schemeClr val="dk1"/>
              </a:buClr>
              <a:buSzPts val="2000"/>
              <a:buFont typeface="Arial"/>
              <a:buNone/>
              <a:defRPr b="0" i="0" sz="2700" u="none" cap="none" strike="noStrike">
                <a:solidFill>
                  <a:schemeClr val="dk1"/>
                </a:solidFill>
                <a:latin typeface="Arial"/>
                <a:ea typeface="Arial"/>
                <a:cs typeface="Arial"/>
                <a:sym typeface="Arial"/>
              </a:defRPr>
            </a:lvl1pPr>
            <a:lvl2pPr indent="-228600" lvl="1" marL="9144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2pPr>
            <a:lvl3pPr indent="-228600" lvl="2" marL="1371600" marR="0" algn="l">
              <a:lnSpc>
                <a:spcPct val="100000"/>
              </a:lnSpc>
              <a:spcBef>
                <a:spcPts val="40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indent="-228600" lvl="3" marL="1828800" marR="0" algn="l">
              <a:lnSpc>
                <a:spcPct val="100000"/>
              </a:lnSpc>
              <a:spcBef>
                <a:spcPts val="300"/>
              </a:spcBef>
              <a:spcAft>
                <a:spcPts val="0"/>
              </a:spcAft>
              <a:buClr>
                <a:schemeClr val="dk1"/>
              </a:buClr>
              <a:buSzPts val="12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300"/>
              </a:spcBef>
              <a:spcAft>
                <a:spcPts val="0"/>
              </a:spcAft>
              <a:buClr>
                <a:schemeClr val="dk1"/>
              </a:buClr>
              <a:buSzPts val="12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6pPr>
            <a:lvl7pPr indent="-228600" lvl="6" marL="32004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7pPr>
            <a:lvl8pPr indent="-228600" lvl="7" marL="36576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8pPr>
            <a:lvl9pPr indent="-228600" lvl="8" marL="41148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9pPr>
          </a:lstStyle>
          <a:p/>
        </p:txBody>
      </p:sp>
      <p:sp>
        <p:nvSpPr>
          <p:cNvPr id="60" name="Google Shape;60;p14"/>
          <p:cNvSpPr txBox="1"/>
          <p:nvPr>
            <p:ph idx="12" type="sldNum"/>
          </p:nvPr>
        </p:nvSpPr>
        <p:spPr>
          <a:xfrm>
            <a:off x="8556784" y="4749851"/>
            <a:ext cx="548700" cy="393600"/>
          </a:xfrm>
          <a:prstGeom prst="rect">
            <a:avLst/>
          </a:prstGeom>
          <a:noFill/>
          <a:ln>
            <a:noFill/>
          </a:ln>
        </p:spPr>
        <p:txBody>
          <a:bodyPr anchorCtr="0" anchor="t" bIns="68575" lIns="68575" spcFirstLastPara="1" rIns="68575" wrap="square" tIns="68575">
            <a:noAutofit/>
          </a:bodyPr>
          <a:lstStyle>
            <a:lvl1pPr indent="0" lvl="0"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4736275"/>
            <a:ext cx="9420300" cy="4071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1200"/>
              <a:t>                 </a:t>
            </a:r>
            <a:r>
              <a:rPr b="0" i="0" lang="en" sz="1200" u="none" cap="none" strike="noStrike">
                <a:solidFill>
                  <a:srgbClr val="000000"/>
                </a:solidFill>
                <a:latin typeface="Arial"/>
                <a:ea typeface="Arial"/>
                <a:cs typeface="Arial"/>
                <a:sym typeface="Arial"/>
              </a:rPr>
              <a:t>S2</a:t>
            </a:r>
            <a:r>
              <a:rPr lang="en" sz="1200"/>
              <a:t>6</a:t>
            </a:r>
            <a:r>
              <a:rPr b="0" i="0" lang="en" sz="1200" u="none" cap="none" strike="noStrike">
                <a:solidFill>
                  <a:srgbClr val="000000"/>
                </a:solidFill>
                <a:latin typeface="Arial"/>
                <a:ea typeface="Arial"/>
                <a:cs typeface="Arial"/>
                <a:sym typeface="Arial"/>
              </a:rPr>
              <a:t> AI Technicians - Capstone</a:t>
            </a:r>
            <a:endParaRPr b="0" i="0" sz="1200" u="none" cap="none" strike="noStrike">
              <a:solidFill>
                <a:srgbClr val="000000"/>
              </a:solidFill>
              <a:latin typeface="Arial"/>
              <a:ea typeface="Arial"/>
              <a:cs typeface="Arial"/>
              <a:sym typeface="Arial"/>
            </a:endParaRPr>
          </a:p>
        </p:txBody>
      </p:sp>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2800"/>
              <a:buFont typeface="Fira Sans"/>
              <a:buNone/>
              <a:defRPr b="0" i="0" sz="2800" u="none" cap="none" strike="noStrike">
                <a:solidFill>
                  <a:schemeClr val="accent1"/>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Fira Sans"/>
              <a:buChar char="●"/>
              <a:defRPr b="0" i="0" sz="1800" u="none" cap="none" strike="noStrike">
                <a:solidFill>
                  <a:schemeClr val="dk2"/>
                </a:solidFill>
                <a:latin typeface="Fira Sans"/>
                <a:ea typeface="Fira Sans"/>
                <a:cs typeface="Fira Sans"/>
                <a:sym typeface="Fira Sans"/>
              </a:defRPr>
            </a:lvl1pPr>
            <a:lvl2pPr indent="-317500" lvl="1" marL="9144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2pPr>
            <a:lvl3pPr indent="-317500" lvl="2" marL="13716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3pPr>
            <a:lvl4pPr indent="-317500" lvl="3" marL="18288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4pPr>
            <a:lvl5pPr indent="-317500" lvl="4" marL="22860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5pPr>
            <a:lvl6pPr indent="-317500" lvl="5" marL="27432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6pPr>
            <a:lvl7pPr indent="-317500" lvl="6" marL="32004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7pPr>
            <a:lvl8pPr indent="-317500" lvl="7" marL="36576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8pPr>
            <a:lvl9pPr indent="-317500" lvl="8" marL="41148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9pPr>
          </a:lstStyle>
          <a:p/>
        </p:txBody>
      </p:sp>
      <p:pic>
        <p:nvPicPr>
          <p:cNvPr id="9" name="Google Shape;9;p1"/>
          <p:cNvPicPr preferRelativeResize="0"/>
          <p:nvPr/>
        </p:nvPicPr>
        <p:blipFill rotWithShape="1">
          <a:blip r:embed="rId1">
            <a:alphaModFix/>
          </a:blip>
          <a:srcRect b="0" l="0" r="0" t="0"/>
          <a:stretch/>
        </p:blipFill>
        <p:spPr>
          <a:xfrm>
            <a:off x="217689" y="4850612"/>
            <a:ext cx="493400" cy="178425"/>
          </a:xfrm>
          <a:prstGeom prst="rect">
            <a:avLst/>
          </a:prstGeom>
          <a:noFill/>
          <a:ln>
            <a:noFill/>
          </a:ln>
        </p:spPr>
      </p:pic>
      <p:sp>
        <p:nvSpPr>
          <p:cNvPr id="10" name="Google Shape;10;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Fira Sans"/>
                <a:ea typeface="Fira Sans"/>
                <a:cs typeface="Fira Sans"/>
                <a:sym typeface="Fira Sans"/>
              </a:defRPr>
            </a:lvl1pPr>
            <a:lvl2pPr lvl="1" algn="r">
              <a:buNone/>
              <a:defRPr sz="1300">
                <a:solidFill>
                  <a:schemeClr val="dk2"/>
                </a:solidFill>
                <a:latin typeface="Fira Sans"/>
                <a:ea typeface="Fira Sans"/>
                <a:cs typeface="Fira Sans"/>
                <a:sym typeface="Fira Sans"/>
              </a:defRPr>
            </a:lvl2pPr>
            <a:lvl3pPr lvl="2" algn="r">
              <a:buNone/>
              <a:defRPr sz="1300">
                <a:solidFill>
                  <a:schemeClr val="dk2"/>
                </a:solidFill>
                <a:latin typeface="Fira Sans"/>
                <a:ea typeface="Fira Sans"/>
                <a:cs typeface="Fira Sans"/>
                <a:sym typeface="Fira Sans"/>
              </a:defRPr>
            </a:lvl3pPr>
            <a:lvl4pPr lvl="3" algn="r">
              <a:buNone/>
              <a:defRPr sz="1300">
                <a:solidFill>
                  <a:schemeClr val="dk2"/>
                </a:solidFill>
                <a:latin typeface="Fira Sans"/>
                <a:ea typeface="Fira Sans"/>
                <a:cs typeface="Fira Sans"/>
                <a:sym typeface="Fira Sans"/>
              </a:defRPr>
            </a:lvl4pPr>
            <a:lvl5pPr lvl="4" algn="r">
              <a:buNone/>
              <a:defRPr sz="1300">
                <a:solidFill>
                  <a:schemeClr val="dk2"/>
                </a:solidFill>
                <a:latin typeface="Fira Sans"/>
                <a:ea typeface="Fira Sans"/>
                <a:cs typeface="Fira Sans"/>
                <a:sym typeface="Fira Sans"/>
              </a:defRPr>
            </a:lvl5pPr>
            <a:lvl6pPr lvl="5" algn="r">
              <a:buNone/>
              <a:defRPr sz="1300">
                <a:solidFill>
                  <a:schemeClr val="dk2"/>
                </a:solidFill>
                <a:latin typeface="Fira Sans"/>
                <a:ea typeface="Fira Sans"/>
                <a:cs typeface="Fira Sans"/>
                <a:sym typeface="Fira Sans"/>
              </a:defRPr>
            </a:lvl6pPr>
            <a:lvl7pPr lvl="6" algn="r">
              <a:buNone/>
              <a:defRPr sz="1300">
                <a:solidFill>
                  <a:schemeClr val="dk2"/>
                </a:solidFill>
                <a:latin typeface="Fira Sans"/>
                <a:ea typeface="Fira Sans"/>
                <a:cs typeface="Fira Sans"/>
                <a:sym typeface="Fira Sans"/>
              </a:defRPr>
            </a:lvl7pPr>
            <a:lvl8pPr lvl="7" algn="r">
              <a:buNone/>
              <a:defRPr sz="1300">
                <a:solidFill>
                  <a:schemeClr val="dk2"/>
                </a:solidFill>
                <a:latin typeface="Fira Sans"/>
                <a:ea typeface="Fira Sans"/>
                <a:cs typeface="Fira Sans"/>
                <a:sym typeface="Fira Sans"/>
              </a:defRPr>
            </a:lvl8pPr>
            <a:lvl9pPr lvl="8" algn="r">
              <a:buNone/>
              <a:defRPr sz="1300">
                <a:solidFill>
                  <a:schemeClr val="dk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4.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jpg"/><Relationship Id="rId4" Type="http://schemas.openxmlformats.org/officeDocument/2006/relationships/image" Target="../media/image21.jpg"/><Relationship Id="rId5" Type="http://schemas.openxmlformats.org/officeDocument/2006/relationships/image" Target="../media/image22.jpg"/><Relationship Id="rId6"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jpg"/><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jpg"/><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8" y="1475200"/>
            <a:ext cx="8520600" cy="2052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lang="en"/>
              <a:t>VLMs for Autonomous Battle Damage Assessment (BDA)</a:t>
            </a:r>
            <a:endParaRPr/>
          </a:p>
          <a:p>
            <a:pPr indent="0" lvl="0" marL="0" rtl="0" algn="ctr">
              <a:lnSpc>
                <a:spcPct val="100000"/>
              </a:lnSpc>
              <a:spcBef>
                <a:spcPts val="0"/>
              </a:spcBef>
              <a:spcAft>
                <a:spcPts val="0"/>
              </a:spcAft>
              <a:buSzPct val="100000"/>
              <a:buNone/>
            </a:pPr>
            <a:r>
              <a:rPr lang="en"/>
              <a:t>Mid-Phase II</a:t>
            </a:r>
            <a:endParaRPr/>
          </a:p>
        </p:txBody>
      </p:sp>
      <p:sp>
        <p:nvSpPr>
          <p:cNvPr id="66" name="Google Shape;66;p15"/>
          <p:cNvSpPr txBox="1"/>
          <p:nvPr>
            <p:ph idx="1" type="subTitle"/>
          </p:nvPr>
        </p:nvSpPr>
        <p:spPr>
          <a:xfrm>
            <a:off x="311700" y="35802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091"/>
              <a:buNone/>
            </a:pPr>
            <a:r>
              <a:rPr lang="en"/>
              <a:t>FEB 23, 2026</a:t>
            </a:r>
            <a:endParaRPr/>
          </a:p>
        </p:txBody>
      </p:sp>
      <p:sp>
        <p:nvSpPr>
          <p:cNvPr id="67" name="Google Shape;67;p15"/>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VLMs for Autonomous Battle Damage Assessment</a:t>
            </a:r>
            <a:endParaRPr/>
          </a:p>
        </p:txBody>
      </p:sp>
      <p:sp>
        <p:nvSpPr>
          <p:cNvPr id="73" name="Google Shape;73;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b="1" lang="en"/>
              <a:t>Project Overview:</a:t>
            </a:r>
            <a:endParaRPr b="1"/>
          </a:p>
          <a:p>
            <a:pPr indent="-317500" lvl="0" marL="457200" rtl="0" algn="l">
              <a:lnSpc>
                <a:spcPct val="115000"/>
              </a:lnSpc>
              <a:spcBef>
                <a:spcPts val="1200"/>
              </a:spcBef>
              <a:spcAft>
                <a:spcPts val="0"/>
              </a:spcAft>
              <a:buSzPts val="1400"/>
              <a:buChar char="-"/>
            </a:pPr>
            <a:r>
              <a:rPr lang="en"/>
              <a:t>Background</a:t>
            </a:r>
            <a:endParaRPr/>
          </a:p>
          <a:p>
            <a:pPr indent="-317500" lvl="0" marL="457200" rtl="0" algn="l">
              <a:lnSpc>
                <a:spcPct val="115000"/>
              </a:lnSpc>
              <a:spcBef>
                <a:spcPts val="0"/>
              </a:spcBef>
              <a:spcAft>
                <a:spcPts val="0"/>
              </a:spcAft>
              <a:buSzPts val="1400"/>
              <a:buChar char="-"/>
            </a:pPr>
            <a:r>
              <a:rPr lang="en"/>
              <a:t>Data Engineering</a:t>
            </a:r>
            <a:endParaRPr/>
          </a:p>
          <a:p>
            <a:pPr indent="-317500" lvl="0" marL="457200" rtl="0" algn="l">
              <a:lnSpc>
                <a:spcPct val="115000"/>
              </a:lnSpc>
              <a:spcBef>
                <a:spcPts val="0"/>
              </a:spcBef>
              <a:spcAft>
                <a:spcPts val="0"/>
              </a:spcAft>
              <a:buSzPts val="1400"/>
              <a:buChar char="-"/>
            </a:pPr>
            <a:r>
              <a:rPr lang="en"/>
              <a:t>Modeling</a:t>
            </a:r>
            <a:endParaRPr/>
          </a:p>
          <a:p>
            <a:pPr indent="-317500" lvl="0" marL="457200" rtl="0" algn="l">
              <a:lnSpc>
                <a:spcPct val="115000"/>
              </a:lnSpc>
              <a:spcBef>
                <a:spcPts val="0"/>
              </a:spcBef>
              <a:spcAft>
                <a:spcPts val="0"/>
              </a:spcAft>
              <a:buSzPts val="1400"/>
              <a:buChar char="-"/>
            </a:pPr>
            <a:r>
              <a:rPr lang="en"/>
              <a:t>Project Plan</a:t>
            </a:r>
            <a:endParaRPr/>
          </a:p>
        </p:txBody>
      </p:sp>
      <p:sp>
        <p:nvSpPr>
          <p:cNvPr id="74" name="Google Shape;74;p16"/>
          <p:cNvSpPr txBox="1"/>
          <p:nvPr>
            <p:ph idx="2" type="body"/>
          </p:nvPr>
        </p:nvSpPr>
        <p:spPr>
          <a:xfrm>
            <a:off x="4121588" y="1152475"/>
            <a:ext cx="4710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a:t>Team Members:</a:t>
            </a:r>
            <a:r>
              <a:rPr lang="en"/>
              <a:t> </a:t>
            </a:r>
            <a:endParaRPr/>
          </a:p>
          <a:p>
            <a:pPr indent="-317500" lvl="0" marL="457200" rtl="0" algn="l">
              <a:lnSpc>
                <a:spcPct val="115000"/>
              </a:lnSpc>
              <a:spcBef>
                <a:spcPts val="1200"/>
              </a:spcBef>
              <a:spcAft>
                <a:spcPts val="0"/>
              </a:spcAft>
              <a:buSzPts val="1400"/>
              <a:buChar char="-"/>
            </a:pPr>
            <a:r>
              <a:rPr lang="en"/>
              <a:t>William Benitez:	  Prompt Engineer</a:t>
            </a:r>
            <a:endParaRPr/>
          </a:p>
          <a:p>
            <a:pPr indent="-317500" lvl="0" marL="457200" rtl="0" algn="l">
              <a:lnSpc>
                <a:spcPct val="115000"/>
              </a:lnSpc>
              <a:spcBef>
                <a:spcPts val="0"/>
              </a:spcBef>
              <a:spcAft>
                <a:spcPts val="0"/>
              </a:spcAft>
              <a:buSzPts val="1400"/>
              <a:buChar char="-"/>
            </a:pPr>
            <a:r>
              <a:rPr lang="en"/>
              <a:t>Carlos Gil: 		  Software Developer</a:t>
            </a:r>
            <a:endParaRPr/>
          </a:p>
          <a:p>
            <a:pPr indent="-317500" lvl="0" marL="457200" rtl="0" algn="l">
              <a:lnSpc>
                <a:spcPct val="115000"/>
              </a:lnSpc>
              <a:spcBef>
                <a:spcPts val="0"/>
              </a:spcBef>
              <a:spcAft>
                <a:spcPts val="0"/>
              </a:spcAft>
              <a:buSzPts val="1400"/>
              <a:buChar char="-"/>
            </a:pPr>
            <a:r>
              <a:rPr lang="en"/>
              <a:t>Nicholas Lind: 	  Data Engineer</a:t>
            </a:r>
            <a:endParaRPr/>
          </a:p>
          <a:p>
            <a:pPr indent="-317500" lvl="0" marL="457200" rtl="0" algn="l">
              <a:lnSpc>
                <a:spcPct val="115000"/>
              </a:lnSpc>
              <a:spcBef>
                <a:spcPts val="0"/>
              </a:spcBef>
              <a:spcAft>
                <a:spcPts val="0"/>
              </a:spcAft>
              <a:buSzPts val="1400"/>
              <a:buChar char="-"/>
            </a:pPr>
            <a:r>
              <a:rPr lang="en"/>
              <a:t>Benjamin Siegel:   ML Engineer</a:t>
            </a:r>
            <a:endParaRPr/>
          </a:p>
          <a:p>
            <a:pPr indent="-317500" lvl="0" marL="457200" rtl="0" algn="l">
              <a:lnSpc>
                <a:spcPct val="115000"/>
              </a:lnSpc>
              <a:spcBef>
                <a:spcPts val="0"/>
              </a:spcBef>
              <a:spcAft>
                <a:spcPts val="0"/>
              </a:spcAft>
              <a:buSzPts val="1400"/>
              <a:buChar char="-"/>
            </a:pPr>
            <a:r>
              <a:rPr lang="en"/>
              <a:t>Cory Wingate: 	  Project Manager/DevOps</a:t>
            </a:r>
            <a:endParaRPr/>
          </a:p>
          <a:p>
            <a:pPr indent="0" lvl="0" marL="0" rtl="0" algn="l">
              <a:lnSpc>
                <a:spcPct val="195000"/>
              </a:lnSpc>
              <a:spcBef>
                <a:spcPts val="1200"/>
              </a:spcBef>
              <a:spcAft>
                <a:spcPts val="0"/>
              </a:spcAft>
              <a:buClr>
                <a:schemeClr val="dk1"/>
              </a:buClr>
              <a:buSzPts val="1100"/>
              <a:buFont typeface="Arial"/>
              <a:buNone/>
            </a:pPr>
            <a:r>
              <a:rPr b="1" lang="en"/>
              <a:t>AI2C Scholar and Mentors:</a:t>
            </a:r>
            <a:r>
              <a:rPr lang="en"/>
              <a:t> </a:t>
            </a:r>
            <a:endParaRPr/>
          </a:p>
          <a:p>
            <a:pPr indent="-317500" lvl="0" marL="457200" rtl="0" algn="l">
              <a:lnSpc>
                <a:spcPct val="115000"/>
              </a:lnSpc>
              <a:spcBef>
                <a:spcPts val="0"/>
              </a:spcBef>
              <a:spcAft>
                <a:spcPts val="0"/>
              </a:spcAft>
              <a:buSzPts val="1400"/>
              <a:buChar char="-"/>
            </a:pPr>
            <a:r>
              <a:rPr lang="en"/>
              <a:t>Jesse Barkley:        AI Scholar</a:t>
            </a:r>
            <a:endParaRPr/>
          </a:p>
          <a:p>
            <a:pPr indent="-317500" lvl="0" marL="457200" rtl="0" algn="l">
              <a:lnSpc>
                <a:spcPct val="115000"/>
              </a:lnSpc>
              <a:spcBef>
                <a:spcPts val="0"/>
              </a:spcBef>
              <a:spcAft>
                <a:spcPts val="0"/>
              </a:spcAft>
              <a:buSzPts val="1400"/>
              <a:buChar char="-"/>
            </a:pPr>
            <a:r>
              <a:rPr lang="en"/>
              <a:t>Derrik</a:t>
            </a:r>
            <a:r>
              <a:rPr lang="en"/>
              <a:t> Asher:         Army Research Lab</a:t>
            </a:r>
            <a:endParaRPr/>
          </a:p>
          <a:p>
            <a:pPr indent="-317500" lvl="0" marL="457200" rtl="0" algn="l">
              <a:lnSpc>
                <a:spcPct val="115000"/>
              </a:lnSpc>
              <a:spcBef>
                <a:spcPts val="0"/>
              </a:spcBef>
              <a:spcAft>
                <a:spcPts val="0"/>
              </a:spcAft>
              <a:buSzPts val="1400"/>
              <a:buChar char="-"/>
            </a:pPr>
            <a:r>
              <a:rPr lang="en"/>
              <a:t>Jason Pusey:          Army Research Lab</a:t>
            </a:r>
            <a:endParaRPr b="1"/>
          </a:p>
        </p:txBody>
      </p:sp>
      <p:sp>
        <p:nvSpPr>
          <p:cNvPr id="75" name="Google Shape;75;p16"/>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Background - Problem Set</a:t>
            </a:r>
            <a:endParaRPr/>
          </a:p>
        </p:txBody>
      </p:sp>
      <p:sp>
        <p:nvSpPr>
          <p:cNvPr id="81" name="Google Shape;81;p17"/>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82" name="Google Shape;82;p17"/>
          <p:cNvSpPr txBox="1"/>
          <p:nvPr>
            <p:ph idx="1" type="body"/>
          </p:nvPr>
        </p:nvSpPr>
        <p:spPr>
          <a:xfrm>
            <a:off x="311700" y="1017725"/>
            <a:ext cx="4748700" cy="3409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A Battle Damage Assessment (BDA) “provides the timely and accurate </a:t>
            </a:r>
            <a:r>
              <a:rPr b="1" lang="en">
                <a:solidFill>
                  <a:schemeClr val="dk1"/>
                </a:solidFill>
                <a:latin typeface="Arial"/>
                <a:ea typeface="Arial"/>
                <a:cs typeface="Arial"/>
                <a:sym typeface="Arial"/>
              </a:rPr>
              <a:t>estimate of damage</a:t>
            </a:r>
            <a:r>
              <a:rPr lang="en">
                <a:solidFill>
                  <a:schemeClr val="dk1"/>
                </a:solidFill>
                <a:latin typeface="Arial"/>
                <a:ea typeface="Arial"/>
                <a:cs typeface="Arial"/>
                <a:sym typeface="Arial"/>
              </a:rPr>
              <a:t> resulting from the </a:t>
            </a:r>
            <a:r>
              <a:rPr b="1" lang="en">
                <a:solidFill>
                  <a:schemeClr val="dk1"/>
                </a:solidFill>
                <a:latin typeface="Arial"/>
                <a:ea typeface="Arial"/>
                <a:cs typeface="Arial"/>
                <a:sym typeface="Arial"/>
              </a:rPr>
              <a:t>application of lethal and nonlethal military force</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a:solidFill>
                  <a:schemeClr val="dk1"/>
                </a:solidFill>
                <a:latin typeface="Arial"/>
                <a:ea typeface="Arial"/>
                <a:cs typeface="Arial"/>
                <a:sym typeface="Arial"/>
              </a:rPr>
              <a:t>(</a:t>
            </a:r>
            <a:r>
              <a:rPr i="1" lang="en">
                <a:solidFill>
                  <a:schemeClr val="dk1"/>
                </a:solidFill>
                <a:latin typeface="Arial"/>
                <a:ea typeface="Arial"/>
                <a:cs typeface="Arial"/>
                <a:sym typeface="Arial"/>
              </a:rPr>
              <a:t>Methodology for Combat Assessment - Joint Staff)</a:t>
            </a:r>
            <a:endParaRPr i="1">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a:solidFill>
                <a:schemeClr val="dk1"/>
              </a:solidFill>
              <a:latin typeface="Arial"/>
              <a:ea typeface="Arial"/>
              <a:cs typeface="Arial"/>
              <a:sym typeface="Arial"/>
            </a:endParaRPr>
          </a:p>
          <a:p>
            <a:pPr indent="-317500" lvl="0" marL="457200" rtl="0" algn="l">
              <a:spcBef>
                <a:spcPts val="0"/>
              </a:spcBef>
              <a:spcAft>
                <a:spcPts val="0"/>
              </a:spcAft>
              <a:buClr>
                <a:schemeClr val="dk1"/>
              </a:buClr>
              <a:buSzPts val="1400"/>
              <a:buFont typeface="Arial"/>
              <a:buChar char="●"/>
            </a:pPr>
            <a:r>
              <a:rPr lang="en">
                <a:solidFill>
                  <a:schemeClr val="dk1"/>
                </a:solidFill>
                <a:latin typeface="Arial"/>
                <a:ea typeface="Arial"/>
                <a:cs typeface="Arial"/>
                <a:sym typeface="Arial"/>
              </a:rPr>
              <a:t>Requires Human Analyst</a:t>
            </a:r>
            <a:endParaRPr>
              <a:solidFill>
                <a:schemeClr val="dk1"/>
              </a:solidFill>
              <a:latin typeface="Arial"/>
              <a:ea typeface="Arial"/>
              <a:cs typeface="Arial"/>
              <a:sym typeface="Arial"/>
            </a:endParaRPr>
          </a:p>
          <a:p>
            <a:pPr indent="-317500" lvl="0" marL="457200" rtl="0" algn="l">
              <a:spcBef>
                <a:spcPts val="0"/>
              </a:spcBef>
              <a:spcAft>
                <a:spcPts val="0"/>
              </a:spcAft>
              <a:buClr>
                <a:schemeClr val="dk1"/>
              </a:buClr>
              <a:buSzPts val="1400"/>
              <a:buFont typeface="Arial"/>
              <a:buChar char="●"/>
            </a:pPr>
            <a:r>
              <a:rPr lang="en">
                <a:solidFill>
                  <a:schemeClr val="dk1"/>
                </a:solidFill>
                <a:latin typeface="Arial"/>
                <a:ea typeface="Arial"/>
                <a:cs typeface="Arial"/>
                <a:sym typeface="Arial"/>
              </a:rPr>
              <a:t>Slow</a:t>
            </a:r>
            <a:endParaRPr>
              <a:solidFill>
                <a:schemeClr val="dk1"/>
              </a:solidFill>
              <a:latin typeface="Arial"/>
              <a:ea typeface="Arial"/>
              <a:cs typeface="Arial"/>
              <a:sym typeface="Arial"/>
            </a:endParaRPr>
          </a:p>
          <a:p>
            <a:pPr indent="-317500" lvl="0" marL="457200" rtl="0" algn="l">
              <a:spcBef>
                <a:spcPts val="0"/>
              </a:spcBef>
              <a:spcAft>
                <a:spcPts val="0"/>
              </a:spcAft>
              <a:buClr>
                <a:schemeClr val="dk1"/>
              </a:buClr>
              <a:buSzPts val="1400"/>
              <a:buFont typeface="Arial"/>
              <a:buChar char="●"/>
            </a:pPr>
            <a:r>
              <a:rPr lang="en">
                <a:solidFill>
                  <a:schemeClr val="dk1"/>
                </a:solidFill>
                <a:latin typeface="Arial"/>
                <a:ea typeface="Arial"/>
                <a:cs typeface="Arial"/>
                <a:sym typeface="Arial"/>
              </a:rPr>
              <a:t>Dangerous</a:t>
            </a:r>
            <a:endParaRPr>
              <a:solidFill>
                <a:schemeClr val="dk1"/>
              </a:solidFill>
              <a:latin typeface="Arial"/>
              <a:ea typeface="Arial"/>
              <a:cs typeface="Arial"/>
              <a:sym typeface="Arial"/>
            </a:endParaRPr>
          </a:p>
          <a:p>
            <a:pPr indent="-317500" lvl="0" marL="457200" rtl="0" algn="l">
              <a:spcBef>
                <a:spcPts val="0"/>
              </a:spcBef>
              <a:spcAft>
                <a:spcPts val="0"/>
              </a:spcAft>
              <a:buClr>
                <a:schemeClr val="dk1"/>
              </a:buClr>
              <a:buSzPts val="1400"/>
              <a:buFont typeface="Arial"/>
              <a:buChar char="●"/>
            </a:pPr>
            <a:r>
              <a:rPr lang="en">
                <a:solidFill>
                  <a:schemeClr val="dk1"/>
                </a:solidFill>
                <a:latin typeface="Arial"/>
                <a:ea typeface="Arial"/>
                <a:cs typeface="Arial"/>
                <a:sym typeface="Arial"/>
              </a:rPr>
              <a:t>Inconsistent, Not Standardized</a:t>
            </a:r>
            <a:endParaRPr i="1">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a:solidFill>
                <a:schemeClr val="dk1"/>
              </a:solidFill>
              <a:latin typeface="Arial"/>
              <a:ea typeface="Arial"/>
              <a:cs typeface="Arial"/>
              <a:sym typeface="Arial"/>
            </a:endParaRPr>
          </a:p>
        </p:txBody>
      </p:sp>
      <p:pic>
        <p:nvPicPr>
          <p:cNvPr id="83" name="Google Shape;83;p17" title="01.jpg"/>
          <p:cNvPicPr preferRelativeResize="0"/>
          <p:nvPr/>
        </p:nvPicPr>
        <p:blipFill>
          <a:blip r:embed="rId3">
            <a:alphaModFix/>
          </a:blip>
          <a:stretch>
            <a:fillRect/>
          </a:stretch>
        </p:blipFill>
        <p:spPr>
          <a:xfrm>
            <a:off x="5260875" y="1326750"/>
            <a:ext cx="3571425" cy="27917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Background - Current </a:t>
            </a:r>
            <a:r>
              <a:rPr lang="en"/>
              <a:t>Methodology</a:t>
            </a:r>
            <a:endParaRPr/>
          </a:p>
        </p:txBody>
      </p:sp>
      <p:sp>
        <p:nvSpPr>
          <p:cNvPr id="89" name="Google Shape;89;p18"/>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90" name="Google Shape;90;p18" title="Model Design.jpg"/>
          <p:cNvPicPr preferRelativeResize="0"/>
          <p:nvPr/>
        </p:nvPicPr>
        <p:blipFill>
          <a:blip r:embed="rId3">
            <a:alphaModFix/>
          </a:blip>
          <a:stretch>
            <a:fillRect/>
          </a:stretch>
        </p:blipFill>
        <p:spPr>
          <a:xfrm>
            <a:off x="1881600" y="1017725"/>
            <a:ext cx="5380803" cy="2046674"/>
          </a:xfrm>
          <a:prstGeom prst="rect">
            <a:avLst/>
          </a:prstGeom>
          <a:noFill/>
          <a:ln>
            <a:noFill/>
          </a:ln>
        </p:spPr>
      </p:pic>
      <p:sp>
        <p:nvSpPr>
          <p:cNvPr id="91" name="Google Shape;91;p18"/>
          <p:cNvSpPr txBox="1"/>
          <p:nvPr>
            <p:ph idx="1" type="body"/>
          </p:nvPr>
        </p:nvSpPr>
        <p:spPr>
          <a:xfrm>
            <a:off x="393300" y="3436825"/>
            <a:ext cx="8357400" cy="11463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Problem #1: </a:t>
            </a:r>
            <a:r>
              <a:rPr lang="en">
                <a:solidFill>
                  <a:schemeClr val="dk1"/>
                </a:solidFill>
                <a:latin typeface="Arial"/>
                <a:ea typeface="Arial"/>
                <a:cs typeface="Arial"/>
                <a:sym typeface="Arial"/>
              </a:rPr>
              <a:t>Vague</a:t>
            </a:r>
            <a:r>
              <a:rPr lang="en">
                <a:solidFill>
                  <a:schemeClr val="dk1"/>
                </a:solidFill>
                <a:latin typeface="Arial"/>
                <a:ea typeface="Arial"/>
                <a:cs typeface="Arial"/>
                <a:sym typeface="Arial"/>
              </a:rPr>
              <a:t> doctrinal adherence</a:t>
            </a:r>
            <a:endParaRPr>
              <a:solidFill>
                <a:schemeClr val="dk1"/>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Problem #2: How good is the model?</a:t>
            </a:r>
            <a:endParaRPr>
              <a:solidFill>
                <a:schemeClr val="dk1"/>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Problem #3: Jupyter Notebooks</a:t>
            </a:r>
            <a:endParaRPr>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Proposed Solution</a:t>
            </a:r>
            <a:endParaRPr/>
          </a:p>
        </p:txBody>
      </p:sp>
      <p:sp>
        <p:nvSpPr>
          <p:cNvPr id="97" name="Google Shape;97;p19"/>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98" name="Google Shape;98;p19"/>
          <p:cNvSpPr txBox="1"/>
          <p:nvPr>
            <p:ph idx="1" type="body"/>
          </p:nvPr>
        </p:nvSpPr>
        <p:spPr>
          <a:xfrm>
            <a:off x="311700" y="1017725"/>
            <a:ext cx="8357400" cy="35514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2200">
                <a:solidFill>
                  <a:schemeClr val="dk1"/>
                </a:solidFill>
                <a:latin typeface="Arial"/>
                <a:ea typeface="Arial"/>
                <a:cs typeface="Arial"/>
                <a:sym typeface="Arial"/>
              </a:rPr>
              <a:t>We are objectively </a:t>
            </a:r>
            <a:r>
              <a:rPr b="1" lang="en" sz="2200">
                <a:solidFill>
                  <a:schemeClr val="dk1"/>
                </a:solidFill>
                <a:latin typeface="Arial"/>
                <a:ea typeface="Arial"/>
                <a:cs typeface="Arial"/>
                <a:sym typeface="Arial"/>
              </a:rPr>
              <a:t>evaluating</a:t>
            </a:r>
            <a:r>
              <a:rPr lang="en" sz="2200">
                <a:solidFill>
                  <a:schemeClr val="dk1"/>
                </a:solidFill>
                <a:latin typeface="Arial"/>
                <a:ea typeface="Arial"/>
                <a:cs typeface="Arial"/>
                <a:sym typeface="Arial"/>
              </a:rPr>
              <a:t> VLM-generated BDAs using </a:t>
            </a:r>
            <a:r>
              <a:rPr b="1" lang="en" sz="2200">
                <a:solidFill>
                  <a:schemeClr val="dk1"/>
                </a:solidFill>
                <a:latin typeface="Arial"/>
                <a:ea typeface="Arial"/>
                <a:cs typeface="Arial"/>
                <a:sym typeface="Arial"/>
              </a:rPr>
              <a:t>open-source data</a:t>
            </a:r>
            <a:r>
              <a:rPr lang="en" sz="2200">
                <a:solidFill>
                  <a:schemeClr val="dk1"/>
                </a:solidFill>
                <a:latin typeface="Arial"/>
                <a:ea typeface="Arial"/>
                <a:cs typeface="Arial"/>
                <a:sym typeface="Arial"/>
              </a:rPr>
              <a:t>, as well as developing a </a:t>
            </a:r>
            <a:r>
              <a:rPr b="1" lang="en" sz="2200">
                <a:solidFill>
                  <a:schemeClr val="dk1"/>
                </a:solidFill>
                <a:latin typeface="Arial"/>
                <a:ea typeface="Arial"/>
                <a:cs typeface="Arial"/>
                <a:sym typeface="Arial"/>
              </a:rPr>
              <a:t>portable environment</a:t>
            </a:r>
            <a:r>
              <a:rPr lang="en" sz="2200">
                <a:solidFill>
                  <a:schemeClr val="dk1"/>
                </a:solidFill>
                <a:latin typeface="Arial"/>
                <a:ea typeface="Arial"/>
                <a:cs typeface="Arial"/>
                <a:sym typeface="Arial"/>
              </a:rPr>
              <a:t> to create VLM-generated BDAs on edge devices operating within </a:t>
            </a:r>
            <a:r>
              <a:rPr b="1" lang="en" sz="2200">
                <a:solidFill>
                  <a:schemeClr val="dk1"/>
                </a:solidFill>
                <a:latin typeface="Arial"/>
                <a:ea typeface="Arial"/>
                <a:cs typeface="Arial"/>
                <a:sym typeface="Arial"/>
              </a:rPr>
              <a:t>research environments</a:t>
            </a:r>
            <a:r>
              <a:rPr lang="en" sz="2200">
                <a:solidFill>
                  <a:schemeClr val="dk1"/>
                </a:solidFill>
                <a:latin typeface="Arial"/>
                <a:ea typeface="Arial"/>
                <a:cs typeface="Arial"/>
                <a:sym typeface="Arial"/>
              </a:rPr>
              <a:t>.</a:t>
            </a:r>
            <a:endParaRPr i="1" sz="22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Requirements For BDA - VLM Focused</a:t>
            </a:r>
            <a:endParaRPr/>
          </a:p>
        </p:txBody>
      </p:sp>
      <p:sp>
        <p:nvSpPr>
          <p:cNvPr id="104" name="Google Shape;104;p20"/>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05" name="Google Shape;105;p20" title="image_png.png"/>
          <p:cNvPicPr preferRelativeResize="0"/>
          <p:nvPr/>
        </p:nvPicPr>
        <p:blipFill>
          <a:blip r:embed="rId3">
            <a:alphaModFix/>
          </a:blip>
          <a:stretch>
            <a:fillRect/>
          </a:stretch>
        </p:blipFill>
        <p:spPr>
          <a:xfrm>
            <a:off x="311700" y="1017725"/>
            <a:ext cx="4774850" cy="3576199"/>
          </a:xfrm>
          <a:prstGeom prst="rect">
            <a:avLst/>
          </a:prstGeom>
          <a:noFill/>
          <a:ln>
            <a:noFill/>
          </a:ln>
        </p:spPr>
      </p:pic>
      <p:sp>
        <p:nvSpPr>
          <p:cNvPr id="106" name="Google Shape;106;p20"/>
          <p:cNvSpPr/>
          <p:nvPr/>
        </p:nvSpPr>
        <p:spPr>
          <a:xfrm>
            <a:off x="6242700" y="2319673"/>
            <a:ext cx="25896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Font typeface="Fira Sans"/>
              <a:buChar char="●"/>
            </a:pPr>
            <a:r>
              <a:rPr b="1" lang="en">
                <a:latin typeface="Fira Sans"/>
                <a:ea typeface="Fira Sans"/>
                <a:cs typeface="Fira Sans"/>
                <a:sym typeface="Fira Sans"/>
              </a:rPr>
              <a:t>Target</a:t>
            </a:r>
            <a:r>
              <a:rPr lang="en">
                <a:latin typeface="Fira Sans"/>
                <a:ea typeface="Fira Sans"/>
                <a:cs typeface="Fira Sans"/>
                <a:sym typeface="Fira Sans"/>
              </a:rPr>
              <a:t>-Element Type</a:t>
            </a:r>
            <a:endParaRPr>
              <a:latin typeface="Fira Sans"/>
              <a:ea typeface="Fira Sans"/>
              <a:cs typeface="Fira Sans"/>
              <a:sym typeface="Fira Sans"/>
            </a:endParaRPr>
          </a:p>
          <a:p>
            <a:pPr indent="-317500" lvl="0" marL="457200" rtl="0" algn="l">
              <a:spcBef>
                <a:spcPts val="0"/>
              </a:spcBef>
              <a:spcAft>
                <a:spcPts val="0"/>
              </a:spcAft>
              <a:buSzPts val="1400"/>
              <a:buFont typeface="Fira Sans"/>
              <a:buChar char="●"/>
            </a:pPr>
            <a:r>
              <a:rPr b="1" lang="en">
                <a:latin typeface="Fira Sans"/>
                <a:ea typeface="Fira Sans"/>
                <a:cs typeface="Fira Sans"/>
                <a:sym typeface="Fira Sans"/>
              </a:rPr>
              <a:t>Damage </a:t>
            </a:r>
            <a:r>
              <a:rPr lang="en">
                <a:latin typeface="Fira Sans"/>
                <a:ea typeface="Fira Sans"/>
                <a:cs typeface="Fira Sans"/>
                <a:sym typeface="Fira Sans"/>
              </a:rPr>
              <a:t>Category</a:t>
            </a:r>
            <a:endParaRPr>
              <a:latin typeface="Fira Sans"/>
              <a:ea typeface="Fira Sans"/>
              <a:cs typeface="Fira Sans"/>
              <a:sym typeface="Fira Sans"/>
            </a:endParaRPr>
          </a:p>
          <a:p>
            <a:pPr indent="-317500" lvl="0" marL="457200" rtl="0" algn="l">
              <a:spcBef>
                <a:spcPts val="0"/>
              </a:spcBef>
              <a:spcAft>
                <a:spcPts val="0"/>
              </a:spcAft>
              <a:buSzPts val="1400"/>
              <a:buFont typeface="Fira Sans"/>
              <a:buChar char="●"/>
            </a:pPr>
            <a:r>
              <a:rPr b="1" lang="en">
                <a:latin typeface="Fira Sans"/>
                <a:ea typeface="Fira Sans"/>
                <a:cs typeface="Fira Sans"/>
                <a:sym typeface="Fira Sans"/>
              </a:rPr>
              <a:t>Confidence </a:t>
            </a:r>
            <a:r>
              <a:rPr lang="en">
                <a:latin typeface="Fira Sans"/>
                <a:ea typeface="Fira Sans"/>
                <a:cs typeface="Fira Sans"/>
                <a:sym typeface="Fira Sans"/>
              </a:rPr>
              <a:t>Level</a:t>
            </a:r>
            <a:endParaRPr>
              <a:latin typeface="Fira Sans"/>
              <a:ea typeface="Fira Sans"/>
              <a:cs typeface="Fira Sans"/>
              <a:sym typeface="Fira Sans"/>
            </a:endParaRPr>
          </a:p>
        </p:txBody>
      </p:sp>
      <p:sp>
        <p:nvSpPr>
          <p:cNvPr id="107" name="Google Shape;107;p20"/>
          <p:cNvSpPr/>
          <p:nvPr/>
        </p:nvSpPr>
        <p:spPr>
          <a:xfrm rot="2290852">
            <a:off x="5524971" y="2798357"/>
            <a:ext cx="285855" cy="1497785"/>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08" name="Google Shape;108;p20"/>
          <p:cNvSpPr txBox="1"/>
          <p:nvPr/>
        </p:nvSpPr>
        <p:spPr>
          <a:xfrm>
            <a:off x="6037500" y="3671425"/>
            <a:ext cx="30000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a:solidFill>
                  <a:schemeClr val="dk1"/>
                </a:solidFill>
              </a:rPr>
              <a:t>“One vehicle is assessed as DESTROYED (CONFIRMED)”</a:t>
            </a:r>
            <a:endParaRPr i="1">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Requirements For BDA - Out of Scope</a:t>
            </a:r>
            <a:endParaRPr/>
          </a:p>
        </p:txBody>
      </p:sp>
      <p:sp>
        <p:nvSpPr>
          <p:cNvPr id="114" name="Google Shape;114;p21"/>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15" name="Google Shape;115;p21" title="image_png.png"/>
          <p:cNvPicPr preferRelativeResize="0"/>
          <p:nvPr/>
        </p:nvPicPr>
        <p:blipFill>
          <a:blip r:embed="rId3">
            <a:alphaModFix/>
          </a:blip>
          <a:stretch>
            <a:fillRect/>
          </a:stretch>
        </p:blipFill>
        <p:spPr>
          <a:xfrm>
            <a:off x="311700" y="1017725"/>
            <a:ext cx="4774850" cy="3576199"/>
          </a:xfrm>
          <a:prstGeom prst="rect">
            <a:avLst/>
          </a:prstGeom>
          <a:noFill/>
          <a:ln>
            <a:noFill/>
          </a:ln>
        </p:spPr>
      </p:pic>
      <p:sp>
        <p:nvSpPr>
          <p:cNvPr id="116" name="Google Shape;116;p21"/>
          <p:cNvSpPr/>
          <p:nvPr/>
        </p:nvSpPr>
        <p:spPr>
          <a:xfrm>
            <a:off x="6056100" y="2932486"/>
            <a:ext cx="27948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Scene </a:t>
            </a:r>
            <a:r>
              <a:rPr lang="en">
                <a:solidFill>
                  <a:schemeClr val="accent6"/>
                </a:solidFill>
                <a:latin typeface="Fira Sans"/>
                <a:ea typeface="Fira Sans"/>
                <a:cs typeface="Fira Sans"/>
                <a:sym typeface="Fira Sans"/>
              </a:rPr>
              <a:t>Level</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Functional Damage Level</a:t>
            </a:r>
            <a:endParaRPr>
              <a:solidFill>
                <a:schemeClr val="accent6"/>
              </a:solidFill>
              <a:latin typeface="Fira Sans"/>
              <a:ea typeface="Fira Sans"/>
              <a:cs typeface="Fira Sans"/>
              <a:sym typeface="Fira Sans"/>
            </a:endParaRPr>
          </a:p>
        </p:txBody>
      </p:sp>
      <p:sp>
        <p:nvSpPr>
          <p:cNvPr id="117" name="Google Shape;117;p21"/>
          <p:cNvSpPr/>
          <p:nvPr/>
        </p:nvSpPr>
        <p:spPr>
          <a:xfrm rot="5404078">
            <a:off x="5441050" y="3015425"/>
            <a:ext cx="252900" cy="960600"/>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18" name="Google Shape;118;p21"/>
          <p:cNvSpPr/>
          <p:nvPr/>
        </p:nvSpPr>
        <p:spPr>
          <a:xfrm>
            <a:off x="6029708" y="1306686"/>
            <a:ext cx="27948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Target System Impact</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Recuperation Time</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Re-Attack Rec.</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Task Assessment</a:t>
            </a:r>
            <a:endParaRPr>
              <a:solidFill>
                <a:schemeClr val="accent6"/>
              </a:solidFill>
              <a:latin typeface="Fira Sans"/>
              <a:ea typeface="Fira Sans"/>
              <a:cs typeface="Fira Sans"/>
              <a:sym typeface="Fira Sans"/>
            </a:endParaRPr>
          </a:p>
        </p:txBody>
      </p:sp>
      <p:sp>
        <p:nvSpPr>
          <p:cNvPr id="119" name="Google Shape;119;p21"/>
          <p:cNvSpPr/>
          <p:nvPr/>
        </p:nvSpPr>
        <p:spPr>
          <a:xfrm rot="2290852">
            <a:off x="5407280" y="1798049"/>
            <a:ext cx="285855" cy="1278132"/>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20" name="Google Shape;120;p21"/>
          <p:cNvSpPr txBox="1"/>
          <p:nvPr/>
        </p:nvSpPr>
        <p:spPr>
          <a:xfrm>
            <a:off x="5758085" y="2349336"/>
            <a:ext cx="3381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sz="1000">
                <a:solidFill>
                  <a:schemeClr val="dk1"/>
                </a:solidFill>
              </a:rPr>
              <a:t>*</a:t>
            </a:r>
            <a:r>
              <a:rPr i="1" lang="en" sz="1000">
                <a:solidFill>
                  <a:schemeClr val="dk1"/>
                </a:solidFill>
              </a:rPr>
              <a:t>Requires Mission Context (OPORD) and MOE</a:t>
            </a:r>
            <a:endParaRPr i="1" sz="1000">
              <a:solidFill>
                <a:schemeClr val="dk1"/>
              </a:solidFill>
            </a:endParaRPr>
          </a:p>
        </p:txBody>
      </p:sp>
      <p:sp>
        <p:nvSpPr>
          <p:cNvPr id="121" name="Google Shape;121;p21"/>
          <p:cNvSpPr txBox="1"/>
          <p:nvPr/>
        </p:nvSpPr>
        <p:spPr>
          <a:xfrm>
            <a:off x="5757892" y="3978260"/>
            <a:ext cx="3381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sz="1000">
                <a:solidFill>
                  <a:schemeClr val="dk1"/>
                </a:solidFill>
              </a:rPr>
              <a:t>*Requires All Source Intelligence Fusion</a:t>
            </a:r>
            <a:endParaRPr i="1" sz="1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p:nvPr/>
        </p:nvSpPr>
        <p:spPr>
          <a:xfrm>
            <a:off x="1046506" y="1349068"/>
            <a:ext cx="2130000" cy="2421000"/>
          </a:xfrm>
          <a:prstGeom prst="roundRect">
            <a:avLst>
              <a:gd fmla="val 16667" name="adj"/>
            </a:avLst>
          </a:prstGeom>
          <a:noFill/>
          <a:ln cap="flat" cmpd="sng" w="9525">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27" name="Google Shape;127;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Input</a:t>
            </a:r>
            <a:endParaRPr/>
          </a:p>
        </p:txBody>
      </p:sp>
      <p:sp>
        <p:nvSpPr>
          <p:cNvPr id="128" name="Google Shape;128;p22"/>
          <p:cNvSpPr txBox="1"/>
          <p:nvPr>
            <p:ph idx="12" type="sldNum"/>
          </p:nvPr>
        </p:nvSpPr>
        <p:spPr>
          <a:xfrm>
            <a:off x="9273572"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29" name="Google Shape;129;p22"/>
          <p:cNvPicPr preferRelativeResize="0"/>
          <p:nvPr/>
        </p:nvPicPr>
        <p:blipFill>
          <a:blip r:embed="rId3">
            <a:alphaModFix/>
          </a:blip>
          <a:stretch>
            <a:fillRect/>
          </a:stretch>
        </p:blipFill>
        <p:spPr>
          <a:xfrm>
            <a:off x="2268739" y="2642038"/>
            <a:ext cx="657225" cy="904875"/>
          </a:xfrm>
          <a:prstGeom prst="rect">
            <a:avLst/>
          </a:prstGeom>
          <a:noFill/>
          <a:ln>
            <a:noFill/>
          </a:ln>
        </p:spPr>
      </p:pic>
      <p:pic>
        <p:nvPicPr>
          <p:cNvPr id="130" name="Google Shape;130;p22"/>
          <p:cNvPicPr preferRelativeResize="0"/>
          <p:nvPr/>
        </p:nvPicPr>
        <p:blipFill>
          <a:blip r:embed="rId4">
            <a:alphaModFix/>
          </a:blip>
          <a:stretch>
            <a:fillRect/>
          </a:stretch>
        </p:blipFill>
        <p:spPr>
          <a:xfrm>
            <a:off x="1292551" y="2656325"/>
            <a:ext cx="647700" cy="876300"/>
          </a:xfrm>
          <a:prstGeom prst="rect">
            <a:avLst/>
          </a:prstGeom>
          <a:noFill/>
          <a:ln>
            <a:noFill/>
          </a:ln>
        </p:spPr>
      </p:pic>
      <p:pic>
        <p:nvPicPr>
          <p:cNvPr id="131" name="Google Shape;131;p22"/>
          <p:cNvPicPr preferRelativeResize="0"/>
          <p:nvPr/>
        </p:nvPicPr>
        <p:blipFill>
          <a:blip r:embed="rId5">
            <a:alphaModFix/>
          </a:blip>
          <a:stretch>
            <a:fillRect/>
          </a:stretch>
        </p:blipFill>
        <p:spPr>
          <a:xfrm>
            <a:off x="2268751" y="1515684"/>
            <a:ext cx="657226" cy="900915"/>
          </a:xfrm>
          <a:prstGeom prst="rect">
            <a:avLst/>
          </a:prstGeom>
          <a:noFill/>
          <a:ln>
            <a:noFill/>
          </a:ln>
        </p:spPr>
      </p:pic>
      <p:pic>
        <p:nvPicPr>
          <p:cNvPr id="132" name="Google Shape;132;p22"/>
          <p:cNvPicPr preferRelativeResize="0"/>
          <p:nvPr/>
        </p:nvPicPr>
        <p:blipFill>
          <a:blip r:embed="rId6">
            <a:alphaModFix/>
          </a:blip>
          <a:stretch>
            <a:fillRect/>
          </a:stretch>
        </p:blipFill>
        <p:spPr>
          <a:xfrm>
            <a:off x="1275826" y="1551253"/>
            <a:ext cx="681187" cy="876301"/>
          </a:xfrm>
          <a:prstGeom prst="rect">
            <a:avLst/>
          </a:prstGeom>
          <a:noFill/>
          <a:ln>
            <a:noFill/>
          </a:ln>
        </p:spPr>
      </p:pic>
      <p:cxnSp>
        <p:nvCxnSpPr>
          <p:cNvPr id="133" name="Google Shape;133;p22"/>
          <p:cNvCxnSpPr>
            <a:stCxn id="126" idx="3"/>
          </p:cNvCxnSpPr>
          <p:nvPr/>
        </p:nvCxnSpPr>
        <p:spPr>
          <a:xfrm>
            <a:off x="3176506" y="2559568"/>
            <a:ext cx="3597600" cy="0"/>
          </a:xfrm>
          <a:prstGeom prst="straightConnector1">
            <a:avLst/>
          </a:prstGeom>
          <a:noFill/>
          <a:ln cap="flat" cmpd="sng" w="9525">
            <a:solidFill>
              <a:srgbClr val="858585"/>
            </a:solidFill>
            <a:prstDash val="solid"/>
            <a:round/>
            <a:headEnd len="med" w="med" type="none"/>
            <a:tailEnd len="med" w="med" type="triangle"/>
          </a:ln>
        </p:spPr>
      </p:cxnSp>
      <p:pic>
        <p:nvPicPr>
          <p:cNvPr id="134" name="Google Shape;134;p22"/>
          <p:cNvPicPr preferRelativeResize="0"/>
          <p:nvPr/>
        </p:nvPicPr>
        <p:blipFill>
          <a:blip r:embed="rId7">
            <a:alphaModFix/>
          </a:blip>
          <a:stretch>
            <a:fillRect/>
          </a:stretch>
        </p:blipFill>
        <p:spPr>
          <a:xfrm>
            <a:off x="6764404" y="1951075"/>
            <a:ext cx="1339000" cy="1174050"/>
          </a:xfrm>
          <a:prstGeom prst="rect">
            <a:avLst/>
          </a:prstGeom>
          <a:noFill/>
          <a:ln>
            <a:noFill/>
          </a:ln>
        </p:spPr>
      </p:pic>
      <p:cxnSp>
        <p:nvCxnSpPr>
          <p:cNvPr id="135" name="Google Shape;135;p22"/>
          <p:cNvCxnSpPr>
            <a:stCxn id="126" idx="2"/>
          </p:cNvCxnSpPr>
          <p:nvPr/>
        </p:nvCxnSpPr>
        <p:spPr>
          <a:xfrm rot="5400000">
            <a:off x="1578856" y="3859318"/>
            <a:ext cx="621900" cy="443400"/>
          </a:xfrm>
          <a:prstGeom prst="curvedConnector3">
            <a:avLst>
              <a:gd fmla="val 50000" name="adj1"/>
            </a:avLst>
          </a:prstGeom>
          <a:noFill/>
          <a:ln cap="flat" cmpd="sng" w="9525">
            <a:solidFill>
              <a:srgbClr val="FF0000"/>
            </a:solidFill>
            <a:prstDash val="solid"/>
            <a:round/>
            <a:headEnd len="med" w="med" type="none"/>
            <a:tailEnd len="med" w="med" type="stealth"/>
          </a:ln>
        </p:spPr>
      </p:cxnSp>
      <p:sp>
        <p:nvSpPr>
          <p:cNvPr id="136" name="Google Shape;136;p22"/>
          <p:cNvSpPr txBox="1"/>
          <p:nvPr/>
        </p:nvSpPr>
        <p:spPr>
          <a:xfrm>
            <a:off x="99864" y="4382619"/>
            <a:ext cx="491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Fira Sans"/>
                <a:ea typeface="Fira Sans"/>
                <a:cs typeface="Fira Sans"/>
                <a:sym typeface="Fira Sans"/>
              </a:rPr>
              <a:t>Exception Handling if image is not a supported </a:t>
            </a:r>
            <a:r>
              <a:rPr lang="en">
                <a:solidFill>
                  <a:srgbClr val="FF0000"/>
                </a:solidFill>
                <a:latin typeface="Fira Sans"/>
                <a:ea typeface="Fira Sans"/>
                <a:cs typeface="Fira Sans"/>
                <a:sym typeface="Fira Sans"/>
              </a:rPr>
              <a:t>file format</a:t>
            </a:r>
            <a:endParaRPr>
              <a:solidFill>
                <a:srgbClr val="FF0000"/>
              </a:solidFill>
              <a:latin typeface="Fira Sans"/>
              <a:ea typeface="Fira Sans"/>
              <a:cs typeface="Fira Sans"/>
              <a:sym typeface="Fira Sans"/>
            </a:endParaRPr>
          </a:p>
        </p:txBody>
      </p:sp>
      <p:sp>
        <p:nvSpPr>
          <p:cNvPr id="137" name="Google Shape;137;p22"/>
          <p:cNvSpPr txBox="1"/>
          <p:nvPr/>
        </p:nvSpPr>
        <p:spPr>
          <a:xfrm>
            <a:off x="6832104" y="3026294"/>
            <a:ext cx="1203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latin typeface="Fira Sans"/>
                <a:ea typeface="Fira Sans"/>
                <a:cs typeface="Fira Sans"/>
                <a:sym typeface="Fira Sans"/>
              </a:rPr>
              <a:t>bda-svc</a:t>
            </a:r>
            <a:endParaRPr sz="1800">
              <a:solidFill>
                <a:schemeClr val="dk2"/>
              </a:solidFill>
              <a:latin typeface="Fira Sans"/>
              <a:ea typeface="Fira Sans"/>
              <a:cs typeface="Fira Sans"/>
              <a:sym typeface="Fira Sans"/>
            </a:endParaRPr>
          </a:p>
        </p:txBody>
      </p:sp>
      <p:grpSp>
        <p:nvGrpSpPr>
          <p:cNvPr id="138" name="Google Shape;138;p22"/>
          <p:cNvGrpSpPr/>
          <p:nvPr/>
        </p:nvGrpSpPr>
        <p:grpSpPr>
          <a:xfrm>
            <a:off x="3724449" y="873200"/>
            <a:ext cx="2767250" cy="975000"/>
            <a:chOff x="2367800" y="383350"/>
            <a:chExt cx="2597625" cy="975000"/>
          </a:xfrm>
        </p:grpSpPr>
        <p:sp>
          <p:nvSpPr>
            <p:cNvPr id="139" name="Google Shape;139;p22"/>
            <p:cNvSpPr/>
            <p:nvPr/>
          </p:nvSpPr>
          <p:spPr>
            <a:xfrm>
              <a:off x="2367800" y="383350"/>
              <a:ext cx="2484600" cy="975000"/>
            </a:xfrm>
            <a:prstGeom prst="roundRect">
              <a:avLst>
                <a:gd fmla="val 16667" name="adj"/>
              </a:avLst>
            </a:prstGeom>
            <a:noFill/>
            <a:ln cap="flat" cmpd="sng" w="9525">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40" name="Google Shape;140;p22"/>
            <p:cNvSpPr txBox="1"/>
            <p:nvPr/>
          </p:nvSpPr>
          <p:spPr>
            <a:xfrm>
              <a:off x="2527325" y="492300"/>
              <a:ext cx="243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Fira Sans"/>
                  <a:ea typeface="Fira Sans"/>
                  <a:cs typeface="Fira Sans"/>
                  <a:sym typeface="Fira Sans"/>
                </a:rPr>
                <a:t>- </a:t>
              </a:r>
              <a:r>
                <a:rPr lang="en" sz="1800">
                  <a:solidFill>
                    <a:schemeClr val="dk2"/>
                  </a:solidFill>
                  <a:latin typeface="Fira Sans"/>
                  <a:ea typeface="Fira Sans"/>
                  <a:cs typeface="Fira Sans"/>
                  <a:sym typeface="Fira Sans"/>
                </a:rPr>
                <a:t>Model prompt</a:t>
              </a:r>
              <a:endParaRPr sz="1800">
                <a:solidFill>
                  <a:schemeClr val="dk2"/>
                </a:solidFill>
                <a:latin typeface="Fira Sans"/>
                <a:ea typeface="Fira Sans"/>
                <a:cs typeface="Fira Sans"/>
                <a:sym typeface="Fira Sans"/>
              </a:endParaRPr>
            </a:p>
            <a:p>
              <a:pPr indent="0" lvl="0" marL="0" rtl="0" algn="l">
                <a:spcBef>
                  <a:spcPts val="0"/>
                </a:spcBef>
                <a:spcAft>
                  <a:spcPts val="0"/>
                </a:spcAft>
                <a:buNone/>
              </a:pPr>
              <a:r>
                <a:rPr lang="en" sz="1800">
                  <a:solidFill>
                    <a:schemeClr val="dk2"/>
                  </a:solidFill>
                  <a:latin typeface="Fira Sans"/>
                  <a:ea typeface="Fira Sans"/>
                  <a:cs typeface="Fira Sans"/>
                  <a:sym typeface="Fira Sans"/>
                </a:rPr>
                <a:t>- Model parameters</a:t>
              </a:r>
              <a:endParaRPr sz="1800">
                <a:solidFill>
                  <a:schemeClr val="dk2"/>
                </a:solidFill>
                <a:latin typeface="Fira Sans"/>
                <a:ea typeface="Fira Sans"/>
                <a:cs typeface="Fira Sans"/>
                <a:sym typeface="Fira Sans"/>
              </a:endParaRPr>
            </a:p>
          </p:txBody>
        </p:sp>
      </p:grpSp>
      <p:cxnSp>
        <p:nvCxnSpPr>
          <p:cNvPr id="141" name="Google Shape;141;p22"/>
          <p:cNvCxnSpPr>
            <a:stCxn id="139" idx="2"/>
          </p:cNvCxnSpPr>
          <p:nvPr/>
        </p:nvCxnSpPr>
        <p:spPr>
          <a:xfrm flipH="1" rot="-5400000">
            <a:off x="5675471" y="1220600"/>
            <a:ext cx="489900" cy="1745100"/>
          </a:xfrm>
          <a:prstGeom prst="bentConnector2">
            <a:avLst/>
          </a:prstGeom>
          <a:noFill/>
          <a:ln cap="flat" cmpd="sng" w="9525">
            <a:solidFill>
              <a:srgbClr val="858585"/>
            </a:solidFill>
            <a:prstDash val="solid"/>
            <a:round/>
            <a:headEnd len="med" w="med" type="none"/>
            <a:tailEnd len="med" w="med" type="triangle"/>
          </a:ln>
        </p:spPr>
      </p:cxnSp>
      <p:pic>
        <p:nvPicPr>
          <p:cNvPr id="142" name="Google Shape;142;p22"/>
          <p:cNvPicPr preferRelativeResize="0"/>
          <p:nvPr/>
        </p:nvPicPr>
        <p:blipFill>
          <a:blip r:embed="rId8">
            <a:alphaModFix/>
          </a:blip>
          <a:stretch>
            <a:fillRect/>
          </a:stretch>
        </p:blipFill>
        <p:spPr>
          <a:xfrm>
            <a:off x="886090" y="3531307"/>
            <a:ext cx="424200" cy="323125"/>
          </a:xfrm>
          <a:prstGeom prst="rect">
            <a:avLst/>
          </a:prstGeom>
          <a:noFill/>
          <a:ln>
            <a:noFill/>
          </a:ln>
        </p:spPr>
      </p:pic>
      <p:pic>
        <p:nvPicPr>
          <p:cNvPr id="143" name="Google Shape;143;p22"/>
          <p:cNvPicPr preferRelativeResize="0"/>
          <p:nvPr/>
        </p:nvPicPr>
        <p:blipFill>
          <a:blip r:embed="rId9">
            <a:alphaModFix/>
          </a:blip>
          <a:stretch>
            <a:fillRect/>
          </a:stretch>
        </p:blipFill>
        <p:spPr>
          <a:xfrm>
            <a:off x="3523480" y="1580198"/>
            <a:ext cx="461700" cy="461700"/>
          </a:xfrm>
          <a:prstGeom prst="rect">
            <a:avLst/>
          </a:prstGeom>
          <a:noFill/>
          <a:ln>
            <a:noFill/>
          </a:ln>
        </p:spPr>
      </p:pic>
      <p:grpSp>
        <p:nvGrpSpPr>
          <p:cNvPr id="144" name="Google Shape;144;p22"/>
          <p:cNvGrpSpPr/>
          <p:nvPr/>
        </p:nvGrpSpPr>
        <p:grpSpPr>
          <a:xfrm>
            <a:off x="3721332" y="3136353"/>
            <a:ext cx="2767258" cy="1048232"/>
            <a:chOff x="2367800" y="383341"/>
            <a:chExt cx="2597633" cy="975009"/>
          </a:xfrm>
        </p:grpSpPr>
        <p:sp>
          <p:nvSpPr>
            <p:cNvPr id="145" name="Google Shape;145;p22"/>
            <p:cNvSpPr/>
            <p:nvPr/>
          </p:nvSpPr>
          <p:spPr>
            <a:xfrm>
              <a:off x="2367800" y="383350"/>
              <a:ext cx="2484600" cy="975000"/>
            </a:xfrm>
            <a:prstGeom prst="roundRect">
              <a:avLst>
                <a:gd fmla="val 16667" name="adj"/>
              </a:avLst>
            </a:prstGeom>
            <a:noFill/>
            <a:ln cap="flat" cmpd="sng" w="9525">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46" name="Google Shape;146;p22"/>
            <p:cNvSpPr txBox="1"/>
            <p:nvPr/>
          </p:nvSpPr>
          <p:spPr>
            <a:xfrm>
              <a:off x="2527333" y="383341"/>
              <a:ext cx="2438100" cy="94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Fira Sans"/>
                  <a:ea typeface="Fira Sans"/>
                  <a:cs typeface="Fira Sans"/>
                  <a:sym typeface="Fira Sans"/>
                </a:rPr>
                <a:t>- Military Doctrine</a:t>
              </a:r>
              <a:endParaRPr sz="1800">
                <a:solidFill>
                  <a:schemeClr val="dk2"/>
                </a:solidFill>
                <a:latin typeface="Fira Sans"/>
                <a:ea typeface="Fira Sans"/>
                <a:cs typeface="Fira Sans"/>
                <a:sym typeface="Fira Sans"/>
              </a:endParaRPr>
            </a:p>
            <a:p>
              <a:pPr indent="0" lvl="0" marL="0" rtl="0" algn="l">
                <a:spcBef>
                  <a:spcPts val="0"/>
                </a:spcBef>
                <a:spcAft>
                  <a:spcPts val="0"/>
                </a:spcAft>
                <a:buNone/>
              </a:pPr>
              <a:r>
                <a:rPr lang="en" sz="1800">
                  <a:solidFill>
                    <a:schemeClr val="dk2"/>
                  </a:solidFill>
                  <a:latin typeface="Fira Sans"/>
                  <a:ea typeface="Fira Sans"/>
                  <a:cs typeface="Fira Sans"/>
                  <a:sym typeface="Fira Sans"/>
                </a:rPr>
                <a:t>      - Object types</a:t>
              </a:r>
              <a:endParaRPr sz="1800">
                <a:solidFill>
                  <a:schemeClr val="dk2"/>
                </a:solidFill>
                <a:latin typeface="Fira Sans"/>
                <a:ea typeface="Fira Sans"/>
                <a:cs typeface="Fira Sans"/>
                <a:sym typeface="Fira Sans"/>
              </a:endParaRPr>
            </a:p>
            <a:p>
              <a:pPr indent="0" lvl="0" marL="0" rtl="0" algn="l">
                <a:spcBef>
                  <a:spcPts val="0"/>
                </a:spcBef>
                <a:spcAft>
                  <a:spcPts val="0"/>
                </a:spcAft>
                <a:buNone/>
              </a:pPr>
              <a:r>
                <a:rPr lang="en" sz="1800">
                  <a:solidFill>
                    <a:schemeClr val="dk2"/>
                  </a:solidFill>
                  <a:latin typeface="Fira Sans"/>
                  <a:ea typeface="Fira Sans"/>
                  <a:cs typeface="Fira Sans"/>
                  <a:sym typeface="Fira Sans"/>
                </a:rPr>
                <a:t>      - Damage</a:t>
              </a:r>
              <a:endParaRPr sz="1800">
                <a:solidFill>
                  <a:schemeClr val="dk2"/>
                </a:solidFill>
                <a:latin typeface="Fira Sans"/>
                <a:ea typeface="Fira Sans"/>
                <a:cs typeface="Fira Sans"/>
                <a:sym typeface="Fira Sans"/>
              </a:endParaRPr>
            </a:p>
          </p:txBody>
        </p:sp>
      </p:grpSp>
      <p:pic>
        <p:nvPicPr>
          <p:cNvPr id="147" name="Google Shape;147;p22"/>
          <p:cNvPicPr preferRelativeResize="0"/>
          <p:nvPr/>
        </p:nvPicPr>
        <p:blipFill>
          <a:blip r:embed="rId9">
            <a:alphaModFix/>
          </a:blip>
          <a:stretch>
            <a:fillRect/>
          </a:stretch>
        </p:blipFill>
        <p:spPr>
          <a:xfrm>
            <a:off x="3520346" y="3843379"/>
            <a:ext cx="461700" cy="461700"/>
          </a:xfrm>
          <a:prstGeom prst="rect">
            <a:avLst/>
          </a:prstGeom>
          <a:noFill/>
          <a:ln>
            <a:noFill/>
          </a:ln>
        </p:spPr>
      </p:pic>
      <p:cxnSp>
        <p:nvCxnSpPr>
          <p:cNvPr id="148" name="Google Shape;148;p22"/>
          <p:cNvCxnSpPr>
            <a:stCxn id="145" idx="0"/>
          </p:cNvCxnSpPr>
          <p:nvPr/>
        </p:nvCxnSpPr>
        <p:spPr>
          <a:xfrm rot="-5400000">
            <a:off x="5741204" y="2094013"/>
            <a:ext cx="345900" cy="1738800"/>
          </a:xfrm>
          <a:prstGeom prst="bentConnector2">
            <a:avLst/>
          </a:prstGeom>
          <a:noFill/>
          <a:ln cap="flat" cmpd="sng" w="9525">
            <a:solidFill>
              <a:srgbClr val="858585"/>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p:nvPr/>
        </p:nvSpPr>
        <p:spPr>
          <a:xfrm>
            <a:off x="5135025" y="2319350"/>
            <a:ext cx="3566700" cy="1261500"/>
          </a:xfrm>
          <a:prstGeom prst="roundRect">
            <a:avLst>
              <a:gd fmla="val 16667" name="adj"/>
            </a:avLst>
          </a:prstGeom>
          <a:solidFill>
            <a:srgbClr val="BB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54" name="Google Shape;154;p23"/>
          <p:cNvSpPr/>
          <p:nvPr/>
        </p:nvSpPr>
        <p:spPr>
          <a:xfrm>
            <a:off x="5135025" y="3704150"/>
            <a:ext cx="3566700" cy="310800"/>
          </a:xfrm>
          <a:prstGeom prst="roundRect">
            <a:avLst>
              <a:gd fmla="val 16667" name="adj"/>
            </a:avLst>
          </a:prstGeom>
          <a:solidFill>
            <a:srgbClr val="FFC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55" name="Google Shape;155;p23"/>
          <p:cNvSpPr txBox="1"/>
          <p:nvPr/>
        </p:nvSpPr>
        <p:spPr>
          <a:xfrm>
            <a:off x="4735500" y="260350"/>
            <a:ext cx="4299600" cy="4340700"/>
          </a:xfrm>
          <a:prstGeom prst="rect">
            <a:avLst/>
          </a:prstGeom>
          <a:noFill/>
          <a:ln cap="flat" cmpd="sng" w="9525">
            <a:solidFill>
              <a:srgbClr val="85858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t>
            </a:r>
            <a:r>
              <a:rPr lang="en" sz="1000">
                <a:solidFill>
                  <a:schemeClr val="dk2"/>
                </a:solidFill>
                <a:latin typeface="Fira Sans"/>
                <a:ea typeface="Fira Sans"/>
                <a:cs typeface="Fira Sans"/>
                <a:sym typeface="Fira Sans"/>
              </a:rPr>
              <a:t>m</a:t>
            </a:r>
            <a:r>
              <a:rPr lang="en" sz="1000">
                <a:solidFill>
                  <a:schemeClr val="dk2"/>
                </a:solidFill>
                <a:latin typeface="Fira Sans"/>
                <a:ea typeface="Fira Sans"/>
                <a:cs typeface="Fira Sans"/>
                <a:sym typeface="Fira Sans"/>
              </a:rPr>
              <a:t>etadata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i</a:t>
            </a:r>
            <a:r>
              <a:rPr lang="en" sz="1000">
                <a:solidFill>
                  <a:schemeClr val="dk2"/>
                </a:solidFill>
                <a:latin typeface="Fira Sans"/>
                <a:ea typeface="Fira Sans"/>
                <a:cs typeface="Fira Sans"/>
                <a:sym typeface="Fira Sans"/>
              </a:rPr>
              <a:t>mage_id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image_filename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d</a:t>
            </a:r>
            <a:r>
              <a:rPr lang="en" sz="1000">
                <a:solidFill>
                  <a:schemeClr val="dk2"/>
                </a:solidFill>
                <a:latin typeface="Fira Sans"/>
                <a:ea typeface="Fira Sans"/>
                <a:cs typeface="Fira Sans"/>
                <a:sym typeface="Fira Sans"/>
              </a:rPr>
              <a:t>ate_created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l</a:t>
            </a:r>
            <a:r>
              <a:rPr lang="en" sz="1000">
                <a:solidFill>
                  <a:schemeClr val="dk2"/>
                </a:solidFill>
                <a:latin typeface="Fira Sans"/>
                <a:ea typeface="Fira Sans"/>
                <a:cs typeface="Fira Sans"/>
                <a:sym typeface="Fira Sans"/>
              </a:rPr>
              <a:t>ocation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“crs”</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“coordinates”</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r</a:t>
            </a:r>
            <a:r>
              <a:rPr lang="en" sz="1000">
                <a:solidFill>
                  <a:schemeClr val="dk2"/>
                </a:solidFill>
                <a:latin typeface="Fira Sans"/>
                <a:ea typeface="Fira Sans"/>
                <a:cs typeface="Fira Sans"/>
                <a:sym typeface="Fira Sans"/>
              </a:rPr>
              <a:t>eport_type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a:t>
            </a:r>
            <a:r>
              <a:rPr lang="en" sz="1000">
                <a:solidFill>
                  <a:schemeClr val="dk2"/>
                </a:solidFill>
                <a:latin typeface="Fira Sans"/>
                <a:ea typeface="Fira Sans"/>
                <a:cs typeface="Fira Sans"/>
                <a:sym typeface="Fira Sans"/>
              </a:rPr>
              <a:t>nalyst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physical_damage "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target_1 "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t>
            </a:r>
            <a:r>
              <a:rPr lang="en" sz="1000">
                <a:solidFill>
                  <a:schemeClr val="dk2"/>
                </a:solidFill>
                <a:latin typeface="Fira Sans"/>
                <a:ea typeface="Fira Sans"/>
                <a:cs typeface="Fira Sans"/>
                <a:sym typeface="Fira Sans"/>
              </a:rPr>
              <a:t>bounding_box </a:t>
            </a:r>
            <a:r>
              <a:rPr lang="en" sz="1000">
                <a:solidFill>
                  <a:schemeClr val="dk2"/>
                </a:solidFill>
                <a:latin typeface="Fira Sans"/>
                <a:ea typeface="Fira Sans"/>
                <a:cs typeface="Fira Sans"/>
                <a:sym typeface="Fira Sans"/>
              </a:rPr>
              <a:t>"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xmin ": 314, " ymin ": 256, " xmax ": 555, " ymax ": 433</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t>
            </a:r>
            <a:r>
              <a:rPr lang="en" sz="1000">
                <a:solidFill>
                  <a:schemeClr val="dk2"/>
                </a:solidFill>
                <a:latin typeface="Fira Sans"/>
                <a:ea typeface="Fira Sans"/>
                <a:cs typeface="Fira Sans"/>
                <a:sym typeface="Fira Sans"/>
              </a:rPr>
              <a:t>target_type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t>
            </a:r>
            <a:r>
              <a:rPr lang="en" sz="1000">
                <a:solidFill>
                  <a:schemeClr val="dk2"/>
                </a:solidFill>
                <a:latin typeface="Fira Sans"/>
                <a:ea typeface="Fira Sans"/>
                <a:cs typeface="Fira Sans"/>
                <a:sym typeface="Fira Sans"/>
              </a:rPr>
              <a:t>damage_category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t>
            </a:r>
            <a:r>
              <a:rPr lang="en" sz="1000">
                <a:solidFill>
                  <a:schemeClr val="dk2"/>
                </a:solidFill>
                <a:latin typeface="Fira Sans"/>
                <a:ea typeface="Fira Sans"/>
                <a:cs typeface="Fira Sans"/>
                <a:sym typeface="Fira Sans"/>
              </a:rPr>
              <a:t>confidence_level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a:t>
            </a:r>
            <a:r>
              <a:rPr lang="en" sz="1000">
                <a:solidFill>
                  <a:schemeClr val="dk2"/>
                </a:solidFill>
                <a:latin typeface="Fira Sans"/>
                <a:ea typeface="Fira Sans"/>
                <a:cs typeface="Fira Sans"/>
                <a:sym typeface="Fira Sans"/>
              </a:rPr>
              <a:t>brief_supporting_logic </a:t>
            </a: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target_2 "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a:t>
            </a:r>
            <a:endParaRPr sz="1000">
              <a:solidFill>
                <a:schemeClr val="dk2"/>
              </a:solidFill>
              <a:latin typeface="Fira Sans"/>
              <a:ea typeface="Fira Sans"/>
              <a:cs typeface="Fira Sans"/>
              <a:sym typeface="Fira Sans"/>
            </a:endParaRPr>
          </a:p>
        </p:txBody>
      </p:sp>
      <p:sp>
        <p:nvSpPr>
          <p:cNvPr id="156" name="Google Shape;15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Output</a:t>
            </a:r>
            <a:endParaRPr/>
          </a:p>
        </p:txBody>
      </p:sp>
      <p:sp>
        <p:nvSpPr>
          <p:cNvPr id="157" name="Google Shape;157;p23"/>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58" name="Google Shape;158;p23"/>
          <p:cNvPicPr preferRelativeResize="0"/>
          <p:nvPr/>
        </p:nvPicPr>
        <p:blipFill>
          <a:blip r:embed="rId3">
            <a:alphaModFix/>
          </a:blip>
          <a:stretch>
            <a:fillRect/>
          </a:stretch>
        </p:blipFill>
        <p:spPr>
          <a:xfrm>
            <a:off x="311700" y="1075875"/>
            <a:ext cx="3861676" cy="3081050"/>
          </a:xfrm>
          <a:prstGeom prst="rect">
            <a:avLst/>
          </a:prstGeom>
          <a:noFill/>
          <a:ln cap="flat" cmpd="sng" w="9525">
            <a:solidFill>
              <a:srgbClr val="858585"/>
            </a:solidFill>
            <a:prstDash val="solid"/>
            <a:round/>
            <a:headEnd len="sm" w="sm" type="none"/>
            <a:tailEnd len="sm" w="sm" type="none"/>
          </a:ln>
        </p:spPr>
      </p:pic>
      <p:sp>
        <p:nvSpPr>
          <p:cNvPr id="159" name="Google Shape;159;p23"/>
          <p:cNvSpPr/>
          <p:nvPr/>
        </p:nvSpPr>
        <p:spPr>
          <a:xfrm>
            <a:off x="1461100" y="1999075"/>
            <a:ext cx="1130400" cy="6687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60" name="Google Shape;160;p23"/>
          <p:cNvSpPr/>
          <p:nvPr/>
        </p:nvSpPr>
        <p:spPr>
          <a:xfrm>
            <a:off x="2046844" y="2611350"/>
            <a:ext cx="1467900" cy="1177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cxnSp>
        <p:nvCxnSpPr>
          <p:cNvPr id="161" name="Google Shape;161;p23"/>
          <p:cNvCxnSpPr/>
          <p:nvPr/>
        </p:nvCxnSpPr>
        <p:spPr>
          <a:xfrm>
            <a:off x="2591500" y="2333425"/>
            <a:ext cx="2553000" cy="636000"/>
          </a:xfrm>
          <a:prstGeom prst="bentConnector3">
            <a:avLst>
              <a:gd fmla="val 73427" name="adj1"/>
            </a:avLst>
          </a:prstGeom>
          <a:noFill/>
          <a:ln cap="flat" cmpd="sng" w="28575">
            <a:solidFill>
              <a:srgbClr val="00FFFF"/>
            </a:solidFill>
            <a:prstDash val="solid"/>
            <a:round/>
            <a:headEnd len="med" w="med" type="none"/>
            <a:tailEnd len="med" w="med" type="none"/>
          </a:ln>
        </p:spPr>
      </p:cxnSp>
      <p:cxnSp>
        <p:nvCxnSpPr>
          <p:cNvPr id="162" name="Google Shape;162;p23"/>
          <p:cNvCxnSpPr>
            <a:stCxn id="160" idx="3"/>
            <a:endCxn id="154" idx="1"/>
          </p:cNvCxnSpPr>
          <p:nvPr/>
        </p:nvCxnSpPr>
        <p:spPr>
          <a:xfrm>
            <a:off x="3514744" y="3200100"/>
            <a:ext cx="1620300" cy="659400"/>
          </a:xfrm>
          <a:prstGeom prst="bentConnector3">
            <a:avLst>
              <a:gd fmla="val 57922" name="adj1"/>
            </a:avLst>
          </a:prstGeom>
          <a:noFill/>
          <a:ln cap="flat" cmpd="sng" w="28575">
            <a:solidFill>
              <a:srgbClr val="FF00FF"/>
            </a:solidFill>
            <a:prstDash val="solid"/>
            <a:round/>
            <a:headEnd len="med" w="med" type="none"/>
            <a:tailEnd len="med" w="med" type="none"/>
          </a:ln>
        </p:spPr>
      </p:cxnSp>
      <p:sp>
        <p:nvSpPr>
          <p:cNvPr id="163" name="Google Shape;163;p23"/>
          <p:cNvSpPr txBox="1"/>
          <p:nvPr/>
        </p:nvSpPr>
        <p:spPr>
          <a:xfrm>
            <a:off x="1357470" y="1688200"/>
            <a:ext cx="255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FFFF"/>
                </a:solidFill>
                <a:latin typeface="Fira Sans"/>
                <a:ea typeface="Fira Sans"/>
                <a:cs typeface="Fira Sans"/>
                <a:sym typeface="Fira Sans"/>
              </a:rPr>
              <a:t>target</a:t>
            </a:r>
            <a:r>
              <a:rPr b="1" lang="en" sz="1100">
                <a:solidFill>
                  <a:srgbClr val="00FFFF"/>
                </a:solidFill>
                <a:latin typeface="Fira Sans"/>
                <a:ea typeface="Fira Sans"/>
                <a:cs typeface="Fira Sans"/>
                <a:sym typeface="Fira Sans"/>
              </a:rPr>
              <a:t>_</a:t>
            </a:r>
            <a:r>
              <a:rPr lang="en" sz="1100">
                <a:solidFill>
                  <a:srgbClr val="00FFFF"/>
                </a:solidFill>
                <a:latin typeface="Fira Sans"/>
                <a:ea typeface="Fira Sans"/>
                <a:cs typeface="Fira Sans"/>
                <a:sym typeface="Fira Sans"/>
              </a:rPr>
              <a:t>1</a:t>
            </a:r>
            <a:endParaRPr sz="1100">
              <a:solidFill>
                <a:srgbClr val="00FFFF"/>
              </a:solidFill>
              <a:latin typeface="Fira Sans"/>
              <a:ea typeface="Fira Sans"/>
              <a:cs typeface="Fira Sans"/>
              <a:sym typeface="Fira Sans"/>
            </a:endParaRPr>
          </a:p>
        </p:txBody>
      </p:sp>
      <p:sp>
        <p:nvSpPr>
          <p:cNvPr id="164" name="Google Shape;164;p23"/>
          <p:cNvSpPr txBox="1"/>
          <p:nvPr/>
        </p:nvSpPr>
        <p:spPr>
          <a:xfrm>
            <a:off x="1943633" y="3713491"/>
            <a:ext cx="255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CEFF"/>
                </a:solidFill>
                <a:latin typeface="Fira Sans"/>
                <a:ea typeface="Fira Sans"/>
                <a:cs typeface="Fira Sans"/>
                <a:sym typeface="Fira Sans"/>
              </a:rPr>
              <a:t>target</a:t>
            </a:r>
            <a:r>
              <a:rPr b="1" lang="en" sz="1100">
                <a:solidFill>
                  <a:srgbClr val="FFCEFF"/>
                </a:solidFill>
                <a:latin typeface="Fira Sans"/>
                <a:ea typeface="Fira Sans"/>
                <a:cs typeface="Fira Sans"/>
                <a:sym typeface="Fira Sans"/>
              </a:rPr>
              <a:t>_</a:t>
            </a:r>
            <a:r>
              <a:rPr lang="en" sz="1100">
                <a:solidFill>
                  <a:srgbClr val="FFCEFF"/>
                </a:solidFill>
                <a:latin typeface="Fira Sans"/>
                <a:ea typeface="Fira Sans"/>
                <a:cs typeface="Fira Sans"/>
                <a:sym typeface="Fira Sans"/>
              </a:rPr>
              <a:t>2</a:t>
            </a:r>
            <a:endParaRPr sz="1100">
              <a:solidFill>
                <a:srgbClr val="FFCEFF"/>
              </a:solidFill>
              <a:latin typeface="Fira Sans"/>
              <a:ea typeface="Fira Sans"/>
              <a:cs typeface="Fira Sans"/>
              <a:sym typeface="Fira Sans"/>
            </a:endParaRPr>
          </a:p>
        </p:txBody>
      </p:sp>
      <p:sp>
        <p:nvSpPr>
          <p:cNvPr id="165" name="Google Shape;165;p23"/>
          <p:cNvSpPr txBox="1"/>
          <p:nvPr/>
        </p:nvSpPr>
        <p:spPr>
          <a:xfrm>
            <a:off x="6280789" y="260349"/>
            <a:ext cx="35232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66608e9e-1f12-409d-8234-0b74a09b844f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field_multi_mil_042.jpg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2026-02-19T20:31:25Z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MGRS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17T NE 8961 7759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PDA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bda-svc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 military_equipment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 DESTROYED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 PROBABLE ",</a:t>
            </a:r>
            <a:endParaRPr sz="1000">
              <a:solidFill>
                <a:schemeClr val="dk2"/>
              </a:solidFill>
              <a:latin typeface="Fira Sans"/>
              <a:ea typeface="Fira Sans"/>
              <a:cs typeface="Fira Sans"/>
              <a:sym typeface="Fira Sans"/>
            </a:endParaRPr>
          </a:p>
          <a:p>
            <a:pPr indent="0" lvl="0" marL="0" rtl="0" algn="l">
              <a:spcBef>
                <a:spcPts val="0"/>
              </a:spcBef>
              <a:spcAft>
                <a:spcPts val="0"/>
              </a:spcAft>
              <a:buNone/>
            </a:pPr>
            <a:r>
              <a:rPr lang="en" sz="1000">
                <a:solidFill>
                  <a:schemeClr val="dk2"/>
                </a:solidFill>
                <a:latin typeface="Fira Sans"/>
                <a:ea typeface="Fira Sans"/>
                <a:cs typeface="Fira Sans"/>
                <a:sym typeface="Fira Sans"/>
              </a:rPr>
              <a:t>                    :  " Damaged hull, smoke … "</a:t>
            </a:r>
            <a:endParaRPr sz="1000">
              <a:solidFill>
                <a:schemeClr val="dk2"/>
              </a:solidFill>
              <a:latin typeface="Fira Sans"/>
              <a:ea typeface="Fira Sans"/>
              <a:cs typeface="Fira Sans"/>
              <a:sym typeface="Fir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p:nvPr/>
        </p:nvSpPr>
        <p:spPr>
          <a:xfrm>
            <a:off x="705750" y="3005850"/>
            <a:ext cx="7732500" cy="284700"/>
          </a:xfrm>
          <a:prstGeom prst="rect">
            <a:avLst/>
          </a:prstGeom>
          <a:solidFill>
            <a:srgbClr val="ECFDF5"/>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ctr">
              <a:spcBef>
                <a:spcPts val="0"/>
              </a:spcBef>
              <a:spcAft>
                <a:spcPts val="0"/>
              </a:spcAft>
              <a:buNone/>
            </a:pPr>
            <a:r>
              <a:rPr lang="en" sz="1207"/>
              <a:t>Docker Runtime</a:t>
            </a:r>
            <a:endParaRPr sz="1207">
              <a:solidFill>
                <a:srgbClr val="000000"/>
              </a:solidFill>
              <a:latin typeface="Arial"/>
              <a:ea typeface="Arial"/>
              <a:cs typeface="Arial"/>
              <a:sym typeface="Arial"/>
            </a:endParaRPr>
          </a:p>
        </p:txBody>
      </p:sp>
      <p:sp>
        <p:nvSpPr>
          <p:cNvPr id="171" name="Google Shape;171;p24"/>
          <p:cNvSpPr txBox="1"/>
          <p:nvPr>
            <p:ph idx="12" type="sldNum"/>
          </p:nvPr>
        </p:nvSpPr>
        <p:spPr>
          <a:xfrm>
            <a:off x="8595301" y="4776204"/>
            <a:ext cx="548700" cy="33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72" name="Google Shape;172;p24"/>
          <p:cNvSpPr/>
          <p:nvPr/>
        </p:nvSpPr>
        <p:spPr>
          <a:xfrm>
            <a:off x="705750" y="1104880"/>
            <a:ext cx="7732500" cy="1867200"/>
          </a:xfrm>
          <a:prstGeom prst="rect">
            <a:avLst/>
          </a:prstGeom>
          <a:solidFill>
            <a:srgbClr val="ECFDF5"/>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73" name="Google Shape;173;p24"/>
          <p:cNvSpPr/>
          <p:nvPr/>
        </p:nvSpPr>
        <p:spPr>
          <a:xfrm>
            <a:off x="705750" y="1104925"/>
            <a:ext cx="1379400" cy="1867200"/>
          </a:xfrm>
          <a:prstGeom prst="rect">
            <a:avLst/>
          </a:prstGeom>
          <a:solidFill>
            <a:srgbClr val="B6D7A8"/>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74" name="Google Shape;174;p24"/>
          <p:cNvSpPr/>
          <p:nvPr/>
        </p:nvSpPr>
        <p:spPr>
          <a:xfrm>
            <a:off x="2207654"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75" name="Google Shape;175;p24"/>
          <p:cNvSpPr/>
          <p:nvPr/>
        </p:nvSpPr>
        <p:spPr>
          <a:xfrm>
            <a:off x="2115625" y="1625625"/>
            <a:ext cx="12978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latin typeface="Calibri"/>
                <a:ea typeface="Calibri"/>
                <a:cs typeface="Calibri"/>
                <a:sym typeface="Calibri"/>
              </a:rPr>
              <a:t>Executable / CLI</a:t>
            </a:r>
            <a:endParaRPr sz="1204">
              <a:solidFill>
                <a:srgbClr val="000000"/>
              </a:solidFill>
              <a:latin typeface="Arial"/>
              <a:ea typeface="Arial"/>
              <a:cs typeface="Arial"/>
              <a:sym typeface="Arial"/>
            </a:endParaRPr>
          </a:p>
        </p:txBody>
      </p:sp>
      <p:sp>
        <p:nvSpPr>
          <p:cNvPr id="176" name="Google Shape;176;p24"/>
          <p:cNvSpPr/>
          <p:nvPr/>
        </p:nvSpPr>
        <p:spPr>
          <a:xfrm>
            <a:off x="2244425" y="2199584"/>
            <a:ext cx="1040100" cy="7008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203">
                <a:solidFill>
                  <a:srgbClr val="4B5563"/>
                </a:solidFill>
                <a:latin typeface="Calibri"/>
                <a:ea typeface="Calibri"/>
                <a:cs typeface="Calibri"/>
                <a:sym typeface="Calibri"/>
              </a:rPr>
              <a:t>Self-contained with software and model</a:t>
            </a:r>
            <a:endParaRPr sz="1203">
              <a:solidFill>
                <a:srgbClr val="000000"/>
              </a:solidFill>
              <a:latin typeface="Arial"/>
              <a:ea typeface="Arial"/>
              <a:cs typeface="Arial"/>
              <a:sym typeface="Arial"/>
            </a:endParaRPr>
          </a:p>
        </p:txBody>
      </p:sp>
      <p:sp>
        <p:nvSpPr>
          <p:cNvPr id="177" name="Google Shape;177;p24"/>
          <p:cNvSpPr/>
          <p:nvPr/>
        </p:nvSpPr>
        <p:spPr>
          <a:xfrm>
            <a:off x="3443875"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78" name="Google Shape;178;p24"/>
          <p:cNvSpPr/>
          <p:nvPr/>
        </p:nvSpPr>
        <p:spPr>
          <a:xfrm>
            <a:off x="3517438"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latin typeface="Calibri"/>
                <a:ea typeface="Calibri"/>
                <a:cs typeface="Calibri"/>
                <a:sym typeface="Calibri"/>
              </a:rPr>
              <a:t>Validate + Access</a:t>
            </a:r>
            <a:endParaRPr sz="1204">
              <a:solidFill>
                <a:srgbClr val="000000"/>
              </a:solidFill>
              <a:latin typeface="Arial"/>
              <a:ea typeface="Arial"/>
              <a:cs typeface="Arial"/>
              <a:sym typeface="Arial"/>
            </a:endParaRPr>
          </a:p>
        </p:txBody>
      </p:sp>
      <p:sp>
        <p:nvSpPr>
          <p:cNvPr id="179" name="Google Shape;179;p24"/>
          <p:cNvSpPr/>
          <p:nvPr/>
        </p:nvSpPr>
        <p:spPr>
          <a:xfrm>
            <a:off x="3262150" y="2200313"/>
            <a:ext cx="1477200" cy="7641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203">
                <a:solidFill>
                  <a:srgbClr val="4B5563"/>
                </a:solidFill>
                <a:latin typeface="Calibri"/>
                <a:ea typeface="Calibri"/>
                <a:cs typeface="Calibri"/>
                <a:sym typeface="Calibri"/>
              </a:rPr>
              <a:t>Read input folder</a:t>
            </a:r>
            <a:endParaRPr sz="12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1203">
                <a:solidFill>
                  <a:srgbClr val="4B5563"/>
                </a:solidFill>
                <a:latin typeface="Calibri"/>
                <a:ea typeface="Calibri"/>
                <a:cs typeface="Calibri"/>
                <a:sym typeface="Calibri"/>
              </a:rPr>
              <a:t>Write output folder</a:t>
            </a:r>
            <a:endParaRPr sz="1203">
              <a:solidFill>
                <a:srgbClr val="000000"/>
              </a:solidFill>
              <a:latin typeface="Arial"/>
              <a:ea typeface="Arial"/>
              <a:cs typeface="Arial"/>
              <a:sym typeface="Arial"/>
            </a:endParaRPr>
          </a:p>
        </p:txBody>
      </p:sp>
      <p:sp>
        <p:nvSpPr>
          <p:cNvPr id="180" name="Google Shape;180;p24"/>
          <p:cNvSpPr/>
          <p:nvPr/>
        </p:nvSpPr>
        <p:spPr>
          <a:xfrm>
            <a:off x="4680096"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81" name="Google Shape;181;p24"/>
          <p:cNvSpPr/>
          <p:nvPr/>
        </p:nvSpPr>
        <p:spPr>
          <a:xfrm>
            <a:off x="4753658"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latin typeface="Calibri"/>
                <a:ea typeface="Calibri"/>
                <a:cs typeface="Calibri"/>
                <a:sym typeface="Calibri"/>
              </a:rPr>
              <a:t>Preprocess Targets</a:t>
            </a:r>
            <a:endParaRPr sz="1204">
              <a:solidFill>
                <a:srgbClr val="000000"/>
              </a:solidFill>
              <a:latin typeface="Arial"/>
              <a:ea typeface="Arial"/>
              <a:cs typeface="Arial"/>
              <a:sym typeface="Arial"/>
            </a:endParaRPr>
          </a:p>
        </p:txBody>
      </p:sp>
      <p:sp>
        <p:nvSpPr>
          <p:cNvPr id="182" name="Google Shape;182;p24"/>
          <p:cNvSpPr/>
          <p:nvPr/>
        </p:nvSpPr>
        <p:spPr>
          <a:xfrm>
            <a:off x="5916316"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83" name="Google Shape;183;p24"/>
          <p:cNvSpPr/>
          <p:nvPr/>
        </p:nvSpPr>
        <p:spPr>
          <a:xfrm>
            <a:off x="5989879"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latin typeface="Calibri"/>
                <a:ea typeface="Calibri"/>
                <a:cs typeface="Calibri"/>
                <a:sym typeface="Calibri"/>
              </a:rPr>
              <a:t>VLM Output</a:t>
            </a:r>
            <a:endParaRPr sz="1204">
              <a:solidFill>
                <a:srgbClr val="000000"/>
              </a:solidFill>
              <a:latin typeface="Arial"/>
              <a:ea typeface="Arial"/>
              <a:cs typeface="Arial"/>
              <a:sym typeface="Arial"/>
            </a:endParaRPr>
          </a:p>
        </p:txBody>
      </p:sp>
      <p:sp>
        <p:nvSpPr>
          <p:cNvPr id="184" name="Google Shape;184;p24"/>
          <p:cNvSpPr/>
          <p:nvPr/>
        </p:nvSpPr>
        <p:spPr>
          <a:xfrm>
            <a:off x="5953098" y="220799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203">
                <a:solidFill>
                  <a:srgbClr val="4B5563"/>
                </a:solidFill>
                <a:latin typeface="Calibri"/>
                <a:ea typeface="Calibri"/>
                <a:cs typeface="Calibri"/>
                <a:sym typeface="Calibri"/>
              </a:rPr>
              <a:t>BDA Analysis</a:t>
            </a:r>
            <a:endParaRPr sz="1203">
              <a:solidFill>
                <a:srgbClr val="000000"/>
              </a:solidFill>
              <a:latin typeface="Arial"/>
              <a:ea typeface="Arial"/>
              <a:cs typeface="Arial"/>
              <a:sym typeface="Arial"/>
            </a:endParaRPr>
          </a:p>
        </p:txBody>
      </p:sp>
      <p:sp>
        <p:nvSpPr>
          <p:cNvPr id="185" name="Google Shape;185;p24"/>
          <p:cNvSpPr/>
          <p:nvPr/>
        </p:nvSpPr>
        <p:spPr>
          <a:xfrm>
            <a:off x="7152537"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86" name="Google Shape;186;p24"/>
          <p:cNvSpPr/>
          <p:nvPr/>
        </p:nvSpPr>
        <p:spPr>
          <a:xfrm>
            <a:off x="7226100"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latin typeface="Calibri"/>
                <a:ea typeface="Calibri"/>
                <a:cs typeface="Calibri"/>
                <a:sym typeface="Calibri"/>
              </a:rPr>
              <a:t>Store</a:t>
            </a:r>
            <a:endParaRPr sz="1204">
              <a:solidFill>
                <a:srgbClr val="000000"/>
              </a:solidFill>
              <a:latin typeface="Arial"/>
              <a:ea typeface="Arial"/>
              <a:cs typeface="Arial"/>
              <a:sym typeface="Arial"/>
            </a:endParaRPr>
          </a:p>
        </p:txBody>
      </p:sp>
      <p:sp>
        <p:nvSpPr>
          <p:cNvPr id="187" name="Google Shape;187;p24"/>
          <p:cNvSpPr/>
          <p:nvPr/>
        </p:nvSpPr>
        <p:spPr>
          <a:xfrm>
            <a:off x="7189318" y="220799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203">
                <a:solidFill>
                  <a:srgbClr val="4B5563"/>
                </a:solidFill>
                <a:latin typeface="Calibri"/>
                <a:ea typeface="Calibri"/>
                <a:cs typeface="Calibri"/>
                <a:sym typeface="Calibri"/>
              </a:rPr>
              <a:t>JSON Output</a:t>
            </a:r>
            <a:endParaRPr sz="1203">
              <a:solidFill>
                <a:srgbClr val="000000"/>
              </a:solidFill>
              <a:latin typeface="Arial"/>
              <a:ea typeface="Arial"/>
              <a:cs typeface="Arial"/>
              <a:sym typeface="Arial"/>
            </a:endParaRPr>
          </a:p>
        </p:txBody>
      </p:sp>
      <p:sp>
        <p:nvSpPr>
          <p:cNvPr id="188" name="Google Shape;188;p24"/>
          <p:cNvSpPr txBox="1"/>
          <p:nvPr/>
        </p:nvSpPr>
        <p:spPr>
          <a:xfrm>
            <a:off x="705750" y="1127275"/>
            <a:ext cx="7732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Fira Sans"/>
                <a:ea typeface="Fira Sans"/>
                <a:cs typeface="Fira Sans"/>
                <a:sym typeface="Fira Sans"/>
              </a:rPr>
              <a:t>Robotic Platform</a:t>
            </a:r>
            <a:endParaRPr>
              <a:solidFill>
                <a:schemeClr val="dk2"/>
              </a:solidFill>
              <a:latin typeface="Fira Sans"/>
              <a:ea typeface="Fira Sans"/>
              <a:cs typeface="Fira Sans"/>
              <a:sym typeface="Fira Sans"/>
            </a:endParaRPr>
          </a:p>
        </p:txBody>
      </p:sp>
      <p:sp>
        <p:nvSpPr>
          <p:cNvPr id="189" name="Google Shape;189;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Software Deliverable</a:t>
            </a:r>
            <a:endParaRPr/>
          </a:p>
        </p:txBody>
      </p:sp>
      <p:pic>
        <p:nvPicPr>
          <p:cNvPr id="190" name="Google Shape;190;p24"/>
          <p:cNvPicPr preferRelativeResize="0"/>
          <p:nvPr/>
        </p:nvPicPr>
        <p:blipFill>
          <a:blip r:embed="rId3">
            <a:alphaModFix/>
          </a:blip>
          <a:stretch>
            <a:fillRect/>
          </a:stretch>
        </p:blipFill>
        <p:spPr>
          <a:xfrm>
            <a:off x="6050888" y="3029804"/>
            <a:ext cx="905576" cy="235775"/>
          </a:xfrm>
          <a:prstGeom prst="rect">
            <a:avLst/>
          </a:prstGeom>
          <a:noFill/>
          <a:ln>
            <a:noFill/>
          </a:ln>
        </p:spPr>
      </p:pic>
      <p:sp>
        <p:nvSpPr>
          <p:cNvPr id="191" name="Google Shape;191;p24"/>
          <p:cNvSpPr/>
          <p:nvPr/>
        </p:nvSpPr>
        <p:spPr>
          <a:xfrm>
            <a:off x="705750" y="3324325"/>
            <a:ext cx="7732500" cy="714300"/>
          </a:xfrm>
          <a:prstGeom prst="rect">
            <a:avLst/>
          </a:prstGeom>
          <a:solidFill>
            <a:srgbClr val="ECFDF5"/>
          </a:solidFill>
          <a:ln cap="flat" cmpd="sng" w="8500">
            <a:solidFill>
              <a:srgbClr val="E5E7EB"/>
            </a:solidFill>
            <a:prstDash val="solid"/>
            <a:round/>
            <a:headEnd len="sm" w="sm" type="none"/>
            <a:tailEnd len="sm" w="sm" type="none"/>
          </a:ln>
        </p:spPr>
        <p:txBody>
          <a:bodyPr anchorCtr="0" anchor="ctr" bIns="30650" lIns="61300" spcFirstLastPara="1" rIns="61300" wrap="square" tIns="30650">
            <a:noAutofit/>
          </a:bodyPr>
          <a:lstStyle/>
          <a:p>
            <a:pPr indent="0" lvl="0" marL="0" marR="0" rtl="0" algn="ctr">
              <a:spcBef>
                <a:spcPts val="0"/>
              </a:spcBef>
              <a:spcAft>
                <a:spcPts val="0"/>
              </a:spcAft>
              <a:buNone/>
            </a:pPr>
            <a:r>
              <a:rPr lang="en" sz="1207"/>
              <a:t>NVIDIA Jetson</a:t>
            </a:r>
            <a:endParaRPr sz="1207">
              <a:solidFill>
                <a:srgbClr val="000000"/>
              </a:solidFill>
              <a:latin typeface="Arial"/>
              <a:ea typeface="Arial"/>
              <a:cs typeface="Arial"/>
              <a:sym typeface="Arial"/>
            </a:endParaRPr>
          </a:p>
        </p:txBody>
      </p:sp>
      <p:pic>
        <p:nvPicPr>
          <p:cNvPr id="192" name="Google Shape;192;p24"/>
          <p:cNvPicPr preferRelativeResize="0"/>
          <p:nvPr/>
        </p:nvPicPr>
        <p:blipFill>
          <a:blip r:embed="rId4">
            <a:alphaModFix/>
          </a:blip>
          <a:stretch>
            <a:fillRect/>
          </a:stretch>
        </p:blipFill>
        <p:spPr>
          <a:xfrm>
            <a:off x="1089325" y="1688125"/>
            <a:ext cx="612247" cy="700800"/>
          </a:xfrm>
          <a:prstGeom prst="rect">
            <a:avLst/>
          </a:prstGeom>
          <a:noFill/>
          <a:ln>
            <a:noFill/>
          </a:ln>
        </p:spPr>
      </p:pic>
      <p:pic>
        <p:nvPicPr>
          <p:cNvPr id="193" name="Google Shape;193;p24"/>
          <p:cNvPicPr preferRelativeResize="0"/>
          <p:nvPr/>
        </p:nvPicPr>
        <p:blipFill>
          <a:blip r:embed="rId5">
            <a:alphaModFix/>
          </a:blip>
          <a:stretch>
            <a:fillRect/>
          </a:stretch>
        </p:blipFill>
        <p:spPr>
          <a:xfrm>
            <a:off x="6229338" y="3381325"/>
            <a:ext cx="548700" cy="577278"/>
          </a:xfrm>
          <a:prstGeom prst="rect">
            <a:avLst/>
          </a:prstGeom>
          <a:noFill/>
          <a:ln>
            <a:noFill/>
          </a:ln>
        </p:spPr>
      </p:pic>
      <p:sp>
        <p:nvSpPr>
          <p:cNvPr id="194" name="Google Shape;194;p24"/>
          <p:cNvSpPr/>
          <p:nvPr/>
        </p:nvSpPr>
        <p:spPr>
          <a:xfrm>
            <a:off x="4716873" y="220797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203">
                <a:solidFill>
                  <a:srgbClr val="4B5563"/>
                </a:solidFill>
                <a:latin typeface="Calibri"/>
                <a:ea typeface="Calibri"/>
                <a:cs typeface="Calibri"/>
                <a:sym typeface="Calibri"/>
              </a:rPr>
              <a:t>Prompt input</a:t>
            </a:r>
            <a:endParaRPr sz="1203">
              <a:solidFill>
                <a:srgbClr val="000000"/>
              </a:solidFill>
              <a:latin typeface="Arial"/>
              <a:ea typeface="Arial"/>
              <a:cs typeface="Arial"/>
              <a:sym typeface="Arial"/>
            </a:endParaRPr>
          </a:p>
        </p:txBody>
      </p:sp>
      <p:cxnSp>
        <p:nvCxnSpPr>
          <p:cNvPr id="195" name="Google Shape;195;p24"/>
          <p:cNvCxnSpPr/>
          <p:nvPr/>
        </p:nvCxnSpPr>
        <p:spPr>
          <a:xfrm>
            <a:off x="3318058" y="1867719"/>
            <a:ext cx="208800" cy="0"/>
          </a:xfrm>
          <a:prstGeom prst="straightConnector1">
            <a:avLst/>
          </a:prstGeom>
          <a:noFill/>
          <a:ln cap="flat" cmpd="sng" w="17025">
            <a:solidFill>
              <a:srgbClr val="6B7280"/>
            </a:solidFill>
            <a:prstDash val="solid"/>
            <a:round/>
            <a:headEnd len="sm" w="sm" type="none"/>
            <a:tailEnd len="med" w="med" type="triangle"/>
          </a:ln>
        </p:spPr>
      </p:cxnSp>
      <p:cxnSp>
        <p:nvCxnSpPr>
          <p:cNvPr id="196" name="Google Shape;196;p24"/>
          <p:cNvCxnSpPr/>
          <p:nvPr/>
        </p:nvCxnSpPr>
        <p:spPr>
          <a:xfrm>
            <a:off x="4568821" y="1867719"/>
            <a:ext cx="183900" cy="0"/>
          </a:xfrm>
          <a:prstGeom prst="straightConnector1">
            <a:avLst/>
          </a:prstGeom>
          <a:noFill/>
          <a:ln cap="flat" cmpd="sng" w="17025">
            <a:solidFill>
              <a:srgbClr val="6B7280"/>
            </a:solidFill>
            <a:prstDash val="solid"/>
            <a:round/>
            <a:headEnd len="sm" w="sm" type="none"/>
            <a:tailEnd len="med" w="med" type="triangle"/>
          </a:ln>
        </p:spPr>
      </p:cxnSp>
      <p:cxnSp>
        <p:nvCxnSpPr>
          <p:cNvPr id="197" name="Google Shape;197;p24"/>
          <p:cNvCxnSpPr/>
          <p:nvPr/>
        </p:nvCxnSpPr>
        <p:spPr>
          <a:xfrm>
            <a:off x="5795621" y="1867719"/>
            <a:ext cx="183900" cy="0"/>
          </a:xfrm>
          <a:prstGeom prst="straightConnector1">
            <a:avLst/>
          </a:prstGeom>
          <a:noFill/>
          <a:ln cap="flat" cmpd="sng" w="17025">
            <a:solidFill>
              <a:srgbClr val="6B7280"/>
            </a:solidFill>
            <a:prstDash val="solid"/>
            <a:round/>
            <a:headEnd len="sm" w="sm" type="none"/>
            <a:tailEnd len="med" w="med" type="triangle"/>
          </a:ln>
        </p:spPr>
      </p:cxnSp>
      <p:cxnSp>
        <p:nvCxnSpPr>
          <p:cNvPr id="198" name="Google Shape;198;p24"/>
          <p:cNvCxnSpPr/>
          <p:nvPr/>
        </p:nvCxnSpPr>
        <p:spPr>
          <a:xfrm>
            <a:off x="7031842" y="1867719"/>
            <a:ext cx="183900" cy="0"/>
          </a:xfrm>
          <a:prstGeom prst="straightConnector1">
            <a:avLst/>
          </a:prstGeom>
          <a:noFill/>
          <a:ln cap="flat" cmpd="sng" w="17025">
            <a:solidFill>
              <a:srgbClr val="6B7280"/>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204" name="Google Shape;204;p25"/>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pic>
        <p:nvPicPr>
          <p:cNvPr id="205" name="Google Shape;205;p25" title="Blank diagram (5).png"/>
          <p:cNvPicPr preferRelativeResize="0"/>
          <p:nvPr/>
        </p:nvPicPr>
        <p:blipFill>
          <a:blip r:embed="rId3">
            <a:alphaModFix/>
          </a:blip>
          <a:stretch>
            <a:fillRect/>
          </a:stretch>
        </p:blipFill>
        <p:spPr>
          <a:xfrm>
            <a:off x="-18538" y="1017725"/>
            <a:ext cx="9181075" cy="36958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6" title="better donut chart.jpg"/>
          <p:cNvPicPr preferRelativeResize="0"/>
          <p:nvPr/>
        </p:nvPicPr>
        <p:blipFill>
          <a:blip r:embed="rId3">
            <a:alphaModFix/>
          </a:blip>
          <a:stretch>
            <a:fillRect/>
          </a:stretch>
        </p:blipFill>
        <p:spPr>
          <a:xfrm>
            <a:off x="2970150" y="112950"/>
            <a:ext cx="6217226" cy="4135650"/>
          </a:xfrm>
          <a:prstGeom prst="rect">
            <a:avLst/>
          </a:prstGeom>
          <a:noFill/>
          <a:ln>
            <a:noFill/>
          </a:ln>
        </p:spPr>
      </p:pic>
      <p:sp>
        <p:nvSpPr>
          <p:cNvPr id="211" name="Google Shape;211;p26"/>
          <p:cNvSpPr txBox="1"/>
          <p:nvPr>
            <p:ph type="title"/>
          </p:nvPr>
        </p:nvSpPr>
        <p:spPr>
          <a:xfrm>
            <a:off x="169975" y="258525"/>
            <a:ext cx="326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Overall Distribution of Major Categories</a:t>
            </a:r>
            <a:endParaRPr/>
          </a:p>
        </p:txBody>
      </p:sp>
      <p:sp>
        <p:nvSpPr>
          <p:cNvPr id="212" name="Google Shape;212;p26"/>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pic>
        <p:nvPicPr>
          <p:cNvPr id="213" name="Google Shape;213;p26" title="61.jpg"/>
          <p:cNvPicPr preferRelativeResize="0"/>
          <p:nvPr/>
        </p:nvPicPr>
        <p:blipFill>
          <a:blip r:embed="rId4">
            <a:alphaModFix/>
          </a:blip>
          <a:stretch>
            <a:fillRect/>
          </a:stretch>
        </p:blipFill>
        <p:spPr>
          <a:xfrm>
            <a:off x="169975" y="1185400"/>
            <a:ext cx="2232600" cy="1674450"/>
          </a:xfrm>
          <a:prstGeom prst="rect">
            <a:avLst/>
          </a:prstGeom>
          <a:noFill/>
          <a:ln>
            <a:noFill/>
          </a:ln>
        </p:spPr>
      </p:pic>
      <p:pic>
        <p:nvPicPr>
          <p:cNvPr id="214" name="Google Shape;214;p26" title="38.jpg"/>
          <p:cNvPicPr preferRelativeResize="0"/>
          <p:nvPr/>
        </p:nvPicPr>
        <p:blipFill>
          <a:blip r:embed="rId5">
            <a:alphaModFix/>
          </a:blip>
          <a:stretch>
            <a:fillRect/>
          </a:stretch>
        </p:blipFill>
        <p:spPr>
          <a:xfrm>
            <a:off x="1733059" y="2227124"/>
            <a:ext cx="1957375" cy="1250125"/>
          </a:xfrm>
          <a:prstGeom prst="rect">
            <a:avLst/>
          </a:prstGeom>
          <a:noFill/>
          <a:ln>
            <a:noFill/>
          </a:ln>
        </p:spPr>
      </p:pic>
      <p:pic>
        <p:nvPicPr>
          <p:cNvPr id="215" name="Google Shape;215;p26" title="69.jpg"/>
          <p:cNvPicPr preferRelativeResize="0"/>
          <p:nvPr/>
        </p:nvPicPr>
        <p:blipFill>
          <a:blip r:embed="rId6">
            <a:alphaModFix/>
          </a:blip>
          <a:stretch>
            <a:fillRect/>
          </a:stretch>
        </p:blipFill>
        <p:spPr>
          <a:xfrm>
            <a:off x="169975" y="2996050"/>
            <a:ext cx="1881700" cy="1407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221" name="Google Shape;221;p27"/>
          <p:cNvSpPr txBox="1"/>
          <p:nvPr/>
        </p:nvSpPr>
        <p:spPr>
          <a:xfrm>
            <a:off x="126900" y="-5120"/>
            <a:ext cx="5457000" cy="7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accent1"/>
                </a:solidFill>
                <a:latin typeface="Fira Sans"/>
                <a:ea typeface="Fira Sans"/>
                <a:cs typeface="Fira Sans"/>
                <a:sym typeface="Fira Sans"/>
              </a:rPr>
              <a:t>Data </a:t>
            </a:r>
            <a:r>
              <a:rPr lang="en" sz="2500">
                <a:solidFill>
                  <a:schemeClr val="accent1"/>
                </a:solidFill>
                <a:latin typeface="Fira Sans"/>
                <a:ea typeface="Fira Sans"/>
                <a:cs typeface="Fira Sans"/>
                <a:sym typeface="Fira Sans"/>
              </a:rPr>
              <a:t>Composition</a:t>
            </a:r>
            <a:r>
              <a:rPr lang="en" sz="2500">
                <a:solidFill>
                  <a:schemeClr val="accent1"/>
                </a:solidFill>
                <a:latin typeface="Fira Sans"/>
                <a:ea typeface="Fira Sans"/>
                <a:cs typeface="Fira Sans"/>
                <a:sym typeface="Fira Sans"/>
              </a:rPr>
              <a:t> by Look Angle</a:t>
            </a:r>
            <a:endParaRPr sz="2500">
              <a:solidFill>
                <a:schemeClr val="accent1"/>
              </a:solidFill>
              <a:latin typeface="Fira Sans"/>
              <a:ea typeface="Fira Sans"/>
              <a:cs typeface="Fira Sans"/>
              <a:sym typeface="Fira Sans"/>
            </a:endParaRPr>
          </a:p>
        </p:txBody>
      </p:sp>
      <p:pic>
        <p:nvPicPr>
          <p:cNvPr id="222" name="Google Shape;222;p27" title="ground.jpg"/>
          <p:cNvPicPr preferRelativeResize="0"/>
          <p:nvPr/>
        </p:nvPicPr>
        <p:blipFill>
          <a:blip r:embed="rId3">
            <a:alphaModFix/>
          </a:blip>
          <a:stretch>
            <a:fillRect/>
          </a:stretch>
        </p:blipFill>
        <p:spPr>
          <a:xfrm>
            <a:off x="0" y="471555"/>
            <a:ext cx="9143999" cy="4084921"/>
          </a:xfrm>
          <a:prstGeom prst="rect">
            <a:avLst/>
          </a:prstGeom>
          <a:noFill/>
          <a:ln>
            <a:noFill/>
          </a:ln>
        </p:spPr>
      </p:pic>
      <p:pic>
        <p:nvPicPr>
          <p:cNvPr id="223" name="Google Shape;223;p27" title="65.jpg"/>
          <p:cNvPicPr preferRelativeResize="0"/>
          <p:nvPr/>
        </p:nvPicPr>
        <p:blipFill>
          <a:blip r:embed="rId4">
            <a:alphaModFix/>
          </a:blip>
          <a:stretch>
            <a:fillRect/>
          </a:stretch>
        </p:blipFill>
        <p:spPr>
          <a:xfrm>
            <a:off x="5958425" y="465125"/>
            <a:ext cx="2842701" cy="1590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229" name="Google Shape;229;p28"/>
          <p:cNvSpPr txBox="1"/>
          <p:nvPr/>
        </p:nvSpPr>
        <p:spPr>
          <a:xfrm>
            <a:off x="126900" y="73075"/>
            <a:ext cx="5457000" cy="7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accent1"/>
                </a:solidFill>
                <a:latin typeface="Fira Sans"/>
                <a:ea typeface="Fira Sans"/>
                <a:cs typeface="Fira Sans"/>
                <a:sym typeface="Fira Sans"/>
              </a:rPr>
              <a:t>Data Composition by Look Angle</a:t>
            </a:r>
            <a:endParaRPr sz="2500">
              <a:solidFill>
                <a:schemeClr val="accent1"/>
              </a:solidFill>
              <a:latin typeface="Fira Sans"/>
              <a:ea typeface="Fira Sans"/>
              <a:cs typeface="Fira Sans"/>
              <a:sym typeface="Fira Sans"/>
            </a:endParaRPr>
          </a:p>
        </p:txBody>
      </p:sp>
      <p:pic>
        <p:nvPicPr>
          <p:cNvPr id="230" name="Google Shape;230;p28" title="aerial.jpg"/>
          <p:cNvPicPr preferRelativeResize="0"/>
          <p:nvPr/>
        </p:nvPicPr>
        <p:blipFill>
          <a:blip r:embed="rId3">
            <a:alphaModFix/>
          </a:blip>
          <a:stretch>
            <a:fillRect/>
          </a:stretch>
        </p:blipFill>
        <p:spPr>
          <a:xfrm>
            <a:off x="-46875" y="569791"/>
            <a:ext cx="9190876" cy="4085208"/>
          </a:xfrm>
          <a:prstGeom prst="rect">
            <a:avLst/>
          </a:prstGeom>
          <a:noFill/>
          <a:ln>
            <a:noFill/>
          </a:ln>
        </p:spPr>
      </p:pic>
      <p:pic>
        <p:nvPicPr>
          <p:cNvPr id="231" name="Google Shape;231;p28" title="29.jpg"/>
          <p:cNvPicPr preferRelativeResize="0"/>
          <p:nvPr/>
        </p:nvPicPr>
        <p:blipFill>
          <a:blip r:embed="rId4">
            <a:alphaModFix/>
          </a:blip>
          <a:stretch>
            <a:fillRect/>
          </a:stretch>
        </p:blipFill>
        <p:spPr>
          <a:xfrm>
            <a:off x="6120001" y="350400"/>
            <a:ext cx="2858127" cy="1777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Modeling</a:t>
            </a:r>
            <a:endParaRPr/>
          </a:p>
        </p:txBody>
      </p:sp>
      <p:sp>
        <p:nvSpPr>
          <p:cNvPr id="237" name="Google Shape;237;p29"/>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238" name="Google Shape;238;p29" title="Screenshot 2026-02-19 105429.png"/>
          <p:cNvPicPr preferRelativeResize="0"/>
          <p:nvPr/>
        </p:nvPicPr>
        <p:blipFill>
          <a:blip r:embed="rId3">
            <a:alphaModFix/>
          </a:blip>
          <a:stretch>
            <a:fillRect/>
          </a:stretch>
        </p:blipFill>
        <p:spPr>
          <a:xfrm>
            <a:off x="875688" y="1017725"/>
            <a:ext cx="7392614" cy="35999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351025"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Evaluation</a:t>
            </a:r>
            <a:endParaRPr/>
          </a:p>
        </p:txBody>
      </p:sp>
      <p:sp>
        <p:nvSpPr>
          <p:cNvPr id="244" name="Google Shape;244;p30"/>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245" name="Google Shape;245;p30" title="Screenshot 2026-02-19 152442.png"/>
          <p:cNvPicPr preferRelativeResize="0"/>
          <p:nvPr/>
        </p:nvPicPr>
        <p:blipFill>
          <a:blip r:embed="rId3">
            <a:alphaModFix/>
          </a:blip>
          <a:stretch>
            <a:fillRect/>
          </a:stretch>
        </p:blipFill>
        <p:spPr>
          <a:xfrm>
            <a:off x="729561" y="1553250"/>
            <a:ext cx="868975" cy="859007"/>
          </a:xfrm>
          <a:prstGeom prst="rect">
            <a:avLst/>
          </a:prstGeom>
          <a:noFill/>
          <a:ln>
            <a:noFill/>
          </a:ln>
        </p:spPr>
      </p:pic>
      <p:sp>
        <p:nvSpPr>
          <p:cNvPr id="246" name="Google Shape;246;p30"/>
          <p:cNvSpPr txBox="1"/>
          <p:nvPr>
            <p:ph idx="1" type="body"/>
          </p:nvPr>
        </p:nvSpPr>
        <p:spPr>
          <a:xfrm>
            <a:off x="1208111" y="1017725"/>
            <a:ext cx="1159800" cy="3936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n" sz="1600">
                <a:solidFill>
                  <a:schemeClr val="dk1"/>
                </a:solidFill>
                <a:latin typeface="Arial"/>
                <a:ea typeface="Arial"/>
                <a:cs typeface="Arial"/>
                <a:sym typeface="Arial"/>
              </a:rPr>
              <a:t>Inputs</a:t>
            </a:r>
            <a:endParaRPr b="1" sz="1600">
              <a:solidFill>
                <a:schemeClr val="dk1"/>
              </a:solidFill>
              <a:latin typeface="Arial"/>
              <a:ea typeface="Arial"/>
              <a:cs typeface="Arial"/>
              <a:sym typeface="Arial"/>
            </a:endParaRPr>
          </a:p>
        </p:txBody>
      </p:sp>
      <p:pic>
        <p:nvPicPr>
          <p:cNvPr id="247" name="Google Shape;247;p30" title="Screenshot 2026-02-19 152442.png"/>
          <p:cNvPicPr preferRelativeResize="0"/>
          <p:nvPr/>
        </p:nvPicPr>
        <p:blipFill>
          <a:blip r:embed="rId3">
            <a:alphaModFix/>
          </a:blip>
          <a:stretch>
            <a:fillRect/>
          </a:stretch>
        </p:blipFill>
        <p:spPr>
          <a:xfrm>
            <a:off x="2019311" y="1553250"/>
            <a:ext cx="868975" cy="859007"/>
          </a:xfrm>
          <a:prstGeom prst="rect">
            <a:avLst/>
          </a:prstGeom>
          <a:noFill/>
          <a:ln>
            <a:noFill/>
          </a:ln>
        </p:spPr>
      </p:pic>
      <p:sp>
        <p:nvSpPr>
          <p:cNvPr id="248" name="Google Shape;248;p30"/>
          <p:cNvSpPr txBox="1"/>
          <p:nvPr>
            <p:ph idx="1" type="body"/>
          </p:nvPr>
        </p:nvSpPr>
        <p:spPr>
          <a:xfrm>
            <a:off x="416452" y="2374950"/>
            <a:ext cx="1495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770"/>
              <a:buFont typeface="Arial"/>
              <a:buNone/>
            </a:pPr>
            <a:r>
              <a:rPr lang="en" sz="1200">
                <a:solidFill>
                  <a:schemeClr val="dk1"/>
                </a:solidFill>
                <a:latin typeface="Arial"/>
                <a:ea typeface="Arial"/>
                <a:cs typeface="Arial"/>
                <a:sym typeface="Arial"/>
              </a:rPr>
              <a:t>Reference Labels</a:t>
            </a:r>
            <a:endParaRPr sz="1200">
              <a:solidFill>
                <a:schemeClr val="dk1"/>
              </a:solidFill>
              <a:latin typeface="Arial"/>
              <a:ea typeface="Arial"/>
              <a:cs typeface="Arial"/>
              <a:sym typeface="Arial"/>
            </a:endParaRPr>
          </a:p>
        </p:txBody>
      </p:sp>
      <p:sp>
        <p:nvSpPr>
          <p:cNvPr id="249" name="Google Shape;249;p30"/>
          <p:cNvSpPr txBox="1"/>
          <p:nvPr>
            <p:ph idx="1" type="body"/>
          </p:nvPr>
        </p:nvSpPr>
        <p:spPr>
          <a:xfrm>
            <a:off x="1706202" y="2374950"/>
            <a:ext cx="1495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770"/>
              <a:buFont typeface="Arial"/>
              <a:buNone/>
            </a:pPr>
            <a:r>
              <a:rPr lang="en" sz="1200">
                <a:solidFill>
                  <a:schemeClr val="dk1"/>
                </a:solidFill>
                <a:latin typeface="Arial"/>
                <a:ea typeface="Arial"/>
                <a:cs typeface="Arial"/>
                <a:sym typeface="Arial"/>
              </a:rPr>
              <a:t>Model Outputs</a:t>
            </a:r>
            <a:endParaRPr sz="1200">
              <a:solidFill>
                <a:schemeClr val="dk1"/>
              </a:solidFill>
              <a:latin typeface="Arial"/>
              <a:ea typeface="Arial"/>
              <a:cs typeface="Arial"/>
              <a:sym typeface="Arial"/>
            </a:endParaRPr>
          </a:p>
        </p:txBody>
      </p:sp>
      <p:sp>
        <p:nvSpPr>
          <p:cNvPr id="250" name="Google Shape;250;p30"/>
          <p:cNvSpPr txBox="1"/>
          <p:nvPr>
            <p:ph idx="1" type="body"/>
          </p:nvPr>
        </p:nvSpPr>
        <p:spPr>
          <a:xfrm>
            <a:off x="846000" y="2768562"/>
            <a:ext cx="1884000" cy="1090800"/>
          </a:xfrm>
          <a:prstGeom prst="rect">
            <a:avLst/>
          </a:prstGeom>
          <a:noFill/>
          <a:ln>
            <a:noFill/>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Target type</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Damage level</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Confidence</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Supporting logic</a:t>
            </a:r>
            <a:endParaRPr sz="1200">
              <a:solidFill>
                <a:schemeClr val="dk1"/>
              </a:solidFill>
              <a:latin typeface="Arial"/>
              <a:ea typeface="Arial"/>
              <a:cs typeface="Arial"/>
              <a:sym typeface="Arial"/>
            </a:endParaRPr>
          </a:p>
        </p:txBody>
      </p:sp>
      <p:cxnSp>
        <p:nvCxnSpPr>
          <p:cNvPr id="251" name="Google Shape;251;p30"/>
          <p:cNvCxnSpPr/>
          <p:nvPr/>
        </p:nvCxnSpPr>
        <p:spPr>
          <a:xfrm>
            <a:off x="3192550" y="967642"/>
            <a:ext cx="32700" cy="2885700"/>
          </a:xfrm>
          <a:prstGeom prst="straightConnector1">
            <a:avLst/>
          </a:prstGeom>
          <a:noFill/>
          <a:ln cap="flat" cmpd="sng" w="2857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cxnSp>
      <p:cxnSp>
        <p:nvCxnSpPr>
          <p:cNvPr id="252" name="Google Shape;252;p30"/>
          <p:cNvCxnSpPr/>
          <p:nvPr/>
        </p:nvCxnSpPr>
        <p:spPr>
          <a:xfrm>
            <a:off x="5921450" y="967642"/>
            <a:ext cx="28500" cy="2919600"/>
          </a:xfrm>
          <a:prstGeom prst="straightConnector1">
            <a:avLst/>
          </a:prstGeom>
          <a:noFill/>
          <a:ln cap="flat" cmpd="sng" w="2857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cxnSp>
      <p:sp>
        <p:nvSpPr>
          <p:cNvPr id="253" name="Google Shape;253;p30"/>
          <p:cNvSpPr txBox="1"/>
          <p:nvPr>
            <p:ph idx="1" type="body"/>
          </p:nvPr>
        </p:nvSpPr>
        <p:spPr>
          <a:xfrm>
            <a:off x="3527423" y="1017725"/>
            <a:ext cx="2167800" cy="3936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n" sz="1600">
                <a:solidFill>
                  <a:schemeClr val="dk1"/>
                </a:solidFill>
                <a:latin typeface="Arial"/>
                <a:ea typeface="Arial"/>
                <a:cs typeface="Arial"/>
                <a:sym typeface="Arial"/>
              </a:rPr>
              <a:t>Object Matching</a:t>
            </a:r>
            <a:endParaRPr b="1" sz="1600">
              <a:solidFill>
                <a:schemeClr val="dk1"/>
              </a:solidFill>
              <a:latin typeface="Arial"/>
              <a:ea typeface="Arial"/>
              <a:cs typeface="Arial"/>
              <a:sym typeface="Arial"/>
            </a:endParaRPr>
          </a:p>
        </p:txBody>
      </p:sp>
      <p:sp>
        <p:nvSpPr>
          <p:cNvPr id="254" name="Google Shape;254;p30"/>
          <p:cNvSpPr txBox="1"/>
          <p:nvPr>
            <p:ph idx="1" type="body"/>
          </p:nvPr>
        </p:nvSpPr>
        <p:spPr>
          <a:xfrm>
            <a:off x="3383525" y="1411325"/>
            <a:ext cx="2423700" cy="248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al"/>
                <a:ea typeface="Arial"/>
                <a:cs typeface="Arial"/>
                <a:sym typeface="Arial"/>
              </a:rPr>
              <a:t>Match predicted objects to reference objects by target type.</a:t>
            </a:r>
            <a:endParaRPr sz="1200">
              <a:solidFill>
                <a:schemeClr val="dk1"/>
              </a:solidFill>
              <a:latin typeface="Arial"/>
              <a:ea typeface="Arial"/>
              <a:cs typeface="Arial"/>
              <a:sym typeface="Arial"/>
            </a:endParaRPr>
          </a:p>
          <a:p>
            <a:pPr indent="0" lvl="0" marL="0" rtl="0" algn="l">
              <a:spcBef>
                <a:spcPts val="0"/>
              </a:spcBef>
              <a:spcAft>
                <a:spcPts val="0"/>
              </a:spcAft>
              <a:buNone/>
            </a:pPr>
            <a:r>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solidFill>
                  <a:schemeClr val="dk1"/>
                </a:solidFill>
                <a:latin typeface="Arial"/>
                <a:ea typeface="Arial"/>
                <a:cs typeface="Arial"/>
                <a:sym typeface="Arial"/>
              </a:rPr>
              <a:t>Compare key attributes:</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Damage level</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Confidence</a:t>
            </a:r>
            <a:endParaRPr sz="1200">
              <a:solidFill>
                <a:schemeClr val="dk1"/>
              </a:solidFill>
              <a:latin typeface="Arial"/>
              <a:ea typeface="Arial"/>
              <a:cs typeface="Arial"/>
              <a:sym typeface="Arial"/>
            </a:endParaRPr>
          </a:p>
          <a:p>
            <a:pPr indent="0" lvl="0" marL="0" rtl="0" algn="l">
              <a:spcBef>
                <a:spcPts val="0"/>
              </a:spcBef>
              <a:spcAft>
                <a:spcPts val="0"/>
              </a:spcAft>
              <a:buNone/>
            </a:pPr>
            <a:r>
              <a:t/>
            </a:r>
            <a:endParaRPr sz="1200">
              <a:solidFill>
                <a:schemeClr val="dk1"/>
              </a:solidFill>
              <a:latin typeface="Arial"/>
              <a:ea typeface="Arial"/>
              <a:cs typeface="Arial"/>
              <a:sym typeface="Arial"/>
            </a:endParaRPr>
          </a:p>
          <a:p>
            <a:pPr indent="0" lvl="0" marL="0" rtl="0" algn="l">
              <a:spcBef>
                <a:spcPts val="0"/>
              </a:spcBef>
              <a:spcAft>
                <a:spcPts val="0"/>
              </a:spcAft>
              <a:buNone/>
            </a:pPr>
            <a:r>
              <a:rPr lang="en" sz="1200">
                <a:solidFill>
                  <a:schemeClr val="dk1"/>
                </a:solidFill>
                <a:latin typeface="Arial"/>
                <a:ea typeface="Arial"/>
                <a:cs typeface="Arial"/>
                <a:sym typeface="Arial"/>
              </a:rPr>
              <a:t>Penalize:</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Missed objects</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Extra objects</a:t>
            </a:r>
            <a:endParaRPr sz="1200">
              <a:solidFill>
                <a:schemeClr val="dk1"/>
              </a:solidFill>
              <a:latin typeface="Arial"/>
              <a:ea typeface="Arial"/>
              <a:cs typeface="Arial"/>
              <a:sym typeface="Arial"/>
            </a:endParaRPr>
          </a:p>
        </p:txBody>
      </p:sp>
      <p:sp>
        <p:nvSpPr>
          <p:cNvPr id="255" name="Google Shape;255;p30"/>
          <p:cNvSpPr txBox="1"/>
          <p:nvPr>
            <p:ph idx="1" type="body"/>
          </p:nvPr>
        </p:nvSpPr>
        <p:spPr>
          <a:xfrm>
            <a:off x="6427498" y="1017725"/>
            <a:ext cx="2167800" cy="3936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n" sz="1600">
                <a:solidFill>
                  <a:schemeClr val="dk1"/>
                </a:solidFill>
                <a:latin typeface="Arial"/>
                <a:ea typeface="Arial"/>
                <a:cs typeface="Arial"/>
                <a:sym typeface="Arial"/>
              </a:rPr>
              <a:t>Logic Evaluation</a:t>
            </a:r>
            <a:endParaRPr b="1" sz="1600">
              <a:solidFill>
                <a:schemeClr val="dk1"/>
              </a:solidFill>
              <a:latin typeface="Arial"/>
              <a:ea typeface="Arial"/>
              <a:cs typeface="Arial"/>
              <a:sym typeface="Arial"/>
            </a:endParaRPr>
          </a:p>
        </p:txBody>
      </p:sp>
      <p:sp>
        <p:nvSpPr>
          <p:cNvPr id="256" name="Google Shape;256;p30"/>
          <p:cNvSpPr txBox="1"/>
          <p:nvPr>
            <p:ph idx="1" type="body"/>
          </p:nvPr>
        </p:nvSpPr>
        <p:spPr>
          <a:xfrm>
            <a:off x="6370650" y="3121275"/>
            <a:ext cx="2281500" cy="6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Produce logic quality scores.</a:t>
            </a:r>
            <a:endParaRPr sz="1200">
              <a:solidFill>
                <a:schemeClr val="dk1"/>
              </a:solidFill>
              <a:latin typeface="Arial"/>
              <a:ea typeface="Arial"/>
              <a:cs typeface="Arial"/>
              <a:sym typeface="Arial"/>
            </a:endParaRPr>
          </a:p>
        </p:txBody>
      </p:sp>
      <p:sp>
        <p:nvSpPr>
          <p:cNvPr id="257" name="Google Shape;257;p30"/>
          <p:cNvSpPr txBox="1"/>
          <p:nvPr>
            <p:ph idx="1" type="body"/>
          </p:nvPr>
        </p:nvSpPr>
        <p:spPr>
          <a:xfrm>
            <a:off x="849750" y="3944225"/>
            <a:ext cx="7444500" cy="72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Arial"/>
                <a:ea typeface="Arial"/>
                <a:cs typeface="Arial"/>
                <a:sym typeface="Arial"/>
              </a:rPr>
              <a:t>Final Score = Structured Accuracy - Detection Penalties + Logic Quality</a:t>
            </a:r>
            <a:endParaRPr sz="1600">
              <a:solidFill>
                <a:schemeClr val="accent5"/>
              </a:solidFill>
              <a:latin typeface="Arial"/>
              <a:ea typeface="Arial"/>
              <a:cs typeface="Arial"/>
              <a:sym typeface="Arial"/>
            </a:endParaRPr>
          </a:p>
        </p:txBody>
      </p:sp>
      <p:pic>
        <p:nvPicPr>
          <p:cNvPr id="258" name="Google Shape;258;p30" title="Screenshot 2026-02-19 154907.png"/>
          <p:cNvPicPr preferRelativeResize="0"/>
          <p:nvPr/>
        </p:nvPicPr>
        <p:blipFill>
          <a:blip r:embed="rId4">
            <a:alphaModFix/>
          </a:blip>
          <a:stretch>
            <a:fillRect/>
          </a:stretch>
        </p:blipFill>
        <p:spPr>
          <a:xfrm>
            <a:off x="6064174" y="1553250"/>
            <a:ext cx="2890814" cy="1568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1"/>
          <p:cNvSpPr txBox="1"/>
          <p:nvPr>
            <p:ph idx="12" type="sldNum"/>
          </p:nvPr>
        </p:nvSpPr>
        <p:spPr>
          <a:xfrm>
            <a:off x="8595301" y="4474754"/>
            <a:ext cx="548700" cy="33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64" name="Google Shape;264;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Plan</a:t>
            </a:r>
            <a:endParaRPr/>
          </a:p>
        </p:txBody>
      </p:sp>
      <p:grpSp>
        <p:nvGrpSpPr>
          <p:cNvPr id="265" name="Google Shape;265;p31"/>
          <p:cNvGrpSpPr/>
          <p:nvPr/>
        </p:nvGrpSpPr>
        <p:grpSpPr>
          <a:xfrm>
            <a:off x="385450" y="1272574"/>
            <a:ext cx="2016761" cy="3098476"/>
            <a:chOff x="385450" y="1574025"/>
            <a:chExt cx="2016761" cy="3098476"/>
          </a:xfrm>
        </p:grpSpPr>
        <p:grpSp>
          <p:nvGrpSpPr>
            <p:cNvPr id="266" name="Google Shape;266;p31"/>
            <p:cNvGrpSpPr/>
            <p:nvPr/>
          </p:nvGrpSpPr>
          <p:grpSpPr>
            <a:xfrm>
              <a:off x="796138" y="1695421"/>
              <a:ext cx="1606073" cy="908429"/>
              <a:chOff x="796138" y="1695421"/>
              <a:chExt cx="1606073" cy="908429"/>
            </a:xfrm>
          </p:grpSpPr>
          <p:cxnSp>
            <p:nvCxnSpPr>
              <p:cNvPr id="267" name="Google Shape;267;p31"/>
              <p:cNvCxnSpPr/>
              <p:nvPr/>
            </p:nvCxnSpPr>
            <p:spPr>
              <a:xfrm>
                <a:off x="1664415" y="1695421"/>
                <a:ext cx="718500" cy="741900"/>
              </a:xfrm>
              <a:prstGeom prst="straightConnector1">
                <a:avLst/>
              </a:prstGeom>
              <a:noFill/>
              <a:ln cap="flat" cmpd="sng" w="9525">
                <a:solidFill>
                  <a:srgbClr val="0B7743"/>
                </a:solidFill>
                <a:prstDash val="solid"/>
                <a:round/>
                <a:headEnd len="sm" w="sm" type="none"/>
                <a:tailEnd len="sm" w="sm" type="none"/>
              </a:ln>
            </p:spPr>
          </p:cxnSp>
          <p:sp>
            <p:nvSpPr>
              <p:cNvPr id="268" name="Google Shape;268;p31"/>
              <p:cNvSpPr/>
              <p:nvPr/>
            </p:nvSpPr>
            <p:spPr>
              <a:xfrm flipH="1">
                <a:off x="796138" y="2306625"/>
                <a:ext cx="1605900" cy="143400"/>
              </a:xfrm>
              <a:prstGeom prst="parallelogram">
                <a:avLst>
                  <a:gd fmla="val 96952" name="adj"/>
                </a:avLst>
              </a:prstGeom>
              <a:solidFill>
                <a:srgbClr val="0B7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69" name="Google Shape;269;p31"/>
              <p:cNvSpPr/>
              <p:nvPr/>
            </p:nvSpPr>
            <p:spPr>
              <a:xfrm>
                <a:off x="796311" y="2460450"/>
                <a:ext cx="1605900" cy="143400"/>
              </a:xfrm>
              <a:prstGeom prst="parallelogram">
                <a:avLst>
                  <a:gd fmla="val 96952" name="adj"/>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31"/>
            <p:cNvSpPr txBox="1"/>
            <p:nvPr/>
          </p:nvSpPr>
          <p:spPr>
            <a:xfrm>
              <a:off x="915823" y="2695025"/>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0B713F"/>
                  </a:solidFill>
                  <a:latin typeface="Roboto"/>
                  <a:ea typeface="Roboto"/>
                  <a:cs typeface="Roboto"/>
                  <a:sym typeface="Roboto"/>
                </a:rPr>
                <a:t>Requirements, Design, Planning</a:t>
              </a:r>
              <a:endParaRPr b="1" sz="1100">
                <a:solidFill>
                  <a:srgbClr val="0B713F"/>
                </a:solidFill>
                <a:latin typeface="Roboto"/>
                <a:ea typeface="Roboto"/>
                <a:cs typeface="Roboto"/>
                <a:sym typeface="Roboto"/>
              </a:endParaRPr>
            </a:p>
          </p:txBody>
        </p:sp>
        <p:sp>
          <p:nvSpPr>
            <p:cNvPr id="271" name="Google Shape;271;p31"/>
            <p:cNvSpPr txBox="1"/>
            <p:nvPr/>
          </p:nvSpPr>
          <p:spPr>
            <a:xfrm>
              <a:off x="918275" y="3256501"/>
              <a:ext cx="1483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0B713F"/>
                  </a:solidFill>
                  <a:latin typeface="Roboto"/>
                  <a:ea typeface="Roboto"/>
                  <a:cs typeface="Roboto"/>
                  <a:sym typeface="Roboto"/>
                </a:rPr>
                <a:t>- </a:t>
              </a:r>
              <a:r>
                <a:rPr b="1" lang="en" sz="1000">
                  <a:solidFill>
                    <a:srgbClr val="0B713F"/>
                  </a:solidFill>
                  <a:latin typeface="Roboto"/>
                  <a:ea typeface="Roboto"/>
                  <a:cs typeface="Roboto"/>
                  <a:sym typeface="Roboto"/>
                </a:rPr>
                <a:t>Problem statement</a:t>
              </a:r>
              <a:endParaRPr b="1" sz="1000">
                <a:solidFill>
                  <a:srgbClr val="0B713F"/>
                </a:solidFill>
                <a:latin typeface="Roboto"/>
                <a:ea typeface="Roboto"/>
                <a:cs typeface="Roboto"/>
                <a:sym typeface="Roboto"/>
              </a:endParaRPr>
            </a:p>
            <a:p>
              <a:pPr indent="0" lvl="0" marL="0" rtl="0" algn="l">
                <a:spcBef>
                  <a:spcPts val="1600"/>
                </a:spcBef>
                <a:spcAft>
                  <a:spcPts val="0"/>
                </a:spcAft>
                <a:buNone/>
              </a:pPr>
              <a:r>
                <a:rPr b="1" lang="en" sz="1000">
                  <a:solidFill>
                    <a:srgbClr val="0B713F"/>
                  </a:solidFill>
                  <a:latin typeface="Roboto"/>
                  <a:ea typeface="Roboto"/>
                  <a:cs typeface="Roboto"/>
                  <a:sym typeface="Roboto"/>
                </a:rPr>
                <a:t>- Requirements</a:t>
              </a:r>
              <a:endParaRPr b="1" sz="1000">
                <a:solidFill>
                  <a:srgbClr val="0B713F"/>
                </a:solidFill>
                <a:latin typeface="Roboto"/>
                <a:ea typeface="Roboto"/>
                <a:cs typeface="Roboto"/>
                <a:sym typeface="Roboto"/>
              </a:endParaRPr>
            </a:p>
            <a:p>
              <a:pPr indent="0" lvl="0" marL="0" rtl="0" algn="l">
                <a:spcBef>
                  <a:spcPts val="1600"/>
                </a:spcBef>
                <a:spcAft>
                  <a:spcPts val="0"/>
                </a:spcAft>
                <a:buNone/>
              </a:pPr>
              <a:r>
                <a:rPr b="1" lang="en" sz="1000">
                  <a:solidFill>
                    <a:srgbClr val="0B713F"/>
                  </a:solidFill>
                  <a:latin typeface="Roboto"/>
                  <a:ea typeface="Roboto"/>
                  <a:cs typeface="Roboto"/>
                  <a:sym typeface="Roboto"/>
                </a:rPr>
                <a:t>- Design Plan</a:t>
              </a:r>
              <a:endParaRPr b="1" sz="1000">
                <a:solidFill>
                  <a:srgbClr val="0B713F"/>
                </a:solidFill>
                <a:latin typeface="Roboto"/>
                <a:ea typeface="Roboto"/>
                <a:cs typeface="Roboto"/>
                <a:sym typeface="Roboto"/>
              </a:endParaRPr>
            </a:p>
            <a:p>
              <a:pPr indent="0" lvl="0" marL="0" rtl="0" algn="l">
                <a:spcBef>
                  <a:spcPts val="1600"/>
                </a:spcBef>
                <a:spcAft>
                  <a:spcPts val="1600"/>
                </a:spcAft>
                <a:buNone/>
              </a:pPr>
              <a:r>
                <a:rPr b="1" lang="en" sz="1000">
                  <a:solidFill>
                    <a:srgbClr val="0B713F"/>
                  </a:solidFill>
                  <a:latin typeface="Roboto"/>
                  <a:ea typeface="Roboto"/>
                  <a:cs typeface="Roboto"/>
                  <a:sym typeface="Roboto"/>
                </a:rPr>
                <a:t>- Phase 1 Documents</a:t>
              </a:r>
              <a:endParaRPr b="1" sz="1000">
                <a:solidFill>
                  <a:srgbClr val="0B713F"/>
                </a:solidFill>
                <a:latin typeface="Roboto"/>
                <a:ea typeface="Roboto"/>
                <a:cs typeface="Roboto"/>
                <a:sym typeface="Roboto"/>
              </a:endParaRPr>
            </a:p>
          </p:txBody>
        </p:sp>
        <p:sp>
          <p:nvSpPr>
            <p:cNvPr id="272" name="Google Shape;272;p31"/>
            <p:cNvSpPr txBox="1"/>
            <p:nvPr/>
          </p:nvSpPr>
          <p:spPr>
            <a:xfrm>
              <a:off x="385450"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0B713F"/>
                  </a:solidFill>
                  <a:latin typeface="Roboto"/>
                  <a:ea typeface="Roboto"/>
                  <a:cs typeface="Roboto"/>
                  <a:sym typeface="Roboto"/>
                </a:rPr>
                <a:t>Milestone</a:t>
              </a:r>
              <a:r>
                <a:rPr b="1" lang="en" sz="1200">
                  <a:solidFill>
                    <a:srgbClr val="0B713F"/>
                  </a:solidFill>
                  <a:latin typeface="Roboto"/>
                  <a:ea typeface="Roboto"/>
                  <a:cs typeface="Roboto"/>
                  <a:sym typeface="Roboto"/>
                </a:rPr>
                <a:t> 1 08FEB26</a:t>
              </a:r>
              <a:endParaRPr b="1" sz="1200">
                <a:solidFill>
                  <a:srgbClr val="0B713F"/>
                </a:solidFill>
                <a:latin typeface="Roboto"/>
                <a:ea typeface="Roboto"/>
                <a:cs typeface="Roboto"/>
                <a:sym typeface="Roboto"/>
              </a:endParaRPr>
            </a:p>
          </p:txBody>
        </p:sp>
      </p:grpSp>
      <p:grpSp>
        <p:nvGrpSpPr>
          <p:cNvPr id="273" name="Google Shape;273;p31"/>
          <p:cNvGrpSpPr/>
          <p:nvPr/>
        </p:nvGrpSpPr>
        <p:grpSpPr>
          <a:xfrm>
            <a:off x="1874574" y="1272574"/>
            <a:ext cx="1995912" cy="1742279"/>
            <a:chOff x="1874574" y="1574025"/>
            <a:chExt cx="1995912" cy="1742279"/>
          </a:xfrm>
        </p:grpSpPr>
        <p:cxnSp>
          <p:nvCxnSpPr>
            <p:cNvPr id="274" name="Google Shape;274;p31"/>
            <p:cNvCxnSpPr/>
            <p:nvPr/>
          </p:nvCxnSpPr>
          <p:spPr>
            <a:xfrm>
              <a:off x="3151986" y="1695421"/>
              <a:ext cx="718500" cy="741900"/>
            </a:xfrm>
            <a:prstGeom prst="straightConnector1">
              <a:avLst/>
            </a:prstGeom>
            <a:noFill/>
            <a:ln cap="flat" cmpd="sng" w="9525">
              <a:solidFill>
                <a:srgbClr val="0B7743"/>
              </a:solidFill>
              <a:prstDash val="solid"/>
              <a:round/>
              <a:headEnd len="sm" w="sm" type="none"/>
              <a:tailEnd len="sm" w="sm" type="none"/>
            </a:ln>
          </p:spPr>
        </p:cxnSp>
        <p:sp>
          <p:nvSpPr>
            <p:cNvPr id="275" name="Google Shape;275;p31"/>
            <p:cNvSpPr/>
            <p:nvPr/>
          </p:nvSpPr>
          <p:spPr>
            <a:xfrm flipH="1">
              <a:off x="2283525" y="2306625"/>
              <a:ext cx="791400" cy="143400"/>
            </a:xfrm>
            <a:prstGeom prst="parallelogram">
              <a:avLst>
                <a:gd fmla="val 96952" name="adj"/>
              </a:avLst>
            </a:prstGeom>
            <a:solidFill>
              <a:srgbClr val="0B7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76" name="Google Shape;276;p31"/>
            <p:cNvSpPr/>
            <p:nvPr/>
          </p:nvSpPr>
          <p:spPr>
            <a:xfrm>
              <a:off x="2283879" y="2460450"/>
              <a:ext cx="791400" cy="143400"/>
            </a:xfrm>
            <a:prstGeom prst="parallelogram">
              <a:avLst>
                <a:gd fmla="val 96952" name="adj"/>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1"/>
            <p:cNvSpPr txBox="1"/>
            <p:nvPr/>
          </p:nvSpPr>
          <p:spPr>
            <a:xfrm>
              <a:off x="2423431" y="2869904"/>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0B713F"/>
                  </a:solidFill>
                  <a:latin typeface="Roboto"/>
                  <a:ea typeface="Roboto"/>
                  <a:cs typeface="Roboto"/>
                  <a:sym typeface="Roboto"/>
                </a:rPr>
                <a:t>Dataset Analysis, Labeling, Model Design</a:t>
              </a:r>
              <a:endParaRPr b="1" sz="1100">
                <a:solidFill>
                  <a:srgbClr val="0B713F"/>
                </a:solidFill>
                <a:latin typeface="Roboto"/>
                <a:ea typeface="Roboto"/>
                <a:cs typeface="Roboto"/>
                <a:sym typeface="Roboto"/>
              </a:endParaRPr>
            </a:p>
          </p:txBody>
        </p:sp>
        <p:sp>
          <p:nvSpPr>
            <p:cNvPr id="278" name="Google Shape;278;p31"/>
            <p:cNvSpPr txBox="1"/>
            <p:nvPr/>
          </p:nvSpPr>
          <p:spPr>
            <a:xfrm>
              <a:off x="1874574"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0B713F"/>
                  </a:solidFill>
                  <a:latin typeface="Roboto"/>
                  <a:ea typeface="Roboto"/>
                  <a:cs typeface="Roboto"/>
                  <a:sym typeface="Roboto"/>
                </a:rPr>
                <a:t>Milestone 2 15MAR26</a:t>
              </a:r>
              <a:endParaRPr b="1" sz="1200">
                <a:solidFill>
                  <a:srgbClr val="0B713F"/>
                </a:solidFill>
                <a:latin typeface="Roboto"/>
                <a:ea typeface="Roboto"/>
                <a:cs typeface="Roboto"/>
                <a:sym typeface="Roboto"/>
              </a:endParaRPr>
            </a:p>
          </p:txBody>
        </p:sp>
      </p:grpSp>
      <p:grpSp>
        <p:nvGrpSpPr>
          <p:cNvPr id="279" name="Google Shape;279;p31"/>
          <p:cNvGrpSpPr/>
          <p:nvPr/>
        </p:nvGrpSpPr>
        <p:grpSpPr>
          <a:xfrm>
            <a:off x="3359651" y="1272574"/>
            <a:ext cx="2015281" cy="1701975"/>
            <a:chOff x="3359651" y="1574025"/>
            <a:chExt cx="2015281" cy="1701975"/>
          </a:xfrm>
        </p:grpSpPr>
        <p:cxnSp>
          <p:nvCxnSpPr>
            <p:cNvPr id="280" name="Google Shape;280;p31"/>
            <p:cNvCxnSpPr/>
            <p:nvPr/>
          </p:nvCxnSpPr>
          <p:spPr>
            <a:xfrm>
              <a:off x="463713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81" name="Google Shape;281;p31"/>
            <p:cNvSpPr/>
            <p:nvPr/>
          </p:nvSpPr>
          <p:spPr>
            <a:xfrm flipH="1">
              <a:off x="3768859" y="2306625"/>
              <a:ext cx="16059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82" name="Google Shape;282;p31"/>
            <p:cNvSpPr/>
            <p:nvPr/>
          </p:nvSpPr>
          <p:spPr>
            <a:xfrm>
              <a:off x="3769032" y="2460450"/>
              <a:ext cx="16059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1"/>
            <p:cNvSpPr txBox="1"/>
            <p:nvPr/>
          </p:nvSpPr>
          <p:spPr>
            <a:xfrm>
              <a:off x="3901453" y="2829600"/>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858585"/>
                  </a:solidFill>
                  <a:latin typeface="Roboto"/>
                  <a:ea typeface="Roboto"/>
                  <a:cs typeface="Roboto"/>
                  <a:sym typeface="Roboto"/>
                </a:rPr>
                <a:t>Pipeline Validations, Containerization</a:t>
              </a:r>
              <a:endParaRPr b="1" sz="1100">
                <a:solidFill>
                  <a:srgbClr val="858585"/>
                </a:solidFill>
                <a:latin typeface="Roboto"/>
                <a:ea typeface="Roboto"/>
                <a:cs typeface="Roboto"/>
                <a:sym typeface="Roboto"/>
              </a:endParaRPr>
            </a:p>
          </p:txBody>
        </p:sp>
        <p:sp>
          <p:nvSpPr>
            <p:cNvPr id="284" name="Google Shape;284;p31"/>
            <p:cNvSpPr txBox="1"/>
            <p:nvPr/>
          </p:nvSpPr>
          <p:spPr>
            <a:xfrm>
              <a:off x="3359651"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858585"/>
                  </a:solidFill>
                  <a:latin typeface="Roboto"/>
                  <a:ea typeface="Roboto"/>
                  <a:cs typeface="Roboto"/>
                  <a:sym typeface="Roboto"/>
                </a:rPr>
                <a:t>Milestone 3 12APR26</a:t>
              </a:r>
              <a:endParaRPr b="1" sz="1200">
                <a:solidFill>
                  <a:srgbClr val="858585"/>
                </a:solidFill>
                <a:latin typeface="Roboto"/>
                <a:ea typeface="Roboto"/>
                <a:cs typeface="Roboto"/>
                <a:sym typeface="Roboto"/>
              </a:endParaRPr>
            </a:p>
          </p:txBody>
        </p:sp>
      </p:grpSp>
      <p:grpSp>
        <p:nvGrpSpPr>
          <p:cNvPr id="285" name="Google Shape;285;p31"/>
          <p:cNvGrpSpPr/>
          <p:nvPr/>
        </p:nvGrpSpPr>
        <p:grpSpPr>
          <a:xfrm>
            <a:off x="4847424" y="1272574"/>
            <a:ext cx="2015289" cy="1567400"/>
            <a:chOff x="4847424" y="1574025"/>
            <a:chExt cx="2015289" cy="1567400"/>
          </a:xfrm>
        </p:grpSpPr>
        <p:cxnSp>
          <p:nvCxnSpPr>
            <p:cNvPr id="286" name="Google Shape;286;p31"/>
            <p:cNvCxnSpPr/>
            <p:nvPr/>
          </p:nvCxnSpPr>
          <p:spPr>
            <a:xfrm>
              <a:off x="6124917"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87" name="Google Shape;287;p31"/>
            <p:cNvSpPr/>
            <p:nvPr/>
          </p:nvSpPr>
          <p:spPr>
            <a:xfrm flipH="1">
              <a:off x="5256641" y="2306625"/>
              <a:ext cx="16059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88" name="Google Shape;288;p31"/>
            <p:cNvSpPr/>
            <p:nvPr/>
          </p:nvSpPr>
          <p:spPr>
            <a:xfrm>
              <a:off x="5256813" y="2460450"/>
              <a:ext cx="16059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1"/>
            <p:cNvSpPr txBox="1"/>
            <p:nvPr/>
          </p:nvSpPr>
          <p:spPr>
            <a:xfrm>
              <a:off x="5377778" y="2695025"/>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858585"/>
                  </a:solidFill>
                  <a:latin typeface="Roboto"/>
                  <a:ea typeface="Roboto"/>
                  <a:cs typeface="Roboto"/>
                  <a:sym typeface="Roboto"/>
                </a:rPr>
                <a:t>Model Evaluation, Robotic Testing</a:t>
              </a:r>
              <a:endParaRPr b="1" sz="1100">
                <a:solidFill>
                  <a:srgbClr val="858585"/>
                </a:solidFill>
                <a:latin typeface="Roboto"/>
                <a:ea typeface="Roboto"/>
                <a:cs typeface="Roboto"/>
                <a:sym typeface="Roboto"/>
              </a:endParaRPr>
            </a:p>
          </p:txBody>
        </p:sp>
        <p:sp>
          <p:nvSpPr>
            <p:cNvPr id="290" name="Google Shape;290;p31"/>
            <p:cNvSpPr txBox="1"/>
            <p:nvPr/>
          </p:nvSpPr>
          <p:spPr>
            <a:xfrm>
              <a:off x="4847424"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858585"/>
                  </a:solidFill>
                  <a:latin typeface="Roboto"/>
                  <a:ea typeface="Roboto"/>
                  <a:cs typeface="Roboto"/>
                  <a:sym typeface="Roboto"/>
                </a:rPr>
                <a:t>Milestone 4 05MAY26</a:t>
              </a:r>
              <a:endParaRPr b="1" sz="1200">
                <a:solidFill>
                  <a:srgbClr val="858585"/>
                </a:solidFill>
                <a:latin typeface="Roboto"/>
                <a:ea typeface="Roboto"/>
                <a:cs typeface="Roboto"/>
                <a:sym typeface="Roboto"/>
              </a:endParaRPr>
            </a:p>
          </p:txBody>
        </p:sp>
      </p:grpSp>
      <p:grpSp>
        <p:nvGrpSpPr>
          <p:cNvPr id="291" name="Google Shape;291;p31"/>
          <p:cNvGrpSpPr/>
          <p:nvPr/>
        </p:nvGrpSpPr>
        <p:grpSpPr>
          <a:xfrm>
            <a:off x="6425526" y="1272574"/>
            <a:ext cx="1922337" cy="2380926"/>
            <a:chOff x="6425526" y="1574025"/>
            <a:chExt cx="1922337" cy="2380926"/>
          </a:xfrm>
        </p:grpSpPr>
        <p:cxnSp>
          <p:nvCxnSpPr>
            <p:cNvPr id="292" name="Google Shape;292;p31"/>
            <p:cNvCxnSpPr/>
            <p:nvPr/>
          </p:nvCxnSpPr>
          <p:spPr>
            <a:xfrm>
              <a:off x="7610066"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93" name="Google Shape;293;p31"/>
            <p:cNvSpPr/>
            <p:nvPr/>
          </p:nvSpPr>
          <p:spPr>
            <a:xfrm flipH="1">
              <a:off x="6741789" y="2306625"/>
              <a:ext cx="16059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94" name="Google Shape;294;p31"/>
            <p:cNvSpPr/>
            <p:nvPr/>
          </p:nvSpPr>
          <p:spPr>
            <a:xfrm>
              <a:off x="6741962" y="2460450"/>
              <a:ext cx="16059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1"/>
            <p:cNvSpPr txBox="1"/>
            <p:nvPr/>
          </p:nvSpPr>
          <p:spPr>
            <a:xfrm>
              <a:off x="6865689" y="2695025"/>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858585"/>
                  </a:solidFill>
                  <a:latin typeface="Roboto"/>
                  <a:ea typeface="Roboto"/>
                  <a:cs typeface="Roboto"/>
                  <a:sym typeface="Roboto"/>
                </a:rPr>
                <a:t>Project Presentation</a:t>
              </a:r>
              <a:endParaRPr b="1" sz="1100">
                <a:solidFill>
                  <a:srgbClr val="858585"/>
                </a:solidFill>
                <a:latin typeface="Roboto"/>
                <a:ea typeface="Roboto"/>
                <a:cs typeface="Roboto"/>
                <a:sym typeface="Roboto"/>
              </a:endParaRPr>
            </a:p>
          </p:txBody>
        </p:sp>
        <p:sp>
          <p:nvSpPr>
            <p:cNvPr id="296" name="Google Shape;296;p31"/>
            <p:cNvSpPr txBox="1"/>
            <p:nvPr/>
          </p:nvSpPr>
          <p:spPr>
            <a:xfrm>
              <a:off x="6868151" y="3234051"/>
              <a:ext cx="1471200" cy="72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rgbClr val="858585"/>
                  </a:solidFill>
                  <a:latin typeface="Roboto"/>
                  <a:ea typeface="Roboto"/>
                  <a:cs typeface="Roboto"/>
                  <a:sym typeface="Roboto"/>
                </a:rPr>
                <a:t>- </a:t>
              </a:r>
              <a:r>
                <a:rPr b="1" lang="en" sz="1000">
                  <a:solidFill>
                    <a:srgbClr val="858585"/>
                  </a:solidFill>
                  <a:latin typeface="Roboto"/>
                  <a:ea typeface="Roboto"/>
                  <a:cs typeface="Roboto"/>
                  <a:sym typeface="Roboto"/>
                </a:rPr>
                <a:t>Final Presentation</a:t>
              </a:r>
              <a:endParaRPr b="1" sz="1000">
                <a:solidFill>
                  <a:srgbClr val="858585"/>
                </a:solidFill>
                <a:latin typeface="Roboto"/>
                <a:ea typeface="Roboto"/>
                <a:cs typeface="Roboto"/>
                <a:sym typeface="Roboto"/>
              </a:endParaRPr>
            </a:p>
            <a:p>
              <a:pPr indent="0" lvl="0" marL="0" rtl="0" algn="l">
                <a:lnSpc>
                  <a:spcPct val="115000"/>
                </a:lnSpc>
                <a:spcBef>
                  <a:spcPts val="1600"/>
                </a:spcBef>
                <a:spcAft>
                  <a:spcPts val="1600"/>
                </a:spcAft>
                <a:buNone/>
              </a:pPr>
              <a:r>
                <a:rPr b="1" lang="en" sz="1000">
                  <a:solidFill>
                    <a:srgbClr val="858585"/>
                  </a:solidFill>
                  <a:latin typeface="Roboto"/>
                  <a:ea typeface="Roboto"/>
                  <a:cs typeface="Roboto"/>
                  <a:sym typeface="Roboto"/>
                </a:rPr>
                <a:t>- Artifact Submissions</a:t>
              </a:r>
              <a:endParaRPr b="1" sz="1000">
                <a:solidFill>
                  <a:srgbClr val="858585"/>
                </a:solidFill>
                <a:latin typeface="Roboto"/>
                <a:ea typeface="Roboto"/>
                <a:cs typeface="Roboto"/>
                <a:sym typeface="Roboto"/>
              </a:endParaRPr>
            </a:p>
          </p:txBody>
        </p:sp>
        <p:sp>
          <p:nvSpPr>
            <p:cNvPr id="297" name="Google Shape;297;p31"/>
            <p:cNvSpPr txBox="1"/>
            <p:nvPr/>
          </p:nvSpPr>
          <p:spPr>
            <a:xfrm>
              <a:off x="6425526" y="1574025"/>
              <a:ext cx="12342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200">
                  <a:solidFill>
                    <a:srgbClr val="858585"/>
                  </a:solidFill>
                  <a:latin typeface="Roboto"/>
                  <a:ea typeface="Roboto"/>
                  <a:cs typeface="Roboto"/>
                  <a:sym typeface="Roboto"/>
                </a:rPr>
                <a:t>Milestone 5 11MAY26</a:t>
              </a:r>
              <a:endParaRPr b="1" sz="1200">
                <a:solidFill>
                  <a:srgbClr val="858585"/>
                </a:solidFill>
                <a:latin typeface="Roboto"/>
                <a:ea typeface="Roboto"/>
                <a:cs typeface="Roboto"/>
                <a:sym typeface="Roboto"/>
              </a:endParaRPr>
            </a:p>
          </p:txBody>
        </p:sp>
      </p:grpSp>
      <p:sp>
        <p:nvSpPr>
          <p:cNvPr id="298" name="Google Shape;298;p31"/>
          <p:cNvSpPr/>
          <p:nvPr/>
        </p:nvSpPr>
        <p:spPr>
          <a:xfrm>
            <a:off x="2966229" y="2143200"/>
            <a:ext cx="919200" cy="158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1"/>
          <p:cNvSpPr/>
          <p:nvPr/>
        </p:nvSpPr>
        <p:spPr>
          <a:xfrm flipH="1">
            <a:off x="2966303" y="1992276"/>
            <a:ext cx="896700" cy="158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300" name="Google Shape;300;p31"/>
          <p:cNvSpPr txBox="1"/>
          <p:nvPr/>
        </p:nvSpPr>
        <p:spPr>
          <a:xfrm>
            <a:off x="2431317" y="2932625"/>
            <a:ext cx="14712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800">
                <a:solidFill>
                  <a:srgbClr val="0B713F"/>
                </a:solidFill>
                <a:latin typeface="Roboto"/>
                <a:ea typeface="Roboto"/>
                <a:cs typeface="Roboto"/>
                <a:sym typeface="Roboto"/>
              </a:rPr>
              <a:t>- </a:t>
            </a:r>
            <a:r>
              <a:rPr b="1" lang="en" sz="1000">
                <a:solidFill>
                  <a:srgbClr val="0B713F"/>
                </a:solidFill>
                <a:latin typeface="Roboto"/>
                <a:ea typeface="Roboto"/>
                <a:cs typeface="Roboto"/>
                <a:sym typeface="Roboto"/>
              </a:rPr>
              <a:t>Dataset Identification</a:t>
            </a:r>
            <a:endParaRPr b="1" sz="1000">
              <a:solidFill>
                <a:srgbClr val="0B713F"/>
              </a:solidFill>
              <a:latin typeface="Roboto"/>
              <a:ea typeface="Roboto"/>
              <a:cs typeface="Roboto"/>
              <a:sym typeface="Roboto"/>
            </a:endParaRPr>
          </a:p>
          <a:p>
            <a:pPr indent="0" lvl="0" marL="0" rtl="0" algn="l">
              <a:lnSpc>
                <a:spcPct val="100000"/>
              </a:lnSpc>
              <a:spcBef>
                <a:spcPts val="1600"/>
              </a:spcBef>
              <a:spcAft>
                <a:spcPts val="0"/>
              </a:spcAft>
              <a:buNone/>
            </a:pPr>
            <a:r>
              <a:rPr b="1" lang="en" sz="1000">
                <a:solidFill>
                  <a:srgbClr val="0B713F"/>
                </a:solidFill>
                <a:latin typeface="Roboto"/>
                <a:ea typeface="Roboto"/>
                <a:cs typeface="Roboto"/>
                <a:sym typeface="Roboto"/>
              </a:rPr>
              <a:t>- Data Labeling</a:t>
            </a:r>
            <a:endParaRPr b="1" sz="1000">
              <a:solidFill>
                <a:srgbClr val="0B713F"/>
              </a:solidFill>
              <a:latin typeface="Roboto"/>
              <a:ea typeface="Roboto"/>
              <a:cs typeface="Roboto"/>
              <a:sym typeface="Roboto"/>
            </a:endParaRPr>
          </a:p>
          <a:p>
            <a:pPr indent="0" lvl="0" marL="0" rtl="0" algn="l">
              <a:lnSpc>
                <a:spcPct val="100000"/>
              </a:lnSpc>
              <a:spcBef>
                <a:spcPts val="1600"/>
              </a:spcBef>
              <a:spcAft>
                <a:spcPts val="0"/>
              </a:spcAft>
              <a:buNone/>
            </a:pPr>
            <a:r>
              <a:rPr b="1" lang="en" sz="1000">
                <a:solidFill>
                  <a:srgbClr val="858585"/>
                </a:solidFill>
                <a:latin typeface="Roboto"/>
                <a:ea typeface="Roboto"/>
                <a:cs typeface="Roboto"/>
                <a:sym typeface="Roboto"/>
              </a:rPr>
              <a:t>- Pipeline/Model  Dev</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1600"/>
              </a:spcAft>
              <a:buNone/>
            </a:pPr>
            <a:r>
              <a:rPr b="1" lang="en" sz="1000">
                <a:solidFill>
                  <a:srgbClr val="858585"/>
                </a:solidFill>
                <a:latin typeface="Roboto"/>
                <a:ea typeface="Roboto"/>
                <a:cs typeface="Roboto"/>
                <a:sym typeface="Roboto"/>
              </a:rPr>
              <a:t>- Phase 2 Documents</a:t>
            </a:r>
            <a:endParaRPr b="1" sz="1000">
              <a:solidFill>
                <a:srgbClr val="858585"/>
              </a:solidFill>
              <a:latin typeface="Roboto"/>
              <a:ea typeface="Roboto"/>
              <a:cs typeface="Roboto"/>
              <a:sym typeface="Roboto"/>
            </a:endParaRPr>
          </a:p>
        </p:txBody>
      </p:sp>
      <p:sp>
        <p:nvSpPr>
          <p:cNvPr id="301" name="Google Shape;301;p31"/>
          <p:cNvSpPr txBox="1"/>
          <p:nvPr/>
        </p:nvSpPr>
        <p:spPr>
          <a:xfrm>
            <a:off x="3909902" y="2925125"/>
            <a:ext cx="15729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800">
                <a:solidFill>
                  <a:srgbClr val="858585"/>
                </a:solidFill>
                <a:latin typeface="Roboto"/>
                <a:ea typeface="Roboto"/>
                <a:cs typeface="Roboto"/>
                <a:sym typeface="Roboto"/>
              </a:rPr>
              <a:t>- </a:t>
            </a:r>
            <a:r>
              <a:rPr b="1" lang="en" sz="1000">
                <a:solidFill>
                  <a:srgbClr val="858585"/>
                </a:solidFill>
                <a:latin typeface="Roboto"/>
                <a:ea typeface="Roboto"/>
                <a:cs typeface="Roboto"/>
                <a:sym typeface="Roboto"/>
              </a:rPr>
              <a:t>Prompt Finalization</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0"/>
              </a:spcAft>
              <a:buNone/>
            </a:pPr>
            <a:r>
              <a:rPr b="1" lang="en" sz="1000">
                <a:solidFill>
                  <a:srgbClr val="858585"/>
                </a:solidFill>
                <a:latin typeface="Roboto"/>
                <a:ea typeface="Roboto"/>
                <a:cs typeface="Roboto"/>
                <a:sym typeface="Roboto"/>
              </a:rPr>
              <a:t>- Pipeline Validation</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0"/>
              </a:spcAft>
              <a:buNone/>
            </a:pPr>
            <a:r>
              <a:rPr b="1" lang="en" sz="1000">
                <a:solidFill>
                  <a:srgbClr val="858585"/>
                </a:solidFill>
                <a:latin typeface="Roboto"/>
                <a:ea typeface="Roboto"/>
                <a:cs typeface="Roboto"/>
                <a:sym typeface="Roboto"/>
              </a:rPr>
              <a:t>- Container Dev</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1600"/>
              </a:spcAft>
              <a:buNone/>
            </a:pPr>
            <a:r>
              <a:rPr b="1" lang="en" sz="1000">
                <a:solidFill>
                  <a:srgbClr val="858585"/>
                </a:solidFill>
                <a:latin typeface="Roboto"/>
                <a:ea typeface="Roboto"/>
                <a:cs typeface="Roboto"/>
                <a:sym typeface="Roboto"/>
              </a:rPr>
              <a:t>- Phase 3 Documents</a:t>
            </a:r>
            <a:endParaRPr b="1" sz="1000">
              <a:solidFill>
                <a:srgbClr val="858585"/>
              </a:solidFill>
              <a:latin typeface="Roboto"/>
              <a:ea typeface="Roboto"/>
              <a:cs typeface="Roboto"/>
              <a:sym typeface="Roboto"/>
            </a:endParaRPr>
          </a:p>
        </p:txBody>
      </p:sp>
      <p:sp>
        <p:nvSpPr>
          <p:cNvPr id="302" name="Google Shape;302;p31"/>
          <p:cNvSpPr txBox="1"/>
          <p:nvPr/>
        </p:nvSpPr>
        <p:spPr>
          <a:xfrm>
            <a:off x="5370611" y="2925125"/>
            <a:ext cx="14712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800">
                <a:solidFill>
                  <a:srgbClr val="858585"/>
                </a:solidFill>
                <a:latin typeface="Roboto"/>
                <a:ea typeface="Roboto"/>
                <a:cs typeface="Roboto"/>
                <a:sym typeface="Roboto"/>
              </a:rPr>
              <a:t>- </a:t>
            </a:r>
            <a:r>
              <a:rPr b="1" lang="en" sz="1000">
                <a:solidFill>
                  <a:srgbClr val="858585"/>
                </a:solidFill>
                <a:latin typeface="Roboto"/>
                <a:ea typeface="Roboto"/>
                <a:cs typeface="Roboto"/>
                <a:sym typeface="Roboto"/>
              </a:rPr>
              <a:t>Evaluation Execution</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0"/>
              </a:spcAft>
              <a:buNone/>
            </a:pPr>
            <a:r>
              <a:rPr b="1" lang="en" sz="1000">
                <a:solidFill>
                  <a:srgbClr val="858585"/>
                </a:solidFill>
                <a:latin typeface="Roboto"/>
                <a:ea typeface="Roboto"/>
                <a:cs typeface="Roboto"/>
                <a:sym typeface="Roboto"/>
              </a:rPr>
              <a:t>- Results Analysis</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0"/>
              </a:spcAft>
              <a:buNone/>
            </a:pPr>
            <a:r>
              <a:rPr b="1" lang="en" sz="1000">
                <a:solidFill>
                  <a:srgbClr val="858585"/>
                </a:solidFill>
                <a:latin typeface="Roboto"/>
                <a:ea typeface="Roboto"/>
                <a:cs typeface="Roboto"/>
                <a:sym typeface="Roboto"/>
              </a:rPr>
              <a:t>- Robotic Deployment</a:t>
            </a:r>
            <a:endParaRPr b="1" sz="1000">
              <a:solidFill>
                <a:srgbClr val="858585"/>
              </a:solidFill>
              <a:latin typeface="Roboto"/>
              <a:ea typeface="Roboto"/>
              <a:cs typeface="Roboto"/>
              <a:sym typeface="Roboto"/>
            </a:endParaRPr>
          </a:p>
          <a:p>
            <a:pPr indent="0" lvl="0" marL="0" rtl="0" algn="l">
              <a:lnSpc>
                <a:spcPct val="100000"/>
              </a:lnSpc>
              <a:spcBef>
                <a:spcPts val="1600"/>
              </a:spcBef>
              <a:spcAft>
                <a:spcPts val="1600"/>
              </a:spcAft>
              <a:buNone/>
            </a:pPr>
            <a:r>
              <a:rPr b="1" lang="en" sz="1000">
                <a:solidFill>
                  <a:srgbClr val="858585"/>
                </a:solidFill>
                <a:latin typeface="Roboto"/>
                <a:ea typeface="Roboto"/>
                <a:cs typeface="Roboto"/>
                <a:sym typeface="Roboto"/>
              </a:rPr>
              <a:t>- Phase 4 Documents</a:t>
            </a:r>
            <a:endParaRPr b="1" sz="1000">
              <a:solidFill>
                <a:srgbClr val="858585"/>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Challenges</a:t>
            </a:r>
            <a:endParaRPr/>
          </a:p>
        </p:txBody>
      </p:sp>
      <p:sp>
        <p:nvSpPr>
          <p:cNvPr id="308" name="Google Shape;308;p32"/>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09" name="Google Shape;309;p32"/>
          <p:cNvSpPr txBox="1"/>
          <p:nvPr>
            <p:ph idx="1" type="body"/>
          </p:nvPr>
        </p:nvSpPr>
        <p:spPr>
          <a:xfrm>
            <a:off x="660975" y="1073500"/>
            <a:ext cx="7934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Integration of Phase 2 Functional Damage Assessment (FDA)s</a:t>
            </a:r>
            <a:endParaRPr sz="1800"/>
          </a:p>
          <a:p>
            <a:pPr indent="-342900" lvl="1" marL="914400" rtl="0" algn="l">
              <a:spcBef>
                <a:spcPts val="0"/>
              </a:spcBef>
              <a:spcAft>
                <a:spcPts val="0"/>
              </a:spcAft>
              <a:buSzPts val="1800"/>
              <a:buChar char="-"/>
            </a:pPr>
            <a:r>
              <a:rPr lang="en" sz="1800"/>
              <a:t>Insufficient details</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16GB GPU VRAM Limits Model Size </a:t>
            </a:r>
            <a:endParaRPr sz="1800"/>
          </a:p>
          <a:p>
            <a:pPr indent="-342900" lvl="1" marL="914400" rtl="0" algn="l">
              <a:spcBef>
                <a:spcPts val="0"/>
              </a:spcBef>
              <a:spcAft>
                <a:spcPts val="0"/>
              </a:spcAft>
              <a:buSzPts val="1800"/>
              <a:buChar char="-"/>
            </a:pPr>
            <a:r>
              <a:rPr lang="en" sz="1800"/>
              <a:t>Approximate 8B limit</a:t>
            </a:r>
            <a:endParaRPr sz="1800"/>
          </a:p>
          <a:p>
            <a:pPr indent="-342900" lvl="1" marL="914400" rtl="0" algn="l">
              <a:spcBef>
                <a:spcPts val="0"/>
              </a:spcBef>
              <a:spcAft>
                <a:spcPts val="0"/>
              </a:spcAft>
              <a:buSzPts val="1800"/>
              <a:buChar char="-"/>
            </a:pPr>
            <a:r>
              <a:rPr lang="en" sz="1800"/>
              <a:t>Mitigation: Testing Quantization Reductions</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3"/>
          <p:cNvSpPr txBox="1"/>
          <p:nvPr>
            <p:ph type="title"/>
          </p:nvPr>
        </p:nvSpPr>
        <p:spPr>
          <a:xfrm>
            <a:off x="185875" y="19990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Questions?</a:t>
            </a:r>
            <a:endParaRPr/>
          </a:p>
        </p:txBody>
      </p:sp>
      <p:sp>
        <p:nvSpPr>
          <p:cNvPr id="315" name="Google Shape;315;p33"/>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9" name="Shape 319"/>
        <p:cNvGrpSpPr/>
        <p:nvPr/>
      </p:nvGrpSpPr>
      <p:grpSpPr>
        <a:xfrm>
          <a:off x="0" y="0"/>
          <a:ext cx="0" cy="0"/>
          <a:chOff x="0" y="0"/>
          <a:chExt cx="0" cy="0"/>
        </a:xfrm>
      </p:grpSpPr>
      <p:sp>
        <p:nvSpPr>
          <p:cNvPr id="320" name="Google Shape;320;p34"/>
          <p:cNvSpPr txBox="1"/>
          <p:nvPr>
            <p:ph type="title"/>
          </p:nvPr>
        </p:nvSpPr>
        <p:spPr>
          <a:xfrm>
            <a:off x="311700" y="1901550"/>
            <a:ext cx="8520600" cy="13404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Hidden Slides</a:t>
            </a:r>
            <a:endParaRPr/>
          </a:p>
        </p:txBody>
      </p:sp>
      <p:sp>
        <p:nvSpPr>
          <p:cNvPr id="321" name="Google Shape;321;p34"/>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5" name="Shape 325"/>
        <p:cNvGrpSpPr/>
        <p:nvPr/>
      </p:nvGrpSpPr>
      <p:grpSpPr>
        <a:xfrm>
          <a:off x="0" y="0"/>
          <a:ext cx="0" cy="0"/>
          <a:chOff x="0" y="0"/>
          <a:chExt cx="0" cy="0"/>
        </a:xfrm>
      </p:grpSpPr>
      <p:sp>
        <p:nvSpPr>
          <p:cNvPr id="326" name="Google Shape;32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Requirements For BDA</a:t>
            </a:r>
            <a:endParaRPr/>
          </a:p>
        </p:txBody>
      </p:sp>
      <p:sp>
        <p:nvSpPr>
          <p:cNvPr id="327" name="Google Shape;327;p35"/>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328" name="Google Shape;328;p35" title="image_png.png"/>
          <p:cNvPicPr preferRelativeResize="0"/>
          <p:nvPr/>
        </p:nvPicPr>
        <p:blipFill>
          <a:blip r:embed="rId3">
            <a:alphaModFix/>
          </a:blip>
          <a:stretch>
            <a:fillRect/>
          </a:stretch>
        </p:blipFill>
        <p:spPr>
          <a:xfrm>
            <a:off x="311700" y="1017725"/>
            <a:ext cx="4774850" cy="3576199"/>
          </a:xfrm>
          <a:prstGeom prst="rect">
            <a:avLst/>
          </a:prstGeom>
          <a:noFill/>
          <a:ln>
            <a:noFill/>
          </a:ln>
        </p:spPr>
      </p:pic>
      <p:sp>
        <p:nvSpPr>
          <p:cNvPr id="329" name="Google Shape;329;p35"/>
          <p:cNvSpPr/>
          <p:nvPr/>
        </p:nvSpPr>
        <p:spPr>
          <a:xfrm>
            <a:off x="6100425" y="1017725"/>
            <a:ext cx="27948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Recuperation Time</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Re-Attack Rec.</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Task Assessment</a:t>
            </a:r>
            <a:endParaRPr>
              <a:solidFill>
                <a:schemeClr val="accent6"/>
              </a:solidFill>
              <a:latin typeface="Fira Sans"/>
              <a:ea typeface="Fira Sans"/>
              <a:cs typeface="Fira Sans"/>
              <a:sym typeface="Fira Sans"/>
            </a:endParaRPr>
          </a:p>
        </p:txBody>
      </p:sp>
      <p:sp>
        <p:nvSpPr>
          <p:cNvPr id="330" name="Google Shape;330;p35"/>
          <p:cNvSpPr/>
          <p:nvPr/>
        </p:nvSpPr>
        <p:spPr>
          <a:xfrm rot="2290852">
            <a:off x="5450624" y="1545208"/>
            <a:ext cx="285855" cy="1278132"/>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331" name="Google Shape;331;p35"/>
          <p:cNvSpPr txBox="1"/>
          <p:nvPr/>
        </p:nvSpPr>
        <p:spPr>
          <a:xfrm>
            <a:off x="5763000" y="3223450"/>
            <a:ext cx="3381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a:solidFill>
                  <a:schemeClr val="dk1"/>
                </a:solidFill>
              </a:rPr>
              <a:t>Requires Mission Context (OPORD)</a:t>
            </a:r>
            <a:endParaRPr i="1">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BDA Pipeline - Process Flow Diagram</a:t>
            </a:r>
            <a:endParaRPr/>
          </a:p>
        </p:txBody>
      </p:sp>
      <p:sp>
        <p:nvSpPr>
          <p:cNvPr id="337" name="Google Shape;337;p36"/>
          <p:cNvSpPr txBox="1"/>
          <p:nvPr>
            <p:ph idx="12" type="sldNum"/>
          </p:nvPr>
        </p:nvSpPr>
        <p:spPr>
          <a:xfrm>
            <a:off x="8595301" y="4589304"/>
            <a:ext cx="548700" cy="33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38" name="Google Shape;338;p36"/>
          <p:cNvSpPr/>
          <p:nvPr/>
        </p:nvSpPr>
        <p:spPr>
          <a:xfrm>
            <a:off x="506050" y="1009659"/>
            <a:ext cx="7732500" cy="1317900"/>
          </a:xfrm>
          <a:prstGeom prst="rect">
            <a:avLst/>
          </a:prstGeom>
          <a:solidFill>
            <a:srgbClr val="EFEFEF"/>
          </a:solidFill>
          <a:ln>
            <a:noFill/>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39" name="Google Shape;339;p36"/>
          <p:cNvSpPr/>
          <p:nvPr/>
        </p:nvSpPr>
        <p:spPr>
          <a:xfrm>
            <a:off x="506050" y="1009659"/>
            <a:ext cx="1379400" cy="1317900"/>
          </a:xfrm>
          <a:prstGeom prst="rect">
            <a:avLst/>
          </a:prstGeom>
          <a:solidFill>
            <a:srgbClr val="F9CB9C"/>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40" name="Google Shape;340;p36"/>
          <p:cNvSpPr/>
          <p:nvPr/>
        </p:nvSpPr>
        <p:spPr>
          <a:xfrm>
            <a:off x="598003" y="1162915"/>
            <a:ext cx="1195200" cy="3372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11827"/>
              </a:buClr>
              <a:buSzPts val="1073"/>
              <a:buFont typeface="Calibri"/>
              <a:buNone/>
            </a:pPr>
            <a:r>
              <a:rPr b="1" lang="en" sz="1073">
                <a:solidFill>
                  <a:srgbClr val="111827"/>
                </a:solidFill>
                <a:latin typeface="Calibri"/>
                <a:ea typeface="Calibri"/>
                <a:cs typeface="Calibri"/>
                <a:sym typeface="Calibri"/>
              </a:rPr>
              <a:t>Research / Testing</a:t>
            </a:r>
            <a:endParaRPr sz="1073">
              <a:solidFill>
                <a:srgbClr val="000000"/>
              </a:solidFill>
              <a:latin typeface="Arial"/>
              <a:ea typeface="Arial"/>
              <a:cs typeface="Arial"/>
              <a:sym typeface="Arial"/>
            </a:endParaRPr>
          </a:p>
        </p:txBody>
      </p:sp>
      <p:sp>
        <p:nvSpPr>
          <p:cNvPr id="341" name="Google Shape;341;p36"/>
          <p:cNvSpPr/>
          <p:nvPr/>
        </p:nvSpPr>
        <p:spPr>
          <a:xfrm>
            <a:off x="598003" y="1411859"/>
            <a:ext cx="1195200" cy="7050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Iterate to validate</a:t>
            </a:r>
            <a:endParaRPr b="1" sz="737">
              <a:solidFill>
                <a:srgbClr val="000000"/>
              </a:solidFill>
            </a:endParaRPr>
          </a:p>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end-to-end behavior</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Start VLM-only baseline</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Then add object detection</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Refine prompts/templates</a:t>
            </a:r>
            <a:endParaRPr sz="737">
              <a:solidFill>
                <a:srgbClr val="000000"/>
              </a:solidFill>
              <a:latin typeface="Arial"/>
              <a:ea typeface="Arial"/>
              <a:cs typeface="Arial"/>
              <a:sym typeface="Arial"/>
            </a:endParaRPr>
          </a:p>
        </p:txBody>
      </p:sp>
      <p:sp>
        <p:nvSpPr>
          <p:cNvPr id="342" name="Google Shape;342;p36"/>
          <p:cNvSpPr/>
          <p:nvPr/>
        </p:nvSpPr>
        <p:spPr>
          <a:xfrm>
            <a:off x="2007954"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43" name="Google Shape;343;p36"/>
          <p:cNvSpPr/>
          <p:nvPr/>
        </p:nvSpPr>
        <p:spPr>
          <a:xfrm>
            <a:off x="2081517"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CLI + Config</a:t>
            </a:r>
            <a:endParaRPr sz="804">
              <a:solidFill>
                <a:srgbClr val="000000"/>
              </a:solidFill>
              <a:latin typeface="Arial"/>
              <a:ea typeface="Arial"/>
              <a:cs typeface="Arial"/>
              <a:sym typeface="Arial"/>
            </a:endParaRPr>
          </a:p>
        </p:txBody>
      </p:sp>
      <p:sp>
        <p:nvSpPr>
          <p:cNvPr id="344" name="Google Shape;344;p36"/>
          <p:cNvSpPr/>
          <p:nvPr/>
        </p:nvSpPr>
        <p:spPr>
          <a:xfrm>
            <a:off x="2044736"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Select VLM + prompt</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via text config</a:t>
            </a:r>
            <a:endParaRPr sz="803">
              <a:solidFill>
                <a:srgbClr val="000000"/>
              </a:solidFill>
              <a:latin typeface="Arial"/>
              <a:ea typeface="Arial"/>
              <a:cs typeface="Arial"/>
              <a:sym typeface="Arial"/>
            </a:endParaRPr>
          </a:p>
        </p:txBody>
      </p:sp>
      <p:cxnSp>
        <p:nvCxnSpPr>
          <p:cNvPr id="345" name="Google Shape;345;p36"/>
          <p:cNvCxnSpPr>
            <a:stCxn id="343" idx="3"/>
          </p:cNvCxnSpPr>
          <p:nvPr/>
        </p:nvCxnSpPr>
        <p:spPr>
          <a:xfrm>
            <a:off x="3048117"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46" name="Google Shape;346;p36"/>
          <p:cNvSpPr/>
          <p:nvPr/>
        </p:nvSpPr>
        <p:spPr>
          <a:xfrm>
            <a:off x="3244175"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47" name="Google Shape;347;p36"/>
          <p:cNvSpPr/>
          <p:nvPr/>
        </p:nvSpPr>
        <p:spPr>
          <a:xfrm>
            <a:off x="3317738"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Validate Input</a:t>
            </a:r>
            <a:endParaRPr sz="804">
              <a:solidFill>
                <a:srgbClr val="000000"/>
              </a:solidFill>
              <a:latin typeface="Arial"/>
              <a:ea typeface="Arial"/>
              <a:cs typeface="Arial"/>
              <a:sym typeface="Arial"/>
            </a:endParaRPr>
          </a:p>
        </p:txBody>
      </p:sp>
      <p:sp>
        <p:nvSpPr>
          <p:cNvPr id="348" name="Google Shape;348;p36"/>
          <p:cNvSpPr/>
          <p:nvPr/>
        </p:nvSpPr>
        <p:spPr>
          <a:xfrm>
            <a:off x="3280956"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Folders + usage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JPG/PNG/GIF/TIFF</a:t>
            </a:r>
            <a:endParaRPr sz="803">
              <a:solidFill>
                <a:srgbClr val="000000"/>
              </a:solidFill>
              <a:latin typeface="Arial"/>
              <a:ea typeface="Arial"/>
              <a:cs typeface="Arial"/>
              <a:sym typeface="Arial"/>
            </a:endParaRPr>
          </a:p>
        </p:txBody>
      </p:sp>
      <p:cxnSp>
        <p:nvCxnSpPr>
          <p:cNvPr id="349" name="Google Shape;349;p36"/>
          <p:cNvCxnSpPr>
            <a:stCxn id="347" idx="3"/>
          </p:cNvCxnSpPr>
          <p:nvPr/>
        </p:nvCxnSpPr>
        <p:spPr>
          <a:xfrm>
            <a:off x="4284338"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50" name="Google Shape;350;p36"/>
          <p:cNvSpPr/>
          <p:nvPr/>
        </p:nvSpPr>
        <p:spPr>
          <a:xfrm>
            <a:off x="4480396"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1" name="Google Shape;351;p36"/>
          <p:cNvSpPr/>
          <p:nvPr/>
        </p:nvSpPr>
        <p:spPr>
          <a:xfrm>
            <a:off x="4553958"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Preprocess</a:t>
            </a:r>
            <a:endParaRPr sz="804">
              <a:solidFill>
                <a:srgbClr val="000000"/>
              </a:solidFill>
              <a:latin typeface="Arial"/>
              <a:ea typeface="Arial"/>
              <a:cs typeface="Arial"/>
              <a:sym typeface="Arial"/>
            </a:endParaRPr>
          </a:p>
        </p:txBody>
      </p:sp>
      <p:sp>
        <p:nvSpPr>
          <p:cNvPr id="352" name="Google Shape;352;p36"/>
          <p:cNvSpPr/>
          <p:nvPr/>
        </p:nvSpPr>
        <p:spPr>
          <a:xfrm>
            <a:off x="4517177"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Object extraction</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Quality checks</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Log &amp; continue</a:t>
            </a:r>
            <a:endParaRPr sz="803">
              <a:solidFill>
                <a:srgbClr val="000000"/>
              </a:solidFill>
              <a:latin typeface="Arial"/>
              <a:ea typeface="Arial"/>
              <a:cs typeface="Arial"/>
              <a:sym typeface="Arial"/>
            </a:endParaRPr>
          </a:p>
        </p:txBody>
      </p:sp>
      <p:cxnSp>
        <p:nvCxnSpPr>
          <p:cNvPr id="353" name="Google Shape;353;p36"/>
          <p:cNvCxnSpPr>
            <a:stCxn id="351" idx="3"/>
          </p:cNvCxnSpPr>
          <p:nvPr/>
        </p:nvCxnSpPr>
        <p:spPr>
          <a:xfrm>
            <a:off x="5520558"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54" name="Google Shape;354;p36"/>
          <p:cNvSpPr/>
          <p:nvPr/>
        </p:nvSpPr>
        <p:spPr>
          <a:xfrm>
            <a:off x="5716616"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5" name="Google Shape;355;p36"/>
          <p:cNvSpPr/>
          <p:nvPr/>
        </p:nvSpPr>
        <p:spPr>
          <a:xfrm>
            <a:off x="5790179"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VLM Analysis</a:t>
            </a:r>
            <a:endParaRPr sz="804">
              <a:solidFill>
                <a:srgbClr val="000000"/>
              </a:solidFill>
              <a:latin typeface="Arial"/>
              <a:ea typeface="Arial"/>
              <a:cs typeface="Arial"/>
              <a:sym typeface="Arial"/>
            </a:endParaRPr>
          </a:p>
        </p:txBody>
      </p:sp>
      <p:sp>
        <p:nvSpPr>
          <p:cNvPr id="356" name="Google Shape;356;p36"/>
          <p:cNvSpPr/>
          <p:nvPr/>
        </p:nvSpPr>
        <p:spPr>
          <a:xfrm>
            <a:off x="5753398"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Assess physical +</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functional damage</a:t>
            </a:r>
            <a:endParaRPr sz="803">
              <a:solidFill>
                <a:srgbClr val="000000"/>
              </a:solidFill>
              <a:latin typeface="Arial"/>
              <a:ea typeface="Arial"/>
              <a:cs typeface="Arial"/>
              <a:sym typeface="Arial"/>
            </a:endParaRPr>
          </a:p>
        </p:txBody>
      </p:sp>
      <p:cxnSp>
        <p:nvCxnSpPr>
          <p:cNvPr id="357" name="Google Shape;357;p36"/>
          <p:cNvCxnSpPr>
            <a:stCxn id="355" idx="3"/>
          </p:cNvCxnSpPr>
          <p:nvPr/>
        </p:nvCxnSpPr>
        <p:spPr>
          <a:xfrm>
            <a:off x="6756779"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58" name="Google Shape;358;p36"/>
          <p:cNvSpPr/>
          <p:nvPr/>
        </p:nvSpPr>
        <p:spPr>
          <a:xfrm>
            <a:off x="6952837"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9" name="Google Shape;359;p36"/>
          <p:cNvSpPr/>
          <p:nvPr/>
        </p:nvSpPr>
        <p:spPr>
          <a:xfrm>
            <a:off x="7026400"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JSON Output</a:t>
            </a:r>
            <a:endParaRPr sz="804">
              <a:solidFill>
                <a:srgbClr val="000000"/>
              </a:solidFill>
              <a:latin typeface="Arial"/>
              <a:ea typeface="Arial"/>
              <a:cs typeface="Arial"/>
              <a:sym typeface="Arial"/>
            </a:endParaRPr>
          </a:p>
        </p:txBody>
      </p:sp>
      <p:sp>
        <p:nvSpPr>
          <p:cNvPr id="360" name="Google Shape;360;p36"/>
          <p:cNvSpPr/>
          <p:nvPr/>
        </p:nvSpPr>
        <p:spPr>
          <a:xfrm>
            <a:off x="6989618"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Report: date, model,</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damage, confidence,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observations, images</a:t>
            </a:r>
            <a:endParaRPr sz="803">
              <a:solidFill>
                <a:srgbClr val="000000"/>
              </a:solidFill>
              <a:latin typeface="Arial"/>
              <a:ea typeface="Arial"/>
              <a:cs typeface="Arial"/>
              <a:sym typeface="Arial"/>
            </a:endParaRPr>
          </a:p>
        </p:txBody>
      </p:sp>
      <p:sp>
        <p:nvSpPr>
          <p:cNvPr id="361" name="Google Shape;361;p36"/>
          <p:cNvSpPr/>
          <p:nvPr/>
        </p:nvSpPr>
        <p:spPr>
          <a:xfrm>
            <a:off x="506050" y="2419609"/>
            <a:ext cx="7732500" cy="1317900"/>
          </a:xfrm>
          <a:prstGeom prst="rect">
            <a:avLst/>
          </a:prstGeom>
          <a:solidFill>
            <a:srgbClr val="ECFDF5"/>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62" name="Google Shape;362;p36"/>
          <p:cNvSpPr/>
          <p:nvPr/>
        </p:nvSpPr>
        <p:spPr>
          <a:xfrm>
            <a:off x="506050" y="2419611"/>
            <a:ext cx="1379400" cy="1317900"/>
          </a:xfrm>
          <a:prstGeom prst="rect">
            <a:avLst/>
          </a:prstGeom>
          <a:solidFill>
            <a:srgbClr val="B6D7A8"/>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63" name="Google Shape;363;p36"/>
          <p:cNvSpPr/>
          <p:nvPr/>
        </p:nvSpPr>
        <p:spPr>
          <a:xfrm>
            <a:off x="598003" y="2572866"/>
            <a:ext cx="1195200" cy="3372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11827"/>
              </a:buClr>
              <a:buSzPts val="1073"/>
              <a:buFont typeface="Calibri"/>
              <a:buNone/>
            </a:pPr>
            <a:r>
              <a:rPr b="1" lang="en" sz="1073">
                <a:solidFill>
                  <a:srgbClr val="111827"/>
                </a:solidFill>
                <a:latin typeface="Calibri"/>
                <a:ea typeface="Calibri"/>
                <a:cs typeface="Calibri"/>
                <a:sym typeface="Calibri"/>
              </a:rPr>
              <a:t>Deployed</a:t>
            </a:r>
            <a:endParaRPr sz="1073">
              <a:solidFill>
                <a:srgbClr val="000000"/>
              </a:solidFill>
              <a:latin typeface="Arial"/>
              <a:ea typeface="Arial"/>
              <a:cs typeface="Arial"/>
              <a:sym typeface="Arial"/>
            </a:endParaRPr>
          </a:p>
        </p:txBody>
      </p:sp>
      <p:sp>
        <p:nvSpPr>
          <p:cNvPr id="364" name="Google Shape;364;p36"/>
          <p:cNvSpPr/>
          <p:nvPr/>
        </p:nvSpPr>
        <p:spPr>
          <a:xfrm>
            <a:off x="598003" y="2814335"/>
            <a:ext cx="1195200" cy="7050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Production execution</a:t>
            </a:r>
            <a:endParaRPr b="1" sz="737">
              <a:solidFill>
                <a:srgbClr val="000000"/>
              </a:solidFill>
            </a:endParaRPr>
          </a:p>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Constraints</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.py file or container image</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No network required</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Console progress %</a:t>
            </a:r>
            <a:endParaRPr sz="737">
              <a:solidFill>
                <a:srgbClr val="000000"/>
              </a:solidFill>
              <a:latin typeface="Arial"/>
              <a:ea typeface="Arial"/>
              <a:cs typeface="Arial"/>
              <a:sym typeface="Arial"/>
            </a:endParaRPr>
          </a:p>
        </p:txBody>
      </p:sp>
      <p:sp>
        <p:nvSpPr>
          <p:cNvPr id="365" name="Google Shape;365;p36"/>
          <p:cNvSpPr/>
          <p:nvPr/>
        </p:nvSpPr>
        <p:spPr>
          <a:xfrm>
            <a:off x="2007954"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66" name="Google Shape;366;p36"/>
          <p:cNvSpPr/>
          <p:nvPr/>
        </p:nvSpPr>
        <p:spPr>
          <a:xfrm>
            <a:off x="2081517"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Executable / CLI</a:t>
            </a:r>
            <a:endParaRPr sz="804">
              <a:solidFill>
                <a:srgbClr val="000000"/>
              </a:solidFill>
              <a:latin typeface="Arial"/>
              <a:ea typeface="Arial"/>
              <a:cs typeface="Arial"/>
              <a:sym typeface="Arial"/>
            </a:endParaRPr>
          </a:p>
        </p:txBody>
      </p:sp>
      <p:sp>
        <p:nvSpPr>
          <p:cNvPr id="367" name="Google Shape;367;p36"/>
          <p:cNvSpPr/>
          <p:nvPr/>
        </p:nvSpPr>
        <p:spPr>
          <a:xfrm>
            <a:off x="2044736"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Linux</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system-wide</a:t>
            </a:r>
            <a:endParaRPr sz="803">
              <a:solidFill>
                <a:srgbClr val="000000"/>
              </a:solidFill>
              <a:latin typeface="Arial"/>
              <a:ea typeface="Arial"/>
              <a:cs typeface="Arial"/>
              <a:sym typeface="Arial"/>
            </a:endParaRPr>
          </a:p>
        </p:txBody>
      </p:sp>
      <p:cxnSp>
        <p:nvCxnSpPr>
          <p:cNvPr id="368" name="Google Shape;368;p36"/>
          <p:cNvCxnSpPr>
            <a:stCxn id="366" idx="3"/>
          </p:cNvCxnSpPr>
          <p:nvPr/>
        </p:nvCxnSpPr>
        <p:spPr>
          <a:xfrm>
            <a:off x="3048117"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69" name="Google Shape;369;p36"/>
          <p:cNvSpPr/>
          <p:nvPr/>
        </p:nvSpPr>
        <p:spPr>
          <a:xfrm>
            <a:off x="3244175"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0" name="Google Shape;370;p36"/>
          <p:cNvSpPr/>
          <p:nvPr/>
        </p:nvSpPr>
        <p:spPr>
          <a:xfrm>
            <a:off x="3317738"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Validate + Access</a:t>
            </a:r>
            <a:endParaRPr sz="804">
              <a:solidFill>
                <a:srgbClr val="000000"/>
              </a:solidFill>
              <a:latin typeface="Arial"/>
              <a:ea typeface="Arial"/>
              <a:cs typeface="Arial"/>
              <a:sym typeface="Arial"/>
            </a:endParaRPr>
          </a:p>
        </p:txBody>
      </p:sp>
      <p:sp>
        <p:nvSpPr>
          <p:cNvPr id="371" name="Google Shape;371;p36"/>
          <p:cNvSpPr/>
          <p:nvPr/>
        </p:nvSpPr>
        <p:spPr>
          <a:xfrm>
            <a:off x="3280956"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Read input folder</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Write output folder</a:t>
            </a:r>
            <a:endParaRPr sz="803">
              <a:solidFill>
                <a:srgbClr val="000000"/>
              </a:solidFill>
              <a:latin typeface="Arial"/>
              <a:ea typeface="Arial"/>
              <a:cs typeface="Arial"/>
              <a:sym typeface="Arial"/>
            </a:endParaRPr>
          </a:p>
        </p:txBody>
      </p:sp>
      <p:cxnSp>
        <p:nvCxnSpPr>
          <p:cNvPr id="372" name="Google Shape;372;p36"/>
          <p:cNvCxnSpPr>
            <a:stCxn id="370" idx="3"/>
          </p:cNvCxnSpPr>
          <p:nvPr/>
        </p:nvCxnSpPr>
        <p:spPr>
          <a:xfrm>
            <a:off x="4284338"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73" name="Google Shape;373;p36"/>
          <p:cNvSpPr/>
          <p:nvPr/>
        </p:nvSpPr>
        <p:spPr>
          <a:xfrm>
            <a:off x="4480396"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4" name="Google Shape;374;p36"/>
          <p:cNvSpPr/>
          <p:nvPr/>
        </p:nvSpPr>
        <p:spPr>
          <a:xfrm>
            <a:off x="4553958"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Preprocess Target</a:t>
            </a:r>
            <a:endParaRPr sz="804">
              <a:solidFill>
                <a:srgbClr val="000000"/>
              </a:solidFill>
              <a:latin typeface="Arial"/>
              <a:ea typeface="Arial"/>
              <a:cs typeface="Arial"/>
              <a:sym typeface="Arial"/>
            </a:endParaRPr>
          </a:p>
        </p:txBody>
      </p:sp>
      <p:sp>
        <p:nvSpPr>
          <p:cNvPr id="375" name="Google Shape;375;p36"/>
          <p:cNvSpPr/>
          <p:nvPr/>
        </p:nvSpPr>
        <p:spPr>
          <a:xfrm>
            <a:off x="4517177"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&lt; 3s / image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(preprocessing)</a:t>
            </a:r>
            <a:endParaRPr sz="803">
              <a:solidFill>
                <a:srgbClr val="000000"/>
              </a:solidFill>
              <a:latin typeface="Arial"/>
              <a:ea typeface="Arial"/>
              <a:cs typeface="Arial"/>
              <a:sym typeface="Arial"/>
            </a:endParaRPr>
          </a:p>
        </p:txBody>
      </p:sp>
      <p:cxnSp>
        <p:nvCxnSpPr>
          <p:cNvPr id="376" name="Google Shape;376;p36"/>
          <p:cNvCxnSpPr>
            <a:stCxn id="374" idx="3"/>
          </p:cNvCxnSpPr>
          <p:nvPr/>
        </p:nvCxnSpPr>
        <p:spPr>
          <a:xfrm>
            <a:off x="5520558"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77" name="Google Shape;377;p36"/>
          <p:cNvSpPr/>
          <p:nvPr/>
        </p:nvSpPr>
        <p:spPr>
          <a:xfrm>
            <a:off x="5716616"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8" name="Google Shape;378;p36"/>
          <p:cNvSpPr/>
          <p:nvPr/>
        </p:nvSpPr>
        <p:spPr>
          <a:xfrm>
            <a:off x="5790179"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VLM Target</a:t>
            </a:r>
            <a:endParaRPr sz="804">
              <a:solidFill>
                <a:srgbClr val="000000"/>
              </a:solidFill>
              <a:latin typeface="Arial"/>
              <a:ea typeface="Arial"/>
              <a:cs typeface="Arial"/>
              <a:sym typeface="Arial"/>
            </a:endParaRPr>
          </a:p>
        </p:txBody>
      </p:sp>
      <p:sp>
        <p:nvSpPr>
          <p:cNvPr id="379" name="Google Shape;379;p36"/>
          <p:cNvSpPr/>
          <p:nvPr/>
        </p:nvSpPr>
        <p:spPr>
          <a:xfrm>
            <a:off x="5753398"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&lt; 15s / image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16 GB VRAM</a:t>
            </a:r>
            <a:endParaRPr sz="803">
              <a:solidFill>
                <a:srgbClr val="000000"/>
              </a:solidFill>
              <a:latin typeface="Arial"/>
              <a:ea typeface="Arial"/>
              <a:cs typeface="Arial"/>
              <a:sym typeface="Arial"/>
            </a:endParaRPr>
          </a:p>
        </p:txBody>
      </p:sp>
      <p:cxnSp>
        <p:nvCxnSpPr>
          <p:cNvPr id="380" name="Google Shape;380;p36"/>
          <p:cNvCxnSpPr>
            <a:stCxn id="378" idx="3"/>
          </p:cNvCxnSpPr>
          <p:nvPr/>
        </p:nvCxnSpPr>
        <p:spPr>
          <a:xfrm>
            <a:off x="6756779"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81" name="Google Shape;381;p36"/>
          <p:cNvSpPr/>
          <p:nvPr/>
        </p:nvSpPr>
        <p:spPr>
          <a:xfrm>
            <a:off x="6952837"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82" name="Google Shape;382;p36"/>
          <p:cNvSpPr/>
          <p:nvPr/>
        </p:nvSpPr>
        <p:spPr>
          <a:xfrm>
            <a:off x="7026400"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Persist + Retrieve</a:t>
            </a:r>
            <a:endParaRPr sz="804">
              <a:solidFill>
                <a:srgbClr val="000000"/>
              </a:solidFill>
              <a:latin typeface="Arial"/>
              <a:ea typeface="Arial"/>
              <a:cs typeface="Arial"/>
              <a:sym typeface="Arial"/>
            </a:endParaRPr>
          </a:p>
        </p:txBody>
      </p:sp>
      <p:sp>
        <p:nvSpPr>
          <p:cNvPr id="383" name="Google Shape;383;p36"/>
          <p:cNvSpPr/>
          <p:nvPr/>
        </p:nvSpPr>
        <p:spPr>
          <a:xfrm>
            <a:off x="6989618"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Standards JSON</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No overwrite/delete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Retrieve via CLI arg</a:t>
            </a:r>
            <a:endParaRPr sz="803">
              <a:solidFill>
                <a:srgbClr val="000000"/>
              </a:solidFill>
              <a:latin typeface="Arial"/>
              <a:ea typeface="Arial"/>
              <a:cs typeface="Arial"/>
              <a:sym typeface="Arial"/>
            </a:endParaRPr>
          </a:p>
        </p:txBody>
      </p:sp>
      <p:sp>
        <p:nvSpPr>
          <p:cNvPr id="384" name="Google Shape;384;p36"/>
          <p:cNvSpPr/>
          <p:nvPr/>
        </p:nvSpPr>
        <p:spPr>
          <a:xfrm>
            <a:off x="506050" y="3860210"/>
            <a:ext cx="2417700" cy="796500"/>
          </a:xfrm>
          <a:prstGeom prst="rect">
            <a:avLst/>
          </a:prstGeom>
          <a:solidFill>
            <a:srgbClr val="A4C2F4"/>
          </a:solidFill>
          <a:ln cap="flat" cmpd="sng" w="8500">
            <a:solidFill>
              <a:srgbClr val="E5E7EB"/>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85" name="Google Shape;385;p36"/>
          <p:cNvSpPr/>
          <p:nvPr/>
        </p:nvSpPr>
        <p:spPr>
          <a:xfrm>
            <a:off x="579613" y="3901317"/>
            <a:ext cx="2271000" cy="7143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F2937"/>
              </a:buClr>
              <a:buSzPts val="872"/>
              <a:buFont typeface="Calibri"/>
              <a:buNone/>
            </a:pPr>
            <a:r>
              <a:rPr b="1" lang="en" sz="1072">
                <a:solidFill>
                  <a:srgbClr val="1F2937"/>
                </a:solidFill>
                <a:latin typeface="Calibri"/>
                <a:ea typeface="Calibri"/>
                <a:cs typeface="Calibri"/>
                <a:sym typeface="Calibri"/>
              </a:rPr>
              <a:t>Inputs &amp; Configuration</a:t>
            </a:r>
            <a:endParaRPr sz="1072">
              <a:solidFill>
                <a:srgbClr val="000000"/>
              </a:solidFill>
              <a:latin typeface="Arial"/>
              <a:ea typeface="Arial"/>
              <a:cs typeface="Arial"/>
              <a:sym typeface="Arial"/>
            </a:endParaRPr>
          </a:p>
        </p:txBody>
      </p:sp>
      <p:sp>
        <p:nvSpPr>
          <p:cNvPr id="386" name="Google Shape;386;p36"/>
          <p:cNvSpPr/>
          <p:nvPr/>
        </p:nvSpPr>
        <p:spPr>
          <a:xfrm>
            <a:off x="640915" y="4117132"/>
            <a:ext cx="2172900" cy="488100"/>
          </a:xfrm>
          <a:prstGeom prst="rect">
            <a:avLst/>
          </a:prstGeom>
          <a:noFill/>
          <a:ln>
            <a:noFill/>
          </a:ln>
        </p:spPr>
        <p:txBody>
          <a:bodyPr anchorCtr="0" anchor="t" bIns="30650" lIns="61300" spcFirstLastPara="1" rIns="61300" wrap="square" tIns="30650">
            <a:noAutofit/>
          </a:bodyPr>
          <a:lstStyle/>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CLI args: usage, input folder, output folder</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Validate data presence + formats</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Choose VLM + prompt via text config</a:t>
            </a:r>
            <a:endParaRPr sz="700">
              <a:solidFill>
                <a:srgbClr val="000000"/>
              </a:solidFill>
              <a:latin typeface="Arial"/>
              <a:ea typeface="Arial"/>
              <a:cs typeface="Arial"/>
              <a:sym typeface="Arial"/>
            </a:endParaRPr>
          </a:p>
        </p:txBody>
      </p:sp>
      <p:sp>
        <p:nvSpPr>
          <p:cNvPr id="387" name="Google Shape;387;p36"/>
          <p:cNvSpPr/>
          <p:nvPr/>
        </p:nvSpPr>
        <p:spPr>
          <a:xfrm>
            <a:off x="3077267" y="3860210"/>
            <a:ext cx="2417700" cy="796500"/>
          </a:xfrm>
          <a:prstGeom prst="rect">
            <a:avLst/>
          </a:prstGeom>
          <a:solidFill>
            <a:srgbClr val="B4A7D6"/>
          </a:solidFill>
          <a:ln cap="flat" cmpd="sng" w="8500">
            <a:solidFill>
              <a:srgbClr val="E5E7EB"/>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88" name="Google Shape;388;p36"/>
          <p:cNvSpPr/>
          <p:nvPr/>
        </p:nvSpPr>
        <p:spPr>
          <a:xfrm>
            <a:off x="3150830" y="3901317"/>
            <a:ext cx="2271000" cy="7143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F2937"/>
              </a:buClr>
              <a:buSzPts val="872"/>
              <a:buFont typeface="Calibri"/>
              <a:buNone/>
            </a:pPr>
            <a:r>
              <a:rPr b="1" lang="en" sz="872">
                <a:solidFill>
                  <a:srgbClr val="1F2937"/>
                </a:solidFill>
                <a:latin typeface="Calibri"/>
                <a:ea typeface="Calibri"/>
                <a:cs typeface="Calibri"/>
                <a:sym typeface="Calibri"/>
              </a:rPr>
              <a:t>Outputs</a:t>
            </a:r>
            <a:endParaRPr sz="872">
              <a:solidFill>
                <a:srgbClr val="000000"/>
              </a:solidFill>
              <a:latin typeface="Arial"/>
              <a:ea typeface="Arial"/>
              <a:cs typeface="Arial"/>
              <a:sym typeface="Arial"/>
            </a:endParaRPr>
          </a:p>
        </p:txBody>
      </p:sp>
      <p:sp>
        <p:nvSpPr>
          <p:cNvPr id="389" name="Google Shape;389;p36"/>
          <p:cNvSpPr/>
          <p:nvPr/>
        </p:nvSpPr>
        <p:spPr>
          <a:xfrm>
            <a:off x="3212132" y="4117132"/>
            <a:ext cx="2172900" cy="488100"/>
          </a:xfrm>
          <a:prstGeom prst="rect">
            <a:avLst/>
          </a:prstGeom>
          <a:noFill/>
          <a:ln>
            <a:noFill/>
          </a:ln>
        </p:spPr>
        <p:txBody>
          <a:bodyPr anchorCtr="0" anchor="t" bIns="30650" lIns="61300" spcFirstLastPara="1" rIns="61300" wrap="square" tIns="30650">
            <a:noAutofit/>
          </a:bodyPr>
          <a:lstStyle/>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JSON report + supporting imagery</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Notify user + output location</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Retrieval mode for completed assessments</a:t>
            </a:r>
            <a:endParaRPr sz="700">
              <a:solidFill>
                <a:srgbClr val="000000"/>
              </a:solidFill>
              <a:latin typeface="Arial"/>
              <a:ea typeface="Arial"/>
              <a:cs typeface="Arial"/>
              <a:sym typeface="Arial"/>
            </a:endParaRPr>
          </a:p>
        </p:txBody>
      </p:sp>
      <p:sp>
        <p:nvSpPr>
          <p:cNvPr id="390" name="Google Shape;390;p36"/>
          <p:cNvSpPr/>
          <p:nvPr/>
        </p:nvSpPr>
        <p:spPr>
          <a:xfrm>
            <a:off x="5648474" y="3860209"/>
            <a:ext cx="2590200" cy="796500"/>
          </a:xfrm>
          <a:prstGeom prst="rect">
            <a:avLst/>
          </a:prstGeom>
          <a:solidFill>
            <a:srgbClr val="FFE599"/>
          </a:solidFill>
          <a:ln cap="flat" cmpd="sng" w="8500">
            <a:solidFill>
              <a:srgbClr val="E5E7EB"/>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91" name="Google Shape;391;p36"/>
          <p:cNvSpPr/>
          <p:nvPr/>
        </p:nvSpPr>
        <p:spPr>
          <a:xfrm>
            <a:off x="5722047" y="3901317"/>
            <a:ext cx="2271000" cy="7143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F2937"/>
              </a:buClr>
              <a:buSzPts val="872"/>
              <a:buFont typeface="Calibri"/>
              <a:buNone/>
            </a:pPr>
            <a:r>
              <a:rPr b="1" lang="en" sz="872">
                <a:solidFill>
                  <a:srgbClr val="1F2937"/>
                </a:solidFill>
                <a:latin typeface="Calibri"/>
                <a:ea typeface="Calibri"/>
                <a:cs typeface="Calibri"/>
                <a:sym typeface="Calibri"/>
              </a:rPr>
              <a:t>Edge Cases &amp; Constraints</a:t>
            </a:r>
            <a:endParaRPr sz="872">
              <a:solidFill>
                <a:srgbClr val="000000"/>
              </a:solidFill>
              <a:latin typeface="Arial"/>
              <a:ea typeface="Arial"/>
              <a:cs typeface="Arial"/>
              <a:sym typeface="Arial"/>
            </a:endParaRPr>
          </a:p>
        </p:txBody>
      </p:sp>
      <p:sp>
        <p:nvSpPr>
          <p:cNvPr id="392" name="Google Shape;392;p36"/>
          <p:cNvSpPr/>
          <p:nvPr/>
        </p:nvSpPr>
        <p:spPr>
          <a:xfrm>
            <a:off x="5758424" y="4093157"/>
            <a:ext cx="2172900" cy="488100"/>
          </a:xfrm>
          <a:prstGeom prst="rect">
            <a:avLst/>
          </a:prstGeom>
          <a:noFill/>
          <a:ln>
            <a:noFill/>
          </a:ln>
        </p:spPr>
        <p:txBody>
          <a:bodyPr anchorCtr="0" anchor="t" bIns="30650" lIns="61300" spcFirstLastPara="1" rIns="61300" wrap="square" tIns="30650">
            <a:noAutofit/>
          </a:bodyPr>
          <a:lstStyle/>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Invalid/corrupt → notify; continue or re-run</a:t>
            </a:r>
            <a:endParaRPr sz="737">
              <a:solidFill>
                <a:srgbClr val="000000"/>
              </a:solidFill>
              <a:latin typeface="Arial"/>
              <a:ea typeface="Arial"/>
              <a:cs typeface="Arial"/>
              <a:sym typeface="Arial"/>
            </a:endParaRPr>
          </a:p>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Low confidence → flag; manual review/reprocess</a:t>
            </a:r>
            <a:endParaRPr sz="737">
              <a:solidFill>
                <a:srgbClr val="000000"/>
              </a:solidFill>
              <a:latin typeface="Arial"/>
              <a:ea typeface="Arial"/>
              <a:cs typeface="Arial"/>
              <a:sym typeface="Arial"/>
            </a:endParaRPr>
          </a:p>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System failure → log; alert admin; retry later</a:t>
            </a:r>
            <a:endParaRPr sz="737">
              <a:solidFill>
                <a:srgbClr val="000000"/>
              </a:solidFill>
              <a:latin typeface="Arial"/>
              <a:ea typeface="Arial"/>
              <a:cs typeface="Arial"/>
              <a:sym typeface="Arial"/>
            </a:endParaRPr>
          </a:p>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Offline, no external deps, ≤ 20 GB footprint</a:t>
            </a:r>
            <a:endParaRPr sz="737">
              <a:solidFill>
                <a:srgbClr val="000000"/>
              </a:solidFill>
              <a:latin typeface="Arial"/>
              <a:ea typeface="Arial"/>
              <a:cs typeface="Arial"/>
              <a:sym typeface="Arial"/>
            </a:endParaRPr>
          </a:p>
        </p:txBody>
      </p:sp>
      <p:sp>
        <p:nvSpPr>
          <p:cNvPr id="393" name="Google Shape;393;p36"/>
          <p:cNvSpPr txBox="1"/>
          <p:nvPr/>
        </p:nvSpPr>
        <p:spPr>
          <a:xfrm>
            <a:off x="3485550" y="2365109"/>
            <a:ext cx="2172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Fira Sans"/>
                <a:ea typeface="Fira Sans"/>
                <a:cs typeface="Fira Sans"/>
                <a:sym typeface="Fira Sans"/>
              </a:rPr>
              <a:t>Robotic Platform</a:t>
            </a:r>
            <a:endParaRPr sz="1200">
              <a:solidFill>
                <a:schemeClr val="dk2"/>
              </a:solidFill>
              <a:latin typeface="Fira Sans"/>
              <a:ea typeface="Fira Sans"/>
              <a:cs typeface="Fira Sans"/>
              <a:sym typeface="Fira Sans"/>
            </a:endParaRPr>
          </a:p>
        </p:txBody>
      </p:sp>
      <p:sp>
        <p:nvSpPr>
          <p:cNvPr id="394" name="Google Shape;394;p36"/>
          <p:cNvSpPr txBox="1"/>
          <p:nvPr/>
        </p:nvSpPr>
        <p:spPr>
          <a:xfrm>
            <a:off x="3485550" y="903959"/>
            <a:ext cx="2172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Fira Sans"/>
                <a:ea typeface="Fira Sans"/>
                <a:cs typeface="Fira Sans"/>
                <a:sym typeface="Fira Sans"/>
              </a:rPr>
              <a:t>Local Dev Environment</a:t>
            </a:r>
            <a:endParaRPr sz="1200">
              <a:solidFill>
                <a:schemeClr val="dk2"/>
              </a:solidFill>
              <a:latin typeface="Fira Sans"/>
              <a:ea typeface="Fira Sans"/>
              <a:cs typeface="Fira Sans"/>
              <a:sym typeface="Fir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8" name="Shape 398"/>
        <p:cNvGrpSpPr/>
        <p:nvPr/>
      </p:nvGrpSpPr>
      <p:grpSpPr>
        <a:xfrm>
          <a:off x="0" y="0"/>
          <a:ext cx="0" cy="0"/>
          <a:chOff x="0" y="0"/>
          <a:chExt cx="0" cy="0"/>
        </a:xfrm>
      </p:grpSpPr>
      <p:sp>
        <p:nvSpPr>
          <p:cNvPr id="399" name="Google Shape;399;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Future Work</a:t>
            </a:r>
            <a:endParaRPr/>
          </a:p>
        </p:txBody>
      </p:sp>
      <p:sp>
        <p:nvSpPr>
          <p:cNvPr id="400" name="Google Shape;400;p37"/>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01" name="Google Shape;401;p37"/>
          <p:cNvSpPr txBox="1"/>
          <p:nvPr>
            <p:ph idx="1" type="body"/>
          </p:nvPr>
        </p:nvSpPr>
        <p:spPr>
          <a:xfrm>
            <a:off x="660975" y="1073500"/>
            <a:ext cx="79344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a:t>Dataset </a:t>
            </a:r>
            <a:r>
              <a:rPr lang="en" sz="1800"/>
              <a:t>Expansion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Model Evaluation Pipeline</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Prompt Tuning</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Object Detection Integration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Comprehensive Pipeline Testing</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Docker Image Development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I Tech F23 Template">
  <a:themeElements>
    <a:clrScheme name="Simple Light">
      <a:dk1>
        <a:srgbClr val="000000"/>
      </a:dk1>
      <a:lt1>
        <a:srgbClr val="FFFFFF"/>
      </a:lt1>
      <a:dk2>
        <a:srgbClr val="132C3E"/>
      </a:dk2>
      <a:lt2>
        <a:srgbClr val="EEEEEE"/>
      </a:lt2>
      <a:accent1>
        <a:srgbClr val="2F7F6F"/>
      </a:accent1>
      <a:accent2>
        <a:srgbClr val="67D7B6"/>
      </a:accent2>
      <a:accent3>
        <a:srgbClr val="204E5D"/>
      </a:accent3>
      <a:accent4>
        <a:srgbClr val="5ABE72"/>
      </a:accent4>
      <a:accent5>
        <a:srgbClr val="2071DE"/>
      </a:accent5>
      <a:accent6>
        <a:srgbClr val="FF514A"/>
      </a:accent6>
      <a:hlink>
        <a:srgbClr val="2F7F6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