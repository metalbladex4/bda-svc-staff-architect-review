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5143500" cx="9144000"/>
  <p:notesSz cx="6858000" cy="9144000"/>
  <p:embeddedFontLst>
    <p:embeddedFont>
      <p:font typeface="Fira Sans"/>
      <p:regular r:id="rId31"/>
      <p:bold r:id="rId32"/>
      <p:italic r:id="rId33"/>
      <p:boldItalic r:id="rId34"/>
    </p:embeddedFont>
    <p:embeddedFont>
      <p:font typeface="Quattrocento Sans"/>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153CF57-9A6A-4F1F-82F6-7318DA0594B7}">
  <a:tblStyle styleId="{4153CF57-9A6A-4F1F-82F6-7318DA0594B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FiraSans-regular.fntdata"/><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FiraSans-italic.fntdata"/><Relationship Id="rId10" Type="http://schemas.openxmlformats.org/officeDocument/2006/relationships/slide" Target="slides/slide4.xml"/><Relationship Id="rId32" Type="http://schemas.openxmlformats.org/officeDocument/2006/relationships/font" Target="fonts/FiraSans-bold.fntdata"/><Relationship Id="rId13" Type="http://schemas.openxmlformats.org/officeDocument/2006/relationships/slide" Target="slides/slide7.xml"/><Relationship Id="rId35" Type="http://schemas.openxmlformats.org/officeDocument/2006/relationships/font" Target="fonts/QuattrocentoSans-regular.fntdata"/><Relationship Id="rId12" Type="http://schemas.openxmlformats.org/officeDocument/2006/relationships/slide" Target="slides/slide6.xml"/><Relationship Id="rId34" Type="http://schemas.openxmlformats.org/officeDocument/2006/relationships/font" Target="fonts/FiraSans-boldItalic.fntdata"/><Relationship Id="rId15" Type="http://schemas.openxmlformats.org/officeDocument/2006/relationships/slide" Target="slides/slide9.xml"/><Relationship Id="rId37" Type="http://schemas.openxmlformats.org/officeDocument/2006/relationships/font" Target="fonts/QuattrocentoSans-italic.fntdata"/><Relationship Id="rId14" Type="http://schemas.openxmlformats.org/officeDocument/2006/relationships/slide" Target="slides/slide8.xml"/><Relationship Id="rId36" Type="http://schemas.openxmlformats.org/officeDocument/2006/relationships/font" Target="fonts/QuattrocentoSans-bold.fntdata"/><Relationship Id="rId17" Type="http://schemas.openxmlformats.org/officeDocument/2006/relationships/slide" Target="slides/slide11.xml"/><Relationship Id="rId16" Type="http://schemas.openxmlformats.org/officeDocument/2006/relationships/slide" Target="slides/slide10.xml"/><Relationship Id="rId38" Type="http://schemas.openxmlformats.org/officeDocument/2006/relationships/font" Target="fonts/QuattrocentoSans-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D</a:t>
            </a:r>
            <a:r>
              <a:rPr lang="en"/>
              <a:t>octrine defines a BDA as the timely and accurate estimate of damage resulting from lethal and nonlethal military force. That estimate drives the commander’s reattack decision and shapes follow on targeting and maneuver.</a:t>
            </a:r>
            <a:br>
              <a:rPr lang="en"/>
            </a:br>
            <a:br>
              <a:rPr lang="en"/>
            </a:br>
            <a:r>
              <a:rPr lang="en"/>
              <a:t>From a single snapshot, an analyst can capture obvious physical effects and produce initial BDA inputs. </a:t>
            </a:r>
            <a:br>
              <a:rPr lang="en"/>
            </a:br>
            <a:r>
              <a:rPr lang="en"/>
              <a:t>	However, the current </a:t>
            </a:r>
            <a:r>
              <a:rPr b="1" lang="en"/>
              <a:t>process still depends on trained analysts applying human judgment, which is manpower intensive</a:t>
            </a:r>
            <a:r>
              <a:rPr lang="en"/>
              <a:t>, subjective, and </a:t>
            </a:r>
            <a:r>
              <a:rPr b="1" lang="en"/>
              <a:t>does not scale in high tempo operations</a:t>
            </a:r>
            <a:r>
              <a:rPr lang="en"/>
              <a:t>. </a:t>
            </a:r>
            <a:br>
              <a:rPr lang="en"/>
            </a:br>
            <a:r>
              <a:rPr lang="en"/>
              <a:t>	The comprehensive nature of BDA makes it </a:t>
            </a:r>
            <a:r>
              <a:rPr b="1" lang="en"/>
              <a:t>slow</a:t>
            </a:r>
            <a:r>
              <a:rPr lang="en"/>
              <a:t>; </a:t>
            </a:r>
            <a:r>
              <a:rPr b="1" lang="en"/>
              <a:t>large volumes of reporting</a:t>
            </a:r>
            <a:r>
              <a:rPr lang="en"/>
              <a:t> can overwhelm analysts and delay decisions. </a:t>
            </a:r>
            <a:br>
              <a:rPr lang="en"/>
            </a:br>
            <a:r>
              <a:rPr lang="en"/>
              <a:t>	</a:t>
            </a:r>
            <a:r>
              <a:rPr b="1" lang="en"/>
              <a:t>Errors in the process can become dangerous</a:t>
            </a:r>
            <a:r>
              <a:rPr lang="en"/>
              <a:t> when commanders demand high confidence and teams must push for additional collection in contested environments. </a:t>
            </a:r>
            <a:br>
              <a:rPr lang="en"/>
            </a:br>
            <a:r>
              <a:rPr lang="en"/>
              <a:t>	Finally, </a:t>
            </a:r>
            <a:r>
              <a:rPr b="1" lang="en"/>
              <a:t>BDA Outputs are also inconsistent and not standardized across analysts and organizations</a:t>
            </a:r>
            <a:r>
              <a:rPr lang="en"/>
              <a:t>, leading to uneven quality, duplicate reporting, and friction during reconciliation.</a:t>
            </a:r>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cf25de2a8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cf25de2a8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Operational Problem</a:t>
            </a:r>
            <a:endParaRPr b="1" sz="17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BDA requires rapid, accurate assessment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Relies heavily on human analysts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Process is slow, risky, and inconsistent</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Key Problems</a:t>
            </a:r>
            <a:endParaRPr b="1" sz="17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1. Doctrinal Alignment</a:t>
            </a:r>
            <a:r>
              <a:rPr lang="en">
                <a:solidFill>
                  <a:schemeClr val="dk1"/>
                </a:solidFill>
              </a:rPr>
              <a:t> — Model outputs not aligned with BDA doctrine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2. Model Evaluation</a:t>
            </a:r>
            <a:r>
              <a:rPr lang="en">
                <a:solidFill>
                  <a:schemeClr val="dk1"/>
                </a:solidFill>
              </a:rPr>
              <a:t> — No objective framework to measure model performance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3. Research‑Only Tooling</a:t>
            </a:r>
            <a:r>
              <a:rPr lang="en">
                <a:solidFill>
                  <a:schemeClr val="dk1"/>
                </a:solidFill>
              </a:rPr>
              <a:t> — Experiments exist mainly in research notebooks, not deployable systems</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Resulting Gap</a:t>
            </a:r>
            <a:endParaRPr b="1" sz="17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No standardized, portable, and validated pipeline for VLM‑generated BDA</a:t>
            </a:r>
            <a:endParaRPr>
              <a:solidFill>
                <a:schemeClr val="dk1"/>
              </a:solidFill>
            </a:endParaRPr>
          </a:p>
          <a:p>
            <a:pPr indent="0" lvl="0" marL="0" rtl="0" algn="l">
              <a:spcBef>
                <a:spcPts val="1200"/>
              </a:spcBef>
              <a:spcAft>
                <a:spcPts val="0"/>
              </a:spcAft>
              <a:buNone/>
            </a:pPr>
            <a:r>
              <a:t/>
            </a:r>
            <a:endParaRPr b="1" sz="1300">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To tackle these challenges, we are </a:t>
            </a:r>
            <a:r>
              <a:rPr b="1" lang="en"/>
              <a:t>objectively scoring VLM generated BDAs to measure accuracy, doctrinal alignment, and failure modes</a:t>
            </a:r>
            <a:r>
              <a:rPr lang="en"/>
              <a:t> as well as </a:t>
            </a:r>
            <a:r>
              <a:rPr b="1" lang="en"/>
              <a:t>developing</a:t>
            </a:r>
            <a:r>
              <a:rPr b="1" lang="en"/>
              <a:t> a portable, offline environment for edge devices in research settings</a:t>
            </a:r>
            <a:r>
              <a:rPr lang="en"/>
              <a:t> with pinned dependencies and repeatable execution, so BDA outputs are reproducible, versioned, and traceable.</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c3f8ab9a51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g3c3f8ab9a51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We are </a:t>
            </a:r>
            <a:r>
              <a:rPr b="1" lang="en"/>
              <a:t>focusing the VLM on Phase 1 BDA, the initial, time sensitive physical damage assessment immediately after a strike</a:t>
            </a:r>
            <a:r>
              <a:rPr lang="en"/>
              <a:t>. Phase 1 is where </a:t>
            </a:r>
            <a:r>
              <a:rPr b="1" lang="en" u="sng"/>
              <a:t>imagery is most useful</a:t>
            </a:r>
            <a:r>
              <a:rPr lang="en"/>
              <a:t> because it </a:t>
            </a:r>
            <a:r>
              <a:rPr b="1" lang="en"/>
              <a:t>captures observable effects like fire, smoke, wreckage, and structural collapse</a:t>
            </a:r>
            <a:r>
              <a:rPr lang="en"/>
              <a:t>, and it is </a:t>
            </a:r>
            <a:r>
              <a:rPr b="1" lang="en"/>
              <a:t>often based on single source reporting</a:t>
            </a:r>
            <a:r>
              <a:rPr lang="en"/>
              <a:t>. We focus on the </a:t>
            </a:r>
            <a:r>
              <a:rPr b="1" lang="en"/>
              <a:t>VLM reporting on the target element </a:t>
            </a:r>
            <a:r>
              <a:rPr b="1" lang="en"/>
              <a:t>identifier</a:t>
            </a:r>
            <a:r>
              <a:rPr b="1" lang="en"/>
              <a:t>, the Phase 1 physical damage category, and provide a confidence level</a:t>
            </a:r>
            <a:r>
              <a:rPr lang="en"/>
              <a:t> tied to what is visible in the image </a:t>
            </a:r>
            <a:r>
              <a:rPr b="1" lang="en"/>
              <a:t>according</a:t>
            </a:r>
            <a:r>
              <a:rPr b="1" lang="en"/>
              <a:t> to </a:t>
            </a:r>
            <a:r>
              <a:rPr b="1" lang="en"/>
              <a:t>doctrine</a:t>
            </a:r>
            <a:r>
              <a:rPr lang="en"/>
              <a:t>.</a:t>
            </a:r>
            <a:endParaRPr/>
          </a:p>
          <a:p>
            <a:pPr indent="0" lvl="0" marL="0" rtl="0" algn="l">
              <a:lnSpc>
                <a:spcPct val="115000"/>
              </a:lnSpc>
              <a:spcBef>
                <a:spcPts val="1200"/>
              </a:spcBef>
              <a:spcAft>
                <a:spcPts val="0"/>
              </a:spcAft>
              <a:buClr>
                <a:schemeClr val="dk1"/>
              </a:buClr>
              <a:buSzPts val="1100"/>
              <a:buFont typeface="Arial"/>
              <a:buNone/>
            </a:pPr>
            <a:r>
              <a:rPr lang="en"/>
              <a:t>The </a:t>
            </a:r>
            <a:r>
              <a:rPr b="1" lang="en"/>
              <a:t>Target </a:t>
            </a:r>
            <a:r>
              <a:rPr lang="en"/>
              <a:t>reported are objects identified in the scene of military importance, example: </a:t>
            </a:r>
            <a:r>
              <a:rPr b="1" lang="en"/>
              <a:t>building</a:t>
            </a:r>
            <a:r>
              <a:rPr lang="en"/>
              <a:t>, </a:t>
            </a:r>
            <a:r>
              <a:rPr b="1" lang="en"/>
              <a:t>military </a:t>
            </a:r>
            <a:r>
              <a:rPr b="1" lang="en"/>
              <a:t>vehicle</a:t>
            </a:r>
            <a:r>
              <a:rPr lang="en"/>
              <a:t>, military </a:t>
            </a:r>
            <a:r>
              <a:rPr b="1" lang="en"/>
              <a:t>equipment</a:t>
            </a:r>
            <a:r>
              <a:rPr lang="en"/>
              <a:t>, </a:t>
            </a:r>
            <a:r>
              <a:rPr b="1" lang="en"/>
              <a:t>bridge</a:t>
            </a:r>
            <a:r>
              <a:rPr lang="en"/>
              <a:t>, </a:t>
            </a:r>
            <a:r>
              <a:rPr b="1" lang="en"/>
              <a:t>road</a:t>
            </a:r>
            <a:r>
              <a:rPr lang="en"/>
              <a:t>, etc</a:t>
            </a:r>
            <a:endParaRPr/>
          </a:p>
          <a:p>
            <a:pPr indent="0" lvl="0" marL="0" rtl="0" algn="l">
              <a:lnSpc>
                <a:spcPct val="115000"/>
              </a:lnSpc>
              <a:spcBef>
                <a:spcPts val="1200"/>
              </a:spcBef>
              <a:spcAft>
                <a:spcPts val="0"/>
              </a:spcAft>
              <a:buClr>
                <a:schemeClr val="dk1"/>
              </a:buClr>
              <a:buSzPts val="1100"/>
              <a:buFont typeface="Arial"/>
              <a:buNone/>
            </a:pPr>
            <a:r>
              <a:rPr lang="en"/>
              <a:t> Phase 1 </a:t>
            </a:r>
            <a:r>
              <a:rPr b="1" lang="en"/>
              <a:t>Physical Damage</a:t>
            </a:r>
            <a:r>
              <a:rPr lang="en"/>
              <a:t> can range from:</a:t>
            </a:r>
            <a:endParaRPr/>
          </a:p>
          <a:p>
            <a:pPr indent="457200" lvl="0" marL="0" rtl="0" algn="l">
              <a:lnSpc>
                <a:spcPct val="115000"/>
              </a:lnSpc>
              <a:spcBef>
                <a:spcPts val="1200"/>
              </a:spcBef>
              <a:spcAft>
                <a:spcPts val="0"/>
              </a:spcAft>
              <a:buClr>
                <a:schemeClr val="dk1"/>
              </a:buClr>
              <a:buSzPts val="1100"/>
              <a:buFont typeface="Arial"/>
              <a:buNone/>
            </a:pPr>
            <a:r>
              <a:rPr b="1" lang="en"/>
              <a:t>NO DAMAGE</a:t>
            </a:r>
            <a:r>
              <a:rPr lang="en"/>
              <a:t> - No apparent/observable damage.</a:t>
            </a:r>
            <a:endParaRPr/>
          </a:p>
          <a:p>
            <a:pPr indent="0" lvl="0" marL="0" rtl="0" algn="l">
              <a:lnSpc>
                <a:spcPct val="115000"/>
              </a:lnSpc>
              <a:spcBef>
                <a:spcPts val="1200"/>
              </a:spcBef>
              <a:spcAft>
                <a:spcPts val="0"/>
              </a:spcAft>
              <a:buClr>
                <a:schemeClr val="dk1"/>
              </a:buClr>
              <a:buSzPts val="1100"/>
              <a:buFont typeface="Arial"/>
              <a:buNone/>
            </a:pPr>
            <a:r>
              <a:rPr lang="en"/>
              <a:t> 	 </a:t>
            </a:r>
            <a:r>
              <a:rPr b="1" lang="en"/>
              <a:t>LIGHT </a:t>
            </a:r>
            <a:r>
              <a:rPr lang="en"/>
              <a:t>DAMAGE </a:t>
            </a:r>
            <a:endParaRPr/>
          </a:p>
          <a:p>
            <a:pPr indent="457200" lvl="0" marL="0" rtl="0" algn="l">
              <a:lnSpc>
                <a:spcPct val="115000"/>
              </a:lnSpc>
              <a:spcBef>
                <a:spcPts val="1200"/>
              </a:spcBef>
              <a:spcAft>
                <a:spcPts val="0"/>
              </a:spcAft>
              <a:buClr>
                <a:schemeClr val="dk1"/>
              </a:buClr>
              <a:buSzPts val="1100"/>
              <a:buFont typeface="Arial"/>
              <a:buNone/>
            </a:pPr>
            <a:r>
              <a:rPr lang="en"/>
              <a:t> </a:t>
            </a:r>
            <a:r>
              <a:rPr b="1" lang="en"/>
              <a:t>MODERATE </a:t>
            </a:r>
            <a:r>
              <a:rPr lang="en"/>
              <a:t>DAMAGE - All spans intact, but one or more spans damaged.</a:t>
            </a:r>
            <a:endParaRPr/>
          </a:p>
          <a:p>
            <a:pPr indent="0" lvl="0" marL="0" rtl="0" algn="l">
              <a:lnSpc>
                <a:spcPct val="115000"/>
              </a:lnSpc>
              <a:spcBef>
                <a:spcPts val="1200"/>
              </a:spcBef>
              <a:spcAft>
                <a:spcPts val="0"/>
              </a:spcAft>
              <a:buClr>
                <a:schemeClr val="dk1"/>
              </a:buClr>
              <a:buSzPts val="1100"/>
              <a:buFont typeface="Arial"/>
              <a:buNone/>
            </a:pPr>
            <a:r>
              <a:rPr lang="en"/>
              <a:t>    	</a:t>
            </a:r>
            <a:r>
              <a:rPr b="1" lang="en"/>
              <a:t>SEVERE </a:t>
            </a:r>
            <a:r>
              <a:rPr lang="en"/>
              <a:t>DAMAGE</a:t>
            </a:r>
            <a:endParaRPr/>
          </a:p>
          <a:p>
            <a:pPr indent="0" lvl="0" marL="0" rtl="0" algn="l">
              <a:lnSpc>
                <a:spcPct val="115000"/>
              </a:lnSpc>
              <a:spcBef>
                <a:spcPts val="1200"/>
              </a:spcBef>
              <a:spcAft>
                <a:spcPts val="0"/>
              </a:spcAft>
              <a:buClr>
                <a:schemeClr val="dk1"/>
              </a:buClr>
              <a:buSzPts val="1100"/>
              <a:buFont typeface="Arial"/>
              <a:buNone/>
            </a:pPr>
            <a:r>
              <a:rPr lang="en"/>
              <a:t> 	 </a:t>
            </a:r>
            <a:r>
              <a:rPr b="1" lang="en"/>
              <a:t>DESTROYED</a:t>
            </a:r>
            <a:endParaRPr b="1"/>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lnSpc>
                <a:spcPct val="115000"/>
              </a:lnSpc>
              <a:spcBef>
                <a:spcPts val="1200"/>
              </a:spcBef>
              <a:spcAft>
                <a:spcPts val="0"/>
              </a:spcAft>
              <a:buClr>
                <a:schemeClr val="dk1"/>
              </a:buClr>
              <a:buSzPts val="1100"/>
              <a:buFont typeface="Arial"/>
              <a:buNone/>
            </a:pPr>
            <a:r>
              <a:rPr b="1" lang="en"/>
              <a:t>Confidence </a:t>
            </a:r>
            <a:r>
              <a:rPr lang="en"/>
              <a:t>is based on 3 levels</a:t>
            </a:r>
            <a:endParaRPr/>
          </a:p>
          <a:p>
            <a:pPr indent="457200" lvl="0" marL="0" rtl="0" algn="l">
              <a:lnSpc>
                <a:spcPct val="115000"/>
              </a:lnSpc>
              <a:spcBef>
                <a:spcPts val="1200"/>
              </a:spcBef>
              <a:spcAft>
                <a:spcPts val="0"/>
              </a:spcAft>
              <a:buClr>
                <a:schemeClr val="dk1"/>
              </a:buClr>
              <a:buSzPts val="1100"/>
              <a:buFont typeface="Arial"/>
              <a:buNone/>
            </a:pPr>
            <a:r>
              <a:rPr b="1" lang="en"/>
              <a:t>confirmed </a:t>
            </a:r>
            <a:r>
              <a:rPr lang="en"/>
              <a:t>— clear, direct visual evidence (</a:t>
            </a:r>
            <a:r>
              <a:rPr b="1" lang="en"/>
              <a:t>&gt;= 95</a:t>
            </a:r>
            <a:r>
              <a:rPr lang="en"/>
              <a:t> percent confidence)</a:t>
            </a:r>
            <a:endParaRPr/>
          </a:p>
          <a:p>
            <a:pPr indent="457200" lvl="0" marL="0" rtl="0" algn="l">
              <a:lnSpc>
                <a:spcPct val="115000"/>
              </a:lnSpc>
              <a:spcBef>
                <a:spcPts val="1200"/>
              </a:spcBef>
              <a:spcAft>
                <a:spcPts val="0"/>
              </a:spcAft>
              <a:buClr>
                <a:schemeClr val="dk1"/>
              </a:buClr>
              <a:buSzPts val="1100"/>
              <a:buFont typeface="Arial"/>
              <a:buNone/>
            </a:pPr>
            <a:r>
              <a:rPr b="1" lang="en"/>
              <a:t>probable </a:t>
            </a:r>
            <a:r>
              <a:rPr lang="en"/>
              <a:t>— visible but partially obscured or ambiguous (</a:t>
            </a:r>
            <a:r>
              <a:rPr b="1" lang="en"/>
              <a:t>50 to 94 </a:t>
            </a:r>
            <a:r>
              <a:rPr lang="en"/>
              <a:t>percent confidence)</a:t>
            </a:r>
            <a:endParaRPr/>
          </a:p>
          <a:p>
            <a:pPr indent="457200" lvl="0" marL="0" rtl="0" algn="l">
              <a:lnSpc>
                <a:spcPct val="115000"/>
              </a:lnSpc>
              <a:spcBef>
                <a:spcPts val="1200"/>
              </a:spcBef>
              <a:spcAft>
                <a:spcPts val="0"/>
              </a:spcAft>
              <a:buClr>
                <a:schemeClr val="dk1"/>
              </a:buClr>
              <a:buSzPts val="1100"/>
              <a:buFont typeface="Arial"/>
              <a:buNone/>
            </a:pPr>
            <a:r>
              <a:rPr b="1" lang="en"/>
              <a:t>possible </a:t>
            </a:r>
            <a:r>
              <a:rPr lang="en"/>
              <a:t>— weak or limited visual indicators (</a:t>
            </a:r>
            <a:r>
              <a:rPr b="1" lang="en"/>
              <a:t>&lt;50</a:t>
            </a:r>
            <a:r>
              <a:rPr lang="en"/>
              <a:t> percent confidence</a:t>
            </a:r>
            <a:endParaRPr i="1"/>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c3f8ab9a51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g3c3f8ab9a51_0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rPr lang="en"/>
              <a:t>Phase 2 and Phase 3 are where BDA stops being an image problem. </a:t>
            </a:r>
            <a:r>
              <a:rPr b="1" lang="en"/>
              <a:t>Phase 2 estimates functional damage at the scene level</a:t>
            </a:r>
            <a:r>
              <a:rPr lang="en"/>
              <a:t> and requires all source fusion over time. </a:t>
            </a:r>
            <a:r>
              <a:rPr b="1" lang="en"/>
              <a:t>Phase 3</a:t>
            </a:r>
            <a:r>
              <a:rPr lang="en"/>
              <a:t> </a:t>
            </a:r>
            <a:r>
              <a:rPr b="1" lang="en"/>
              <a:t>rolls that forward</a:t>
            </a:r>
            <a:r>
              <a:rPr lang="en"/>
              <a:t> into target system impact, recuperation time, re attack recommendation, and task assessment</a:t>
            </a:r>
            <a:r>
              <a:rPr b="1" lang="en"/>
              <a:t> tied to mission Measures of Effectiveness and OPORDs</a:t>
            </a:r>
            <a:r>
              <a:rPr lang="en"/>
              <a:t>. A </a:t>
            </a:r>
            <a:r>
              <a:rPr b="1" lang="en"/>
              <a:t>VLM is not viable for Phase 2–3 from imagery</a:t>
            </a:r>
            <a:r>
              <a:rPr lang="en"/>
              <a:t> because </a:t>
            </a:r>
            <a:r>
              <a:rPr b="1" lang="en"/>
              <a:t>functional effects are often non observable</a:t>
            </a:r>
            <a:r>
              <a:rPr lang="en"/>
              <a:t> and the conclusions depend on fused intelligence and mission context. If forced, it will either stay generic or over infer and produce non defensible outputs.</a:t>
            </a:r>
            <a:endParaRPr/>
          </a:p>
          <a:p>
            <a:pPr indent="0" lvl="0" marL="0" rtl="0" algn="l">
              <a:lnSpc>
                <a:spcPct val="115000"/>
              </a:lnSpc>
              <a:spcBef>
                <a:spcPts val="1200"/>
              </a:spcBef>
              <a:spcAft>
                <a:spcPts val="0"/>
              </a:spcAft>
              <a:buSzPts val="1100"/>
              <a:buNone/>
            </a:pPr>
            <a:r>
              <a:t/>
            </a:r>
            <a:endParaRPr/>
          </a:p>
          <a:p>
            <a:pPr indent="0" lvl="0" marL="0" rtl="0" algn="l">
              <a:lnSpc>
                <a:spcPct val="115000"/>
              </a:lnSpc>
              <a:spcBef>
                <a:spcPts val="1200"/>
              </a:spcBef>
              <a:spcAft>
                <a:spcPts val="1200"/>
              </a:spcAft>
              <a:buSzPts val="1100"/>
              <a:buNone/>
            </a:pPr>
            <a:r>
              <a:rPr lang="en"/>
              <a:t>Pass to </a:t>
            </a:r>
            <a:r>
              <a:rPr b="1" lang="en"/>
              <a:t>Carlos</a:t>
            </a:r>
            <a:endParaRPr b="1"/>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c99d2328b3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g3c99d2328b3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Our system automates Phase 1 of the BDA process and includes limited Phase 2 functionality when the image supports it. This slide shows that transformation: raw image in, structured JSON assessment out, with categories, labels, and confidence scores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c99d2328b3_3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g3c99d2328b3_3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Our system automates Phase 1 of the BDA process. This slide shows that transformation: raw image in, structured JSON assessment out, with categories, labels, and confidence scores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c3f8ab9a51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g3c3f8ab9a51_0_1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c449aa83fe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c449aa83f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We’ve collected 100 open‑source images that cover a wide range of real conflict environments.         This gives us a strong starting point for testing and improving our workflow before we scale up.          We focused on capturing variety so the dataset reflects the unpredictable nature of real scenes.                </a:t>
            </a:r>
            <a:r>
              <a:rPr lang="en">
                <a:solidFill>
                  <a:schemeClr val="dk1"/>
                </a:solidFill>
              </a:rPr>
              <a:t> Each image is given a  label (01 - 100) and is sorted in a spreadsheet by major category, and minor if it applies.                The data is then input into RoboFlow to manually annotate labels and bounding boxes.               Finally, a human report is created with a damage level being output at the end for each target in the image.</a:t>
            </a:r>
            <a:r>
              <a:rPr lang="en">
                <a:solidFill>
                  <a:schemeClr val="dk1"/>
                </a:solidFill>
              </a:rPr>
              <a:t> That means the dataset isn’t just collected — it’s checked, graded, and ready to use. If an image doesn’t meet our standards, we replace it to keep the dataset clean and reliable. We’re starting with 100 images, but our goal is to grow to 200 and eventually toward around 500. Overall, this pipeline shows we’re building a repeatable process, not just gathering pictures.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c95a0908b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c95a0908b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Currently our dataset is weighted towards military equipment. Across all categories, scenes can contain either a single object or multiple objects.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Left bar is only military equipment with only trucks (22 %), only tanks (38%), and both trucks and tanks (4 %). 64%</a:t>
            </a:r>
            <a:endParaRPr/>
          </a:p>
          <a:p>
            <a:pPr indent="0" lvl="0" marL="0" rtl="0" algn="l">
              <a:spcBef>
                <a:spcPts val="0"/>
              </a:spcBef>
              <a:spcAft>
                <a:spcPts val="0"/>
              </a:spcAft>
              <a:buNone/>
            </a:pPr>
            <a:r>
              <a:rPr lang="en"/>
              <a:t>The middle bar is just images of buildings (27 %)</a:t>
            </a:r>
            <a:endParaRPr/>
          </a:p>
          <a:p>
            <a:pPr indent="0" lvl="0" marL="0" rtl="0" algn="l">
              <a:spcBef>
                <a:spcPts val="0"/>
              </a:spcBef>
              <a:spcAft>
                <a:spcPts val="0"/>
              </a:spcAft>
              <a:buNone/>
            </a:pPr>
            <a:r>
              <a:rPr lang="en"/>
              <a:t>The right bar is an image that has to have a building in it and also include either a tank (7 %)or a truck (2%) 9%</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c91c67ffeb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c91c67ffeb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Right now in our dataset of 100 images 61 are ground based photos. The set is skewed more towards ground level imagery as an end goal of ours is to deploy on a ground based robotics platform. </a:t>
            </a:r>
            <a:r>
              <a:rPr lang="en"/>
              <a:t>Blue bars represent aerial photos, and green represent ground level.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Hand over to Iggy to talk about the modeling</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c3f8ab9a51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g3c3f8ab9a51_0_1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a:t>We take a post-strike image as input. The first stage uses an object detection model to localize potential targets of interest, such as buildings or military equipment.</a:t>
            </a:r>
            <a:endParaRPr/>
          </a:p>
          <a:p>
            <a:pPr indent="-298450" lvl="0" marL="457200" rtl="0" algn="l">
              <a:lnSpc>
                <a:spcPct val="100000"/>
              </a:lnSpc>
              <a:spcBef>
                <a:spcPts val="0"/>
              </a:spcBef>
              <a:spcAft>
                <a:spcPts val="0"/>
              </a:spcAft>
              <a:buSzPts val="1100"/>
              <a:buChar char="-"/>
            </a:pPr>
            <a:r>
              <a:rPr lang="en"/>
              <a:t>For each detection, the system creates a buffered crop around the object while still retaining the full scene context.</a:t>
            </a:r>
            <a:endParaRPr/>
          </a:p>
          <a:p>
            <a:pPr indent="-298450" lvl="0" marL="457200" rtl="0" algn="l">
              <a:lnSpc>
                <a:spcPct val="100000"/>
              </a:lnSpc>
              <a:spcBef>
                <a:spcPts val="0"/>
              </a:spcBef>
              <a:spcAft>
                <a:spcPts val="0"/>
              </a:spcAft>
              <a:buSzPts val="1100"/>
              <a:buChar char="-"/>
            </a:pPr>
            <a:r>
              <a:rPr lang="en"/>
              <a:t>These crops are then passed to a vision-language model along with doctrinal guidance for that target type. The VLM evaluates the visual evidence and determines the level of damage, confidence level, and supporting reasoning.</a:t>
            </a:r>
            <a:endParaRPr/>
          </a:p>
          <a:p>
            <a:pPr indent="-298450" lvl="0" marL="457200" rtl="0" algn="l">
              <a:lnSpc>
                <a:spcPct val="100000"/>
              </a:lnSpc>
              <a:spcBef>
                <a:spcPts val="0"/>
              </a:spcBef>
              <a:spcAft>
                <a:spcPts val="0"/>
              </a:spcAft>
              <a:buSzPts val="1100"/>
              <a:buChar char="-"/>
            </a:pPr>
            <a:r>
              <a:rPr lang="en"/>
              <a:t>Finally, the outputs for all detected targets are consolidated into a structured JSON report describing what was assessed, where it was located, and the assessed damage category.</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The key idea is separating localization from reasoning so we can independently improve detection and damage assessment models.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c3f8ab9a51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g3c3f8ab9a51_0_1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 major goal of this project is objective evaluation – how do we know how well the model performs?</a:t>
            </a:r>
            <a:endParaRPr/>
          </a:p>
          <a:p>
            <a:pPr indent="0" lvl="0" marL="0" rtl="0" algn="l">
              <a:lnSpc>
                <a:spcPct val="100000"/>
              </a:lnSpc>
              <a:spcBef>
                <a:spcPts val="0"/>
              </a:spcBef>
              <a:spcAft>
                <a:spcPts val="0"/>
              </a:spcAft>
              <a:buSzPts val="1100"/>
              <a:buNone/>
            </a:pPr>
            <a:r>
              <a:t/>
            </a:r>
            <a:endParaRPr/>
          </a:p>
          <a:p>
            <a:pPr indent="-298450" lvl="0" marL="457200" rtl="0" algn="l">
              <a:lnSpc>
                <a:spcPct val="100000"/>
              </a:lnSpc>
              <a:spcBef>
                <a:spcPts val="0"/>
              </a:spcBef>
              <a:spcAft>
                <a:spcPts val="0"/>
              </a:spcAft>
              <a:buSzPts val="1100"/>
              <a:buChar char="-"/>
            </a:pPr>
            <a:r>
              <a:rPr lang="en"/>
              <a:t>First predicted targets are matched to reference targets based on target category and bounding box overlap</a:t>
            </a:r>
            <a:endParaRPr/>
          </a:p>
          <a:p>
            <a:pPr indent="-298450" lvl="0" marL="457200" rtl="0" algn="l">
              <a:lnSpc>
                <a:spcPct val="100000"/>
              </a:lnSpc>
              <a:spcBef>
                <a:spcPts val="0"/>
              </a:spcBef>
              <a:spcAft>
                <a:spcPts val="0"/>
              </a:spcAft>
              <a:buSzPts val="1100"/>
              <a:buChar char="-"/>
            </a:pPr>
            <a:r>
              <a:rPr lang="en"/>
              <a:t>Next, we score the structured attributes of each matched target – the target type, damage level, and confidence (taking into account that some categories are ordinal i.e. “destroyed” is more similar to “severely damaged” than “no damage”)</a:t>
            </a:r>
            <a:endParaRPr/>
          </a:p>
          <a:p>
            <a:pPr indent="-298450" lvl="0" marL="457200" rtl="0" algn="l">
              <a:lnSpc>
                <a:spcPct val="100000"/>
              </a:lnSpc>
              <a:spcBef>
                <a:spcPts val="0"/>
              </a:spcBef>
              <a:spcAft>
                <a:spcPts val="0"/>
              </a:spcAft>
              <a:buSzPts val="1100"/>
              <a:buChar char="-"/>
            </a:pPr>
            <a:r>
              <a:rPr lang="en"/>
              <a:t>We then evaluate the logical quality of each assessment using a language model judge, which scores whether the explanation aligns with the evidence in the reference label.</a:t>
            </a:r>
            <a:endParaRPr/>
          </a:p>
          <a:p>
            <a:pPr indent="-298450" lvl="0" marL="457200" rtl="0" algn="l">
              <a:lnSpc>
                <a:spcPct val="100000"/>
              </a:lnSpc>
              <a:spcBef>
                <a:spcPts val="0"/>
              </a:spcBef>
              <a:spcAft>
                <a:spcPts val="0"/>
              </a:spcAft>
              <a:buSzPts val="1100"/>
              <a:buChar char="-"/>
            </a:pPr>
            <a:r>
              <a:rPr lang="en"/>
              <a:t>Finally, all target scores are aggregated to produce a scene-level score, normalized by the number of reference targets and applying penalties for any false positives or false negatives (targets the model hallucinated or did not match)</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This evaluation pipeline combines detection accuracy, attribute correctness, and logical quality all into a single scene-level metric.</a:t>
            </a:r>
            <a:endParaRPr/>
          </a:p>
          <a:p>
            <a:pPr indent="0" lvl="0" marL="0" rtl="0" algn="l">
              <a:lnSpc>
                <a:spcPct val="100000"/>
              </a:lnSpc>
              <a:spcBef>
                <a:spcPts val="0"/>
              </a:spcBef>
              <a:spcAft>
                <a:spcPts val="0"/>
              </a:spcAft>
              <a:buNone/>
            </a:pPr>
            <a:r>
              <a:rPr lang="en"/>
              <a:t>This allows us to compare different models and configurations objectively.</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c91c67ffe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4" name="Google Shape;274;g3c91c67ffe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6" name="Google Shape;316;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 name="Google Shape;32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c3f8ab9a51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8" name="Google Shape;328;g3c3f8ab9a51_0_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rPr lang="en"/>
              <a:t>The current method by ARL takes a </a:t>
            </a:r>
            <a:r>
              <a:rPr b="1" lang="en"/>
              <a:t>single image</a:t>
            </a:r>
            <a:r>
              <a:rPr lang="en"/>
              <a:t>, feeds it to a </a:t>
            </a:r>
            <a:r>
              <a:rPr b="1" lang="en"/>
              <a:t>VLM</a:t>
            </a:r>
            <a:r>
              <a:rPr lang="en"/>
              <a:t>, and </a:t>
            </a:r>
            <a:r>
              <a:rPr b="1" lang="en"/>
              <a:t>outputs a JSON report</a:t>
            </a:r>
            <a:r>
              <a:rPr lang="en"/>
              <a:t>. </a:t>
            </a:r>
            <a:br>
              <a:rPr lang="en"/>
            </a:br>
            <a:endParaRPr/>
          </a:p>
          <a:p>
            <a:pPr indent="0" lvl="0" marL="0" rtl="0" algn="l">
              <a:lnSpc>
                <a:spcPct val="115000"/>
              </a:lnSpc>
              <a:spcBef>
                <a:spcPts val="1200"/>
              </a:spcBef>
              <a:spcAft>
                <a:spcPts val="0"/>
              </a:spcAft>
              <a:buSzPts val="1100"/>
              <a:buNone/>
            </a:pPr>
            <a:r>
              <a:rPr lang="en"/>
              <a:t>Challenges</a:t>
            </a:r>
            <a:r>
              <a:rPr lang="en"/>
              <a:t> that have been previously faced by the ARL team:</a:t>
            </a:r>
            <a:br>
              <a:rPr lang="en"/>
            </a:br>
            <a:r>
              <a:rPr lang="en"/>
              <a:t>	If the </a:t>
            </a:r>
            <a:r>
              <a:rPr b="1" lang="en"/>
              <a:t>prompt and schema are not aligned to doctrinal definitions</a:t>
            </a:r>
            <a:r>
              <a:rPr lang="en"/>
              <a:t>, phases, and confidence rules, the </a:t>
            </a:r>
            <a:r>
              <a:rPr b="1" lang="en"/>
              <a:t>output can drift</a:t>
            </a:r>
            <a:r>
              <a:rPr lang="en"/>
              <a:t> from while still seeming </a:t>
            </a:r>
            <a:r>
              <a:rPr lang="en"/>
              <a:t>authoritative</a:t>
            </a:r>
            <a:r>
              <a:rPr lang="en"/>
              <a:t>. </a:t>
            </a:r>
            <a:br>
              <a:rPr lang="en"/>
            </a:br>
            <a:r>
              <a:rPr lang="en"/>
              <a:t>	Understanding the </a:t>
            </a:r>
            <a:r>
              <a:rPr b="1" lang="en"/>
              <a:t>Model quality and evaluation is critical</a:t>
            </a:r>
            <a:r>
              <a:rPr lang="en"/>
              <a:t> because you must </a:t>
            </a:r>
            <a:r>
              <a:rPr b="1" lang="en"/>
              <a:t>measure accuracy and calibrate confidence</a:t>
            </a:r>
            <a:r>
              <a:rPr lang="en"/>
              <a:t> on the mission dataset, </a:t>
            </a:r>
            <a:r>
              <a:rPr b="1" lang="en"/>
              <a:t>or mistakes and hallucinations will scale</a:t>
            </a:r>
            <a:r>
              <a:rPr lang="en"/>
              <a:t> fast. </a:t>
            </a:r>
            <a:br>
              <a:rPr lang="en"/>
            </a:br>
            <a:r>
              <a:rPr lang="en"/>
              <a:t>	</a:t>
            </a:r>
            <a:r>
              <a:rPr b="1" lang="en"/>
              <a:t>Jupyter notebooks add delivery</a:t>
            </a:r>
            <a:r>
              <a:rPr lang="en"/>
              <a:t> </a:t>
            </a:r>
            <a:r>
              <a:rPr b="1" lang="en"/>
              <a:t>challenges </a:t>
            </a:r>
            <a:r>
              <a:rPr lang="en"/>
              <a:t>through weak </a:t>
            </a:r>
            <a:r>
              <a:rPr lang="en"/>
              <a:t>repeatability</a:t>
            </a:r>
            <a:r>
              <a:rPr lang="en"/>
              <a:t>, </a:t>
            </a:r>
            <a:r>
              <a:rPr b="1" lang="en"/>
              <a:t>making outputs harder to reproduce</a:t>
            </a:r>
            <a:r>
              <a:rPr lang="en"/>
              <a:t>, audit, and version.</a:t>
            </a:r>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c3f8ab9a51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g3c3f8ab9a51_0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Phase 3 is the target system assessment. It consolidates Phase 1 and Phase 2 reporting over time and estimates system level impact on a deliberate battle rhythm. This is where recuperation time, reattack recommendation, and task assessment require mission context tied to measures of effectiveness and planning products like the OPORD. A VLM is not viable for Phase 3 because answers depend on all source analysis and mission context, not image interpretation. If forced, it will either stay generic or produce non defensible system level conclusions.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c449aa83fe_1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6" name="Google Shape;346;g3c449aa83fe_1_1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d010c0cc3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9" name="Google Shape;409;g3d010c0cc3a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For the purpose of the edge device, the model simply outputs a report and we are done.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However, a major goal of this project is rigorous evaluation – how do we know how well the model performs?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Our evaluation approach uses a custom metric to evaluate all aspects of the report:</a:t>
            </a:r>
            <a:endParaRPr/>
          </a:p>
          <a:p>
            <a:pPr indent="-298450" lvl="0" marL="457200" rtl="0" algn="l">
              <a:lnSpc>
                <a:spcPct val="100000"/>
              </a:lnSpc>
              <a:spcBef>
                <a:spcPts val="0"/>
              </a:spcBef>
              <a:spcAft>
                <a:spcPts val="0"/>
              </a:spcAft>
              <a:buSzPts val="1100"/>
              <a:buChar char="-"/>
            </a:pPr>
            <a:r>
              <a:rPr lang="en"/>
              <a:t>Identifying the presence of individual targets  in the scene</a:t>
            </a:r>
            <a:endParaRPr/>
          </a:p>
          <a:p>
            <a:pPr indent="-298450" lvl="0" marL="457200" rtl="0" algn="l">
              <a:lnSpc>
                <a:spcPct val="100000"/>
              </a:lnSpc>
              <a:spcBef>
                <a:spcPts val="0"/>
              </a:spcBef>
              <a:spcAft>
                <a:spcPts val="0"/>
              </a:spcAft>
              <a:buSzPts val="1100"/>
              <a:buChar char="-"/>
            </a:pPr>
            <a:r>
              <a:rPr lang="en"/>
              <a:t>The correct doctrinal target type, damage level, and confidence level</a:t>
            </a:r>
            <a:endParaRPr/>
          </a:p>
          <a:p>
            <a:pPr indent="-298450" lvl="0" marL="457200" rtl="0" algn="l">
              <a:lnSpc>
                <a:spcPct val="100000"/>
              </a:lnSpc>
              <a:spcBef>
                <a:spcPts val="0"/>
              </a:spcBef>
              <a:spcAft>
                <a:spcPts val="0"/>
              </a:spcAft>
              <a:buSzPts val="1100"/>
              <a:buChar char="-"/>
            </a:pPr>
            <a:r>
              <a:rPr lang="en"/>
              <a:t>The natural language – evaluating the written logic to support these fields</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We use an object matching approach to parse fixed categories such as the target type, damage level, and confidence level.</a:t>
            </a:r>
            <a:endParaRPr/>
          </a:p>
          <a:p>
            <a:pPr indent="0" lvl="0" marL="0" rtl="0" algn="l">
              <a:lnSpc>
                <a:spcPct val="100000"/>
              </a:lnSpc>
              <a:spcBef>
                <a:spcPts val="0"/>
              </a:spcBef>
              <a:spcAft>
                <a:spcPts val="0"/>
              </a:spcAft>
              <a:buNone/>
            </a:pPr>
            <a:r>
              <a:rPr lang="en"/>
              <a:t>We use an llm as a judge approach to evaluate the written logic.</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The final score for each image is the combination of the structured accuracy minus any penalties for hallucinations or missed objects plus the llm as a judge logic quality.</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c3f8ab9a51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9" name="Google Shape;429;g3c3f8ab9a51_0_1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c99d2328b3_3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6" name="Google Shape;436;g3c99d2328b3_3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311708" y="1475200"/>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rgbClr val="125E4C"/>
              </a:buClr>
              <a:buSzPts val="5200"/>
              <a:buNone/>
              <a:defRPr sz="5200">
                <a:solidFill>
                  <a:srgbClr val="125E4C"/>
                </a:solidFil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3" name="Google Shape;13;p2"/>
          <p:cNvSpPr txBox="1"/>
          <p:nvPr>
            <p:ph idx="1" type="subTitle"/>
          </p:nvPr>
        </p:nvSpPr>
        <p:spPr>
          <a:xfrm>
            <a:off x="311700" y="3580250"/>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1"/>
              </a:buClr>
              <a:buSzPts val="2800"/>
              <a:buNone/>
              <a:defRPr sz="2800">
                <a:solidFill>
                  <a:schemeClr val="accent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14" name="Google Shape;14;p2"/>
          <p:cNvPicPr preferRelativeResize="0"/>
          <p:nvPr/>
        </p:nvPicPr>
        <p:blipFill rotWithShape="1">
          <a:blip r:embed="rId2">
            <a:alphaModFix/>
          </a:blip>
          <a:srcRect b="0" l="0" r="0" t="0"/>
          <a:stretch/>
        </p:blipFill>
        <p:spPr>
          <a:xfrm>
            <a:off x="3851639" y="542775"/>
            <a:ext cx="1440725" cy="520950"/>
          </a:xfrm>
          <a:prstGeom prst="rect">
            <a:avLst/>
          </a:prstGeom>
          <a:noFill/>
          <a:ln>
            <a:noFill/>
          </a:ln>
        </p:spPr>
      </p:pic>
      <p:sp>
        <p:nvSpPr>
          <p:cNvPr id="15" name="Google Shape;15;p2"/>
          <p:cNvSpPr txBox="1"/>
          <p:nvPr>
            <p:ph idx="12" type="sldNum"/>
          </p:nvPr>
        </p:nvSpPr>
        <p:spPr>
          <a:xfrm>
            <a:off x="8595308" y="47430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1pPr>
            <a:lvl2pPr indent="0" lvl="1"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2pPr>
            <a:lvl3pPr indent="0" lvl="2"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3pPr>
            <a:lvl4pPr indent="0" lvl="3"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4pPr>
            <a:lvl5pPr indent="0" lvl="4"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5pPr>
            <a:lvl6pPr indent="0" lvl="5"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6pPr>
            <a:lvl7pPr indent="0" lvl="6"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7pPr>
            <a:lvl8pPr indent="0" lvl="7"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8pPr>
            <a:lvl9pPr indent="0" lvl="8"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9pPr>
          </a:lstStyle>
          <a:p>
            <a:pPr indent="0" lvl="0" marL="0" rtl="0" algn="l">
              <a:spcBef>
                <a:spcPts val="0"/>
              </a:spcBef>
              <a:spcAft>
                <a:spcPts val="0"/>
              </a:spcAft>
              <a:buNone/>
            </a:pPr>
            <a:fld id="{00000000-1234-1234-1234-123412341234}" type="slidenum">
              <a:rPr lang="en"/>
              <a:t>‹#›</a:t>
            </a:fld>
            <a:endParaRPr/>
          </a:p>
        </p:txBody>
      </p:sp>
      <p:sp>
        <p:nvSpPr>
          <p:cNvPr id="16" name="Google Shape;16;p2"/>
          <p:cNvSpPr/>
          <p:nvPr/>
        </p:nvSpPr>
        <p:spPr>
          <a:xfrm>
            <a:off x="0" y="4697575"/>
            <a:ext cx="9144000" cy="445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 name="Shape 17"/>
        <p:cNvGrpSpPr/>
        <p:nvPr/>
      </p:nvGrpSpPr>
      <p:grpSpPr>
        <a:xfrm>
          <a:off x="0" y="0"/>
          <a:ext cx="0" cy="0"/>
          <a:chOff x="0" y="0"/>
          <a:chExt cx="0" cy="0"/>
        </a:xfrm>
      </p:grpSpPr>
      <p:sp>
        <p:nvSpPr>
          <p:cNvPr id="18" name="Google Shape;18;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accent1"/>
              </a:buClr>
              <a:buSzPts val="2800"/>
              <a:buNone/>
              <a:defRPr>
                <a:solidFill>
                  <a:schemeClr val="accent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 name="Google Shape;19;p3"/>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0" name="Google Shape;20;p3"/>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1" name="Google Shape;21;p3"/>
          <p:cNvSpPr txBox="1"/>
          <p:nvPr>
            <p:ph idx="12" type="sldNum"/>
          </p:nvPr>
        </p:nvSpPr>
        <p:spPr>
          <a:xfrm>
            <a:off x="8595308" y="47430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1pPr>
            <a:lvl2pPr indent="0" lvl="1"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2pPr>
            <a:lvl3pPr indent="0" lvl="2"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3pPr>
            <a:lvl4pPr indent="0" lvl="3"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4pPr>
            <a:lvl5pPr indent="0" lvl="4"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5pPr>
            <a:lvl6pPr indent="0" lvl="5"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6pPr>
            <a:lvl7pPr indent="0" lvl="6"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7pPr>
            <a:lvl8pPr indent="0" lvl="7"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8pPr>
            <a:lvl9pPr indent="0" lvl="8"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sp>
        <p:nvSpPr>
          <p:cNvPr id="23" name="Google Shape;23;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4" name="Google Shape;24;p4"/>
          <p:cNvSpPr txBox="1"/>
          <p:nvPr>
            <p:ph idx="12" type="sldNum"/>
          </p:nvPr>
        </p:nvSpPr>
        <p:spPr>
          <a:xfrm>
            <a:off x="8595308" y="47430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1pPr>
            <a:lvl2pPr indent="0" lvl="1"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2pPr>
            <a:lvl3pPr indent="0" lvl="2"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3pPr>
            <a:lvl4pPr indent="0" lvl="3"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4pPr>
            <a:lvl5pPr indent="0" lvl="4"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5pPr>
            <a:lvl6pPr indent="0" lvl="5"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6pPr>
            <a:lvl7pPr indent="0" lvl="6"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7pPr>
            <a:lvl8pPr indent="0" lvl="7"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8pPr>
            <a:lvl9pPr indent="0" lvl="8"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accent1"/>
              </a:buClr>
              <a:buSzPts val="2800"/>
              <a:buNone/>
              <a:defRPr>
                <a:solidFill>
                  <a:schemeClr val="accent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8" name="Google Shape;28;p5"/>
          <p:cNvSpPr txBox="1"/>
          <p:nvPr>
            <p:ph idx="12" type="sldNum"/>
          </p:nvPr>
        </p:nvSpPr>
        <p:spPr>
          <a:xfrm>
            <a:off x="8595308" y="47430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1pPr>
            <a:lvl2pPr indent="0" lvl="1"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2pPr>
            <a:lvl3pPr indent="0" lvl="2"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3pPr>
            <a:lvl4pPr indent="0" lvl="3"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4pPr>
            <a:lvl5pPr indent="0" lvl="4"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5pPr>
            <a:lvl6pPr indent="0" lvl="5"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6pPr>
            <a:lvl7pPr indent="0" lvl="6"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7pPr>
            <a:lvl8pPr indent="0" lvl="7"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8pPr>
            <a:lvl9pPr indent="0" lvl="8"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il()">
  <p:cSld name="CUSTOM">
    <p:bg>
      <p:bgPr>
        <a:solidFill>
          <a:schemeClr val="lt2"/>
        </a:solidFill>
      </p:bgPr>
    </p:bg>
    <p:spTree>
      <p:nvGrpSpPr>
        <p:cNvPr id="29" name="Shape 29"/>
        <p:cNvGrpSpPr/>
        <p:nvPr/>
      </p:nvGrpSpPr>
      <p:grpSpPr>
        <a:xfrm>
          <a:off x="0" y="0"/>
          <a:ext cx="0" cy="0"/>
          <a:chOff x="0" y="0"/>
          <a:chExt cx="0" cy="0"/>
        </a:xfrm>
      </p:grpSpPr>
      <p:pic>
        <p:nvPicPr>
          <p:cNvPr id="30" name="Google Shape;30;p6"/>
          <p:cNvPicPr preferRelativeResize="0"/>
          <p:nvPr/>
        </p:nvPicPr>
        <p:blipFill rotWithShape="1">
          <a:blip r:embed="rId2">
            <a:alphaModFix/>
          </a:blip>
          <a:srcRect b="0" l="0" r="0" t="0"/>
          <a:stretch/>
        </p:blipFill>
        <p:spPr>
          <a:xfrm>
            <a:off x="3749731" y="2274428"/>
            <a:ext cx="1644550" cy="594650"/>
          </a:xfrm>
          <a:prstGeom prst="rect">
            <a:avLst/>
          </a:prstGeom>
          <a:noFill/>
          <a:ln>
            <a:noFill/>
          </a:ln>
        </p:spPr>
      </p:pic>
      <p:sp>
        <p:nvSpPr>
          <p:cNvPr id="31" name="Google Shape;31;p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accent1"/>
              </a:buClr>
              <a:buSzPts val="2800"/>
              <a:buNone/>
              <a:defRPr>
                <a:solidFill>
                  <a:schemeClr val="accent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4" name="Google Shape;34;p7"/>
          <p:cNvSpPr txBox="1"/>
          <p:nvPr>
            <p:ph idx="12" type="sldNum"/>
          </p:nvPr>
        </p:nvSpPr>
        <p:spPr>
          <a:xfrm>
            <a:off x="8595308" y="47430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1pPr>
            <a:lvl2pPr indent="0" lvl="1"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2pPr>
            <a:lvl3pPr indent="0" lvl="2"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3pPr>
            <a:lvl4pPr indent="0" lvl="3"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4pPr>
            <a:lvl5pPr indent="0" lvl="4"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5pPr>
            <a:lvl6pPr indent="0" lvl="5"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6pPr>
            <a:lvl7pPr indent="0" lvl="6"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7pPr>
            <a:lvl8pPr indent="0" lvl="7"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8pPr>
            <a:lvl9pPr indent="0" lvl="8"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5" name="Shape 35"/>
        <p:cNvGrpSpPr/>
        <p:nvPr/>
      </p:nvGrpSpPr>
      <p:grpSpPr>
        <a:xfrm>
          <a:off x="0" y="0"/>
          <a:ext cx="0" cy="0"/>
          <a:chOff x="0" y="0"/>
          <a:chExt cx="0" cy="0"/>
        </a:xfrm>
      </p:grpSpPr>
      <p:sp>
        <p:nvSpPr>
          <p:cNvPr id="36" name="Google Shape;36;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accent1"/>
              </a:buClr>
              <a:buSzPts val="2400"/>
              <a:buNone/>
              <a:defRPr sz="2400">
                <a:solidFill>
                  <a:schemeClr val="accent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7" name="Google Shape;37;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8" name="Google Shape;38;p8"/>
          <p:cNvSpPr txBox="1"/>
          <p:nvPr>
            <p:ph idx="12" type="sldNum"/>
          </p:nvPr>
        </p:nvSpPr>
        <p:spPr>
          <a:xfrm>
            <a:off x="8595308" y="47430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1pPr>
            <a:lvl2pPr indent="0" lvl="1"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2pPr>
            <a:lvl3pPr indent="0" lvl="2"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3pPr>
            <a:lvl4pPr indent="0" lvl="3"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4pPr>
            <a:lvl5pPr indent="0" lvl="4"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5pPr>
            <a:lvl6pPr indent="0" lvl="5"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6pPr>
            <a:lvl7pPr indent="0" lvl="6"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7pPr>
            <a:lvl8pPr indent="0" lvl="7"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8pPr>
            <a:lvl9pPr indent="0" lvl="8"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125E4C"/>
              </a:buClr>
              <a:buSzPts val="4800"/>
              <a:buNone/>
              <a:defRPr sz="4800">
                <a:solidFill>
                  <a:srgbClr val="125E4C"/>
                </a:solidFill>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1" name="Google Shape;41;p9"/>
          <p:cNvSpPr txBox="1"/>
          <p:nvPr>
            <p:ph idx="12" type="sldNum"/>
          </p:nvPr>
        </p:nvSpPr>
        <p:spPr>
          <a:xfrm>
            <a:off x="8595308" y="47430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1pPr>
            <a:lvl2pPr indent="0" lvl="1"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2pPr>
            <a:lvl3pPr indent="0" lvl="2"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3pPr>
            <a:lvl4pPr indent="0" lvl="3"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4pPr>
            <a:lvl5pPr indent="0" lvl="4"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5pPr>
            <a:lvl6pPr indent="0" lvl="5"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6pPr>
            <a:lvl7pPr indent="0" lvl="6"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7pPr>
            <a:lvl8pPr indent="0" lvl="7"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8pPr>
            <a:lvl9pPr indent="0" lvl="8"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rgbClr val="125E4C"/>
              </a:buClr>
              <a:buSzPts val="4200"/>
              <a:buNone/>
              <a:defRPr sz="4200">
                <a:solidFill>
                  <a:srgbClr val="125E4C"/>
                </a:solidFill>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5" name="Google Shape;45;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1"/>
              </a:buClr>
              <a:buSzPts val="2100"/>
              <a:buNone/>
              <a:defRPr sz="2100">
                <a:solidFill>
                  <a:schemeClr val="accent1"/>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6" name="Google Shape;46;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7" name="Google Shape;47;p10"/>
          <p:cNvSpPr txBox="1"/>
          <p:nvPr>
            <p:ph idx="12" type="sldNum"/>
          </p:nvPr>
        </p:nvSpPr>
        <p:spPr>
          <a:xfrm>
            <a:off x="8595308" y="47430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1pPr>
            <a:lvl2pPr indent="0" lvl="1"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2pPr>
            <a:lvl3pPr indent="0" lvl="2"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3pPr>
            <a:lvl4pPr indent="0" lvl="3"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4pPr>
            <a:lvl5pPr indent="0" lvl="4"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5pPr>
            <a:lvl6pPr indent="0" lvl="5"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6pPr>
            <a:lvl7pPr indent="0" lvl="6"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7pPr>
            <a:lvl8pPr indent="0" lvl="7"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8pPr>
            <a:lvl9pPr indent="0" lvl="8"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50" name="Google Shape;50;p11"/>
          <p:cNvSpPr txBox="1"/>
          <p:nvPr>
            <p:ph idx="12" type="sldNum"/>
          </p:nvPr>
        </p:nvSpPr>
        <p:spPr>
          <a:xfrm>
            <a:off x="8595308" y="47430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1pPr>
            <a:lvl2pPr indent="0" lvl="1"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2pPr>
            <a:lvl3pPr indent="0" lvl="2"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3pPr>
            <a:lvl4pPr indent="0" lvl="3"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4pPr>
            <a:lvl5pPr indent="0" lvl="4"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5pPr>
            <a:lvl6pPr indent="0" lvl="5"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6pPr>
            <a:lvl7pPr indent="0" lvl="6"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7pPr>
            <a:lvl8pPr indent="0" lvl="7"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8pPr>
            <a:lvl9pPr indent="0" lvl="8"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3" name="Google Shape;53;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4" name="Google Shape;54;p12"/>
          <p:cNvSpPr txBox="1"/>
          <p:nvPr>
            <p:ph idx="12" type="sldNum"/>
          </p:nvPr>
        </p:nvSpPr>
        <p:spPr>
          <a:xfrm>
            <a:off x="8595308" y="47430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1pPr>
            <a:lvl2pPr indent="0" lvl="1"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2pPr>
            <a:lvl3pPr indent="0" lvl="2"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3pPr>
            <a:lvl4pPr indent="0" lvl="3"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4pPr>
            <a:lvl5pPr indent="0" lvl="4"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5pPr>
            <a:lvl6pPr indent="0" lvl="5"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6pPr>
            <a:lvl7pPr indent="0" lvl="6"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7pPr>
            <a:lvl8pPr indent="0" lvl="7"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8pPr>
            <a:lvl9pPr indent="0" lvl="8"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13"/>
          <p:cNvSpPr txBox="1"/>
          <p:nvPr>
            <p:ph idx="12" type="sldNum"/>
          </p:nvPr>
        </p:nvSpPr>
        <p:spPr>
          <a:xfrm>
            <a:off x="8595308" y="47430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1pPr>
            <a:lvl2pPr indent="0" lvl="1"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2pPr>
            <a:lvl3pPr indent="0" lvl="2"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3pPr>
            <a:lvl4pPr indent="0" lvl="3"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4pPr>
            <a:lvl5pPr indent="0" lvl="4"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5pPr>
            <a:lvl6pPr indent="0" lvl="5"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6pPr>
            <a:lvl7pPr indent="0" lvl="6"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7pPr>
            <a:lvl8pPr indent="0" lvl="7"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8pPr>
            <a:lvl9pPr indent="0" lvl="8" marL="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Fira Sans"/>
                <a:ea typeface="Fira Sans"/>
                <a:cs typeface="Fira Sans"/>
                <a:sym typeface="Fira San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solidFill>
          <a:schemeClr val="lt1"/>
        </a:solidFill>
      </p:bgPr>
    </p:bg>
    <p:spTree>
      <p:nvGrpSpPr>
        <p:cNvPr id="57" name="Shape 57"/>
        <p:cNvGrpSpPr/>
        <p:nvPr/>
      </p:nvGrpSpPr>
      <p:grpSpPr>
        <a:xfrm>
          <a:off x="0" y="0"/>
          <a:ext cx="0" cy="0"/>
          <a:chOff x="0" y="0"/>
          <a:chExt cx="0" cy="0"/>
        </a:xfrm>
      </p:grpSpPr>
      <p:sp>
        <p:nvSpPr>
          <p:cNvPr id="58" name="Google Shape;58;p14"/>
          <p:cNvSpPr txBox="1"/>
          <p:nvPr>
            <p:ph type="title"/>
          </p:nvPr>
        </p:nvSpPr>
        <p:spPr>
          <a:xfrm>
            <a:off x="342898" y="171450"/>
            <a:ext cx="8458200" cy="857400"/>
          </a:xfrm>
          <a:prstGeom prst="rect">
            <a:avLst/>
          </a:prstGeom>
          <a:noFill/>
          <a:ln>
            <a:noFill/>
          </a:ln>
        </p:spPr>
        <p:txBody>
          <a:bodyPr anchorCtr="0" anchor="t" bIns="68575" lIns="68575" spcFirstLastPara="1" rIns="68575" wrap="square" tIns="68575">
            <a:normAutofit/>
          </a:bodyPr>
          <a:lstStyle>
            <a:lvl1pPr lvl="0" marR="0" algn="l">
              <a:lnSpc>
                <a:spcPct val="100000"/>
              </a:lnSpc>
              <a:spcBef>
                <a:spcPts val="0"/>
              </a:spcBef>
              <a:spcAft>
                <a:spcPts val="0"/>
              </a:spcAft>
              <a:buSzPts val="2700"/>
              <a:buFont typeface="Arial"/>
              <a:buNone/>
              <a:defRPr b="0" i="0" sz="3600" u="none" cap="none" strike="noStrike">
                <a:latin typeface="Arial"/>
                <a:ea typeface="Arial"/>
                <a:cs typeface="Arial"/>
                <a:sym typeface="Aria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sp>
        <p:nvSpPr>
          <p:cNvPr id="59" name="Google Shape;59;p14"/>
          <p:cNvSpPr txBox="1"/>
          <p:nvPr>
            <p:ph idx="1" type="body"/>
          </p:nvPr>
        </p:nvSpPr>
        <p:spPr>
          <a:xfrm>
            <a:off x="342898" y="1085849"/>
            <a:ext cx="8458200" cy="3771900"/>
          </a:xfrm>
          <a:prstGeom prst="rect">
            <a:avLst/>
          </a:prstGeom>
          <a:noFill/>
          <a:ln>
            <a:noFill/>
          </a:ln>
        </p:spPr>
        <p:txBody>
          <a:bodyPr anchorCtr="0" anchor="t" bIns="68575" lIns="68575" spcFirstLastPara="1" rIns="68575" wrap="square" tIns="68575">
            <a:normAutofit/>
          </a:bodyPr>
          <a:lstStyle>
            <a:lvl1pPr indent="-228600" lvl="0" marL="457200" marR="0" algn="l">
              <a:lnSpc>
                <a:spcPct val="100000"/>
              </a:lnSpc>
              <a:spcBef>
                <a:spcPts val="500"/>
              </a:spcBef>
              <a:spcAft>
                <a:spcPts val="0"/>
              </a:spcAft>
              <a:buClr>
                <a:schemeClr val="dk1"/>
              </a:buClr>
              <a:buSzPts val="2000"/>
              <a:buFont typeface="Arial"/>
              <a:buNone/>
              <a:defRPr b="0" i="0" sz="2700" u="none" cap="none" strike="noStrike">
                <a:solidFill>
                  <a:schemeClr val="dk1"/>
                </a:solidFill>
                <a:latin typeface="Arial"/>
                <a:ea typeface="Arial"/>
                <a:cs typeface="Arial"/>
                <a:sym typeface="Arial"/>
              </a:defRPr>
            </a:lvl1pPr>
            <a:lvl2pPr indent="-228600" lvl="1" marL="914400" marR="0" algn="l">
              <a:lnSpc>
                <a:spcPct val="100000"/>
              </a:lnSpc>
              <a:spcBef>
                <a:spcPts val="400"/>
              </a:spcBef>
              <a:spcAft>
                <a:spcPts val="0"/>
              </a:spcAft>
              <a:buClr>
                <a:schemeClr val="dk1"/>
              </a:buClr>
              <a:buSzPts val="1500"/>
              <a:buFont typeface="Arial"/>
              <a:buNone/>
              <a:defRPr b="0" i="0" sz="2000" u="none" cap="none" strike="noStrike">
                <a:solidFill>
                  <a:schemeClr val="dk1"/>
                </a:solidFill>
                <a:latin typeface="Arial"/>
                <a:ea typeface="Arial"/>
                <a:cs typeface="Arial"/>
                <a:sym typeface="Arial"/>
              </a:defRPr>
            </a:lvl2pPr>
            <a:lvl3pPr indent="-228600" lvl="2" marL="1371600" marR="0" algn="l">
              <a:lnSpc>
                <a:spcPct val="100000"/>
              </a:lnSpc>
              <a:spcBef>
                <a:spcPts val="40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3pPr>
            <a:lvl4pPr indent="-228600" lvl="3" marL="1828800" marR="0" algn="l">
              <a:lnSpc>
                <a:spcPct val="100000"/>
              </a:lnSpc>
              <a:spcBef>
                <a:spcPts val="300"/>
              </a:spcBef>
              <a:spcAft>
                <a:spcPts val="0"/>
              </a:spcAft>
              <a:buClr>
                <a:schemeClr val="dk1"/>
              </a:buClr>
              <a:buSzPts val="1200"/>
              <a:buFont typeface="Arial"/>
              <a:buNone/>
              <a:defRPr b="0" i="0" sz="1600" u="none" cap="none" strike="noStrike">
                <a:solidFill>
                  <a:schemeClr val="dk1"/>
                </a:solidFill>
                <a:latin typeface="Arial"/>
                <a:ea typeface="Arial"/>
                <a:cs typeface="Arial"/>
                <a:sym typeface="Arial"/>
              </a:defRPr>
            </a:lvl4pPr>
            <a:lvl5pPr indent="-228600" lvl="4" marL="2286000" marR="0" algn="l">
              <a:lnSpc>
                <a:spcPct val="100000"/>
              </a:lnSpc>
              <a:spcBef>
                <a:spcPts val="300"/>
              </a:spcBef>
              <a:spcAft>
                <a:spcPts val="0"/>
              </a:spcAft>
              <a:buClr>
                <a:schemeClr val="dk1"/>
              </a:buClr>
              <a:buSzPts val="1200"/>
              <a:buFont typeface="Arial"/>
              <a:buNone/>
              <a:defRPr b="0" i="0" sz="1600" u="none" cap="none" strike="noStrike">
                <a:solidFill>
                  <a:schemeClr val="dk1"/>
                </a:solidFill>
                <a:latin typeface="Arial"/>
                <a:ea typeface="Arial"/>
                <a:cs typeface="Arial"/>
                <a:sym typeface="Arial"/>
              </a:defRPr>
            </a:lvl5pPr>
            <a:lvl6pPr indent="-228600" lvl="5" marL="2743200" marR="0" algn="l">
              <a:lnSpc>
                <a:spcPct val="100000"/>
              </a:lnSpc>
              <a:spcBef>
                <a:spcPts val="400"/>
              </a:spcBef>
              <a:spcAft>
                <a:spcPts val="0"/>
              </a:spcAft>
              <a:buClr>
                <a:schemeClr val="dk1"/>
              </a:buClr>
              <a:buSzPts val="1500"/>
              <a:buFont typeface="Arial"/>
              <a:buNone/>
              <a:defRPr b="0" i="0" sz="2000" u="none" cap="none" strike="noStrike">
                <a:solidFill>
                  <a:schemeClr val="dk1"/>
                </a:solidFill>
                <a:latin typeface="Arial"/>
                <a:ea typeface="Arial"/>
                <a:cs typeface="Arial"/>
                <a:sym typeface="Arial"/>
              </a:defRPr>
            </a:lvl6pPr>
            <a:lvl7pPr indent="-228600" lvl="6" marL="3200400" marR="0" algn="l">
              <a:lnSpc>
                <a:spcPct val="100000"/>
              </a:lnSpc>
              <a:spcBef>
                <a:spcPts val="400"/>
              </a:spcBef>
              <a:spcAft>
                <a:spcPts val="0"/>
              </a:spcAft>
              <a:buClr>
                <a:schemeClr val="dk1"/>
              </a:buClr>
              <a:buSzPts val="1500"/>
              <a:buFont typeface="Arial"/>
              <a:buNone/>
              <a:defRPr b="0" i="0" sz="2000" u="none" cap="none" strike="noStrike">
                <a:solidFill>
                  <a:schemeClr val="dk1"/>
                </a:solidFill>
                <a:latin typeface="Arial"/>
                <a:ea typeface="Arial"/>
                <a:cs typeface="Arial"/>
                <a:sym typeface="Arial"/>
              </a:defRPr>
            </a:lvl7pPr>
            <a:lvl8pPr indent="-228600" lvl="7" marL="3657600" marR="0" algn="l">
              <a:lnSpc>
                <a:spcPct val="100000"/>
              </a:lnSpc>
              <a:spcBef>
                <a:spcPts val="400"/>
              </a:spcBef>
              <a:spcAft>
                <a:spcPts val="0"/>
              </a:spcAft>
              <a:buClr>
                <a:schemeClr val="dk1"/>
              </a:buClr>
              <a:buSzPts val="1500"/>
              <a:buFont typeface="Arial"/>
              <a:buNone/>
              <a:defRPr b="0" i="0" sz="2000" u="none" cap="none" strike="noStrike">
                <a:solidFill>
                  <a:schemeClr val="dk1"/>
                </a:solidFill>
                <a:latin typeface="Arial"/>
                <a:ea typeface="Arial"/>
                <a:cs typeface="Arial"/>
                <a:sym typeface="Arial"/>
              </a:defRPr>
            </a:lvl8pPr>
            <a:lvl9pPr indent="-228600" lvl="8" marL="4114800" marR="0" algn="l">
              <a:lnSpc>
                <a:spcPct val="100000"/>
              </a:lnSpc>
              <a:spcBef>
                <a:spcPts val="400"/>
              </a:spcBef>
              <a:spcAft>
                <a:spcPts val="0"/>
              </a:spcAft>
              <a:buClr>
                <a:schemeClr val="dk1"/>
              </a:buClr>
              <a:buSzPts val="1500"/>
              <a:buFont typeface="Arial"/>
              <a:buNone/>
              <a:defRPr b="0" i="0" sz="2000" u="none" cap="none" strike="noStrike">
                <a:solidFill>
                  <a:schemeClr val="dk1"/>
                </a:solidFill>
                <a:latin typeface="Arial"/>
                <a:ea typeface="Arial"/>
                <a:cs typeface="Arial"/>
                <a:sym typeface="Arial"/>
              </a:defRPr>
            </a:lvl9pPr>
          </a:lstStyle>
          <a:p/>
        </p:txBody>
      </p:sp>
      <p:sp>
        <p:nvSpPr>
          <p:cNvPr id="60" name="Google Shape;60;p14"/>
          <p:cNvSpPr txBox="1"/>
          <p:nvPr>
            <p:ph idx="12" type="sldNum"/>
          </p:nvPr>
        </p:nvSpPr>
        <p:spPr>
          <a:xfrm>
            <a:off x="8556784" y="4749851"/>
            <a:ext cx="548700" cy="393600"/>
          </a:xfrm>
          <a:prstGeom prst="rect">
            <a:avLst/>
          </a:prstGeom>
          <a:noFill/>
          <a:ln>
            <a:noFill/>
          </a:ln>
        </p:spPr>
        <p:txBody>
          <a:bodyPr anchorCtr="0" anchor="t" bIns="68575" lIns="68575" spcFirstLastPara="1" rIns="68575" wrap="square" tIns="68575">
            <a:noAutofit/>
          </a:bodyPr>
          <a:lstStyle>
            <a:lvl1pPr indent="0" lvl="0" marL="0" marR="0" rtl="0" algn="r">
              <a:lnSpc>
                <a:spcPct val="100000"/>
              </a:lnSpc>
              <a:spcBef>
                <a:spcPts val="0"/>
              </a:spcBef>
              <a:spcAft>
                <a:spcPts val="0"/>
              </a:spcAft>
              <a:buClr>
                <a:schemeClr val="dk1"/>
              </a:buClr>
              <a:buSzPts val="1400"/>
              <a:buFont typeface="Quattrocento Sans"/>
              <a:buNone/>
              <a:defRPr b="0" i="0" sz="1400" u="none" cap="none" strike="noStrike">
                <a:solidFill>
                  <a:schemeClr val="dk1"/>
                </a:solidFill>
                <a:latin typeface="Quattrocento Sans"/>
                <a:ea typeface="Quattrocento Sans"/>
                <a:cs typeface="Quattrocento Sans"/>
                <a:sym typeface="Quattrocento Sans"/>
              </a:defRPr>
            </a:lvl1pPr>
            <a:lvl2pPr indent="0" lvl="1" marL="0" marR="0" rtl="0" algn="r">
              <a:lnSpc>
                <a:spcPct val="100000"/>
              </a:lnSpc>
              <a:spcBef>
                <a:spcPts val="0"/>
              </a:spcBef>
              <a:spcAft>
                <a:spcPts val="0"/>
              </a:spcAft>
              <a:buClr>
                <a:schemeClr val="dk1"/>
              </a:buClr>
              <a:buSzPts val="1400"/>
              <a:buFont typeface="Quattrocento Sans"/>
              <a:buNone/>
              <a:defRPr b="0" i="0" sz="1400" u="none" cap="none" strike="noStrike">
                <a:solidFill>
                  <a:schemeClr val="dk1"/>
                </a:solidFill>
                <a:latin typeface="Quattrocento Sans"/>
                <a:ea typeface="Quattrocento Sans"/>
                <a:cs typeface="Quattrocento Sans"/>
                <a:sym typeface="Quattrocento Sans"/>
              </a:defRPr>
            </a:lvl2pPr>
            <a:lvl3pPr indent="0" lvl="2" marL="0" marR="0" rtl="0" algn="r">
              <a:lnSpc>
                <a:spcPct val="100000"/>
              </a:lnSpc>
              <a:spcBef>
                <a:spcPts val="0"/>
              </a:spcBef>
              <a:spcAft>
                <a:spcPts val="0"/>
              </a:spcAft>
              <a:buClr>
                <a:schemeClr val="dk1"/>
              </a:buClr>
              <a:buSzPts val="1400"/>
              <a:buFont typeface="Quattrocento Sans"/>
              <a:buNone/>
              <a:defRPr b="0" i="0" sz="1400" u="none" cap="none" strike="noStrike">
                <a:solidFill>
                  <a:schemeClr val="dk1"/>
                </a:solidFill>
                <a:latin typeface="Quattrocento Sans"/>
                <a:ea typeface="Quattrocento Sans"/>
                <a:cs typeface="Quattrocento Sans"/>
                <a:sym typeface="Quattrocento Sans"/>
              </a:defRPr>
            </a:lvl3pPr>
            <a:lvl4pPr indent="0" lvl="3" marL="0" marR="0" rtl="0" algn="r">
              <a:lnSpc>
                <a:spcPct val="100000"/>
              </a:lnSpc>
              <a:spcBef>
                <a:spcPts val="0"/>
              </a:spcBef>
              <a:spcAft>
                <a:spcPts val="0"/>
              </a:spcAft>
              <a:buClr>
                <a:schemeClr val="dk1"/>
              </a:buClr>
              <a:buSzPts val="1400"/>
              <a:buFont typeface="Quattrocento Sans"/>
              <a:buNone/>
              <a:defRPr b="0" i="0" sz="1400" u="none" cap="none" strike="noStrike">
                <a:solidFill>
                  <a:schemeClr val="dk1"/>
                </a:solidFill>
                <a:latin typeface="Quattrocento Sans"/>
                <a:ea typeface="Quattrocento Sans"/>
                <a:cs typeface="Quattrocento Sans"/>
                <a:sym typeface="Quattrocento Sans"/>
              </a:defRPr>
            </a:lvl4pPr>
            <a:lvl5pPr indent="0" lvl="4" marL="0" marR="0" rtl="0" algn="r">
              <a:lnSpc>
                <a:spcPct val="100000"/>
              </a:lnSpc>
              <a:spcBef>
                <a:spcPts val="0"/>
              </a:spcBef>
              <a:spcAft>
                <a:spcPts val="0"/>
              </a:spcAft>
              <a:buClr>
                <a:schemeClr val="dk1"/>
              </a:buClr>
              <a:buSzPts val="1400"/>
              <a:buFont typeface="Quattrocento Sans"/>
              <a:buNone/>
              <a:defRPr b="0" i="0" sz="1400" u="none" cap="none" strike="noStrike">
                <a:solidFill>
                  <a:schemeClr val="dk1"/>
                </a:solidFill>
                <a:latin typeface="Quattrocento Sans"/>
                <a:ea typeface="Quattrocento Sans"/>
                <a:cs typeface="Quattrocento Sans"/>
                <a:sym typeface="Quattrocento Sans"/>
              </a:defRPr>
            </a:lvl5pPr>
            <a:lvl6pPr indent="0" lvl="5" marL="0" marR="0" rtl="0" algn="r">
              <a:lnSpc>
                <a:spcPct val="100000"/>
              </a:lnSpc>
              <a:spcBef>
                <a:spcPts val="0"/>
              </a:spcBef>
              <a:spcAft>
                <a:spcPts val="0"/>
              </a:spcAft>
              <a:buClr>
                <a:schemeClr val="dk1"/>
              </a:buClr>
              <a:buSzPts val="1400"/>
              <a:buFont typeface="Quattrocento Sans"/>
              <a:buNone/>
              <a:defRPr b="0" i="0" sz="1400" u="none" cap="none" strike="noStrike">
                <a:solidFill>
                  <a:schemeClr val="dk1"/>
                </a:solidFill>
                <a:latin typeface="Quattrocento Sans"/>
                <a:ea typeface="Quattrocento Sans"/>
                <a:cs typeface="Quattrocento Sans"/>
                <a:sym typeface="Quattrocento Sans"/>
              </a:defRPr>
            </a:lvl6pPr>
            <a:lvl7pPr indent="0" lvl="6" marL="0" marR="0" rtl="0" algn="r">
              <a:lnSpc>
                <a:spcPct val="100000"/>
              </a:lnSpc>
              <a:spcBef>
                <a:spcPts val="0"/>
              </a:spcBef>
              <a:spcAft>
                <a:spcPts val="0"/>
              </a:spcAft>
              <a:buClr>
                <a:schemeClr val="dk1"/>
              </a:buClr>
              <a:buSzPts val="1400"/>
              <a:buFont typeface="Quattrocento Sans"/>
              <a:buNone/>
              <a:defRPr b="0" i="0" sz="1400" u="none" cap="none" strike="noStrike">
                <a:solidFill>
                  <a:schemeClr val="dk1"/>
                </a:solidFill>
                <a:latin typeface="Quattrocento Sans"/>
                <a:ea typeface="Quattrocento Sans"/>
                <a:cs typeface="Quattrocento Sans"/>
                <a:sym typeface="Quattrocento Sans"/>
              </a:defRPr>
            </a:lvl7pPr>
            <a:lvl8pPr indent="0" lvl="7" marL="0" marR="0" rtl="0" algn="r">
              <a:lnSpc>
                <a:spcPct val="100000"/>
              </a:lnSpc>
              <a:spcBef>
                <a:spcPts val="0"/>
              </a:spcBef>
              <a:spcAft>
                <a:spcPts val="0"/>
              </a:spcAft>
              <a:buClr>
                <a:schemeClr val="dk1"/>
              </a:buClr>
              <a:buSzPts val="1400"/>
              <a:buFont typeface="Quattrocento Sans"/>
              <a:buNone/>
              <a:defRPr b="0" i="0" sz="1400" u="none" cap="none" strike="noStrike">
                <a:solidFill>
                  <a:schemeClr val="dk1"/>
                </a:solidFill>
                <a:latin typeface="Quattrocento Sans"/>
                <a:ea typeface="Quattrocento Sans"/>
                <a:cs typeface="Quattrocento Sans"/>
                <a:sym typeface="Quattrocento Sans"/>
              </a:defRPr>
            </a:lvl8pPr>
            <a:lvl9pPr indent="0" lvl="8" marL="0" marR="0" rtl="0" algn="r">
              <a:lnSpc>
                <a:spcPct val="100000"/>
              </a:lnSpc>
              <a:spcBef>
                <a:spcPts val="0"/>
              </a:spcBef>
              <a:spcAft>
                <a:spcPts val="0"/>
              </a:spcAft>
              <a:buClr>
                <a:schemeClr val="dk1"/>
              </a:buClr>
              <a:buSzPts val="1400"/>
              <a:buFont typeface="Quattrocento Sans"/>
              <a:buNone/>
              <a:defRPr b="0" i="0" sz="1400" u="none" cap="none" strike="noStrike">
                <a:solidFill>
                  <a:schemeClr val="dk1"/>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ransition spd="slow">
    <p:fade/>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theme" Target="../theme/theme2.xml"/><Relationship Id="rId14" Type="http://schemas.openxmlformats.org/officeDocument/2006/relationships/slideLayout" Target="../slideLayouts/slideLayout1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0" y="4736275"/>
            <a:ext cx="9420300" cy="4071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 sz="1200"/>
              <a:t>                 </a:t>
            </a:r>
            <a:r>
              <a:rPr b="0" i="0" lang="en" sz="1200" u="none" cap="none" strike="noStrike">
                <a:solidFill>
                  <a:srgbClr val="000000"/>
                </a:solidFill>
                <a:latin typeface="Arial"/>
                <a:ea typeface="Arial"/>
                <a:cs typeface="Arial"/>
                <a:sym typeface="Arial"/>
              </a:rPr>
              <a:t>S2</a:t>
            </a:r>
            <a:r>
              <a:rPr lang="en" sz="1200"/>
              <a:t>6</a:t>
            </a:r>
            <a:r>
              <a:rPr b="0" i="0" lang="en" sz="1200" u="none" cap="none" strike="noStrike">
                <a:solidFill>
                  <a:srgbClr val="000000"/>
                </a:solidFill>
                <a:latin typeface="Arial"/>
                <a:ea typeface="Arial"/>
                <a:cs typeface="Arial"/>
                <a:sym typeface="Arial"/>
              </a:rPr>
              <a:t> AI Technicians - Capstone</a:t>
            </a:r>
            <a:endParaRPr b="0" i="0" sz="1200" u="none" cap="none" strike="noStrike">
              <a:solidFill>
                <a:srgbClr val="000000"/>
              </a:solidFill>
              <a:latin typeface="Arial"/>
              <a:ea typeface="Arial"/>
              <a:cs typeface="Arial"/>
              <a:sym typeface="Arial"/>
            </a:endParaRPr>
          </a:p>
        </p:txBody>
      </p:sp>
      <p:sp>
        <p:nvSpPr>
          <p:cNvPr id="7" name="Google Shape;7;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accent1"/>
              </a:buClr>
              <a:buSzPts val="2800"/>
              <a:buFont typeface="Fira Sans"/>
              <a:buNone/>
              <a:defRPr b="0" i="0" sz="2800" u="none" cap="none" strike="noStrike">
                <a:solidFill>
                  <a:schemeClr val="accent1"/>
                </a:solidFill>
                <a:latin typeface="Fira Sans"/>
                <a:ea typeface="Fira Sans"/>
                <a:cs typeface="Fira Sans"/>
                <a:sym typeface="Fira Sans"/>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8" name="Google Shape;8;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Fira Sans"/>
              <a:buChar char="●"/>
              <a:defRPr b="0" i="0" sz="1800" u="none" cap="none" strike="noStrike">
                <a:solidFill>
                  <a:schemeClr val="dk2"/>
                </a:solidFill>
                <a:latin typeface="Fira Sans"/>
                <a:ea typeface="Fira Sans"/>
                <a:cs typeface="Fira Sans"/>
                <a:sym typeface="Fira Sans"/>
              </a:defRPr>
            </a:lvl1pPr>
            <a:lvl2pPr indent="-317500" lvl="1" marL="914400" marR="0" rtl="0" algn="l">
              <a:lnSpc>
                <a:spcPct val="115000"/>
              </a:lnSpc>
              <a:spcBef>
                <a:spcPts val="0"/>
              </a:spcBef>
              <a:spcAft>
                <a:spcPts val="0"/>
              </a:spcAft>
              <a:buClr>
                <a:schemeClr val="dk2"/>
              </a:buClr>
              <a:buSzPts val="1400"/>
              <a:buFont typeface="Fira Sans"/>
              <a:buChar char="○"/>
              <a:defRPr b="0" i="0" sz="1400" u="none" cap="none" strike="noStrike">
                <a:solidFill>
                  <a:schemeClr val="dk2"/>
                </a:solidFill>
                <a:latin typeface="Fira Sans"/>
                <a:ea typeface="Fira Sans"/>
                <a:cs typeface="Fira Sans"/>
                <a:sym typeface="Fira Sans"/>
              </a:defRPr>
            </a:lvl2pPr>
            <a:lvl3pPr indent="-317500" lvl="2" marL="1371600" marR="0" rtl="0" algn="l">
              <a:lnSpc>
                <a:spcPct val="115000"/>
              </a:lnSpc>
              <a:spcBef>
                <a:spcPts val="0"/>
              </a:spcBef>
              <a:spcAft>
                <a:spcPts val="0"/>
              </a:spcAft>
              <a:buClr>
                <a:schemeClr val="dk2"/>
              </a:buClr>
              <a:buSzPts val="1400"/>
              <a:buFont typeface="Fira Sans"/>
              <a:buChar char="■"/>
              <a:defRPr b="0" i="0" sz="1400" u="none" cap="none" strike="noStrike">
                <a:solidFill>
                  <a:schemeClr val="dk2"/>
                </a:solidFill>
                <a:latin typeface="Fira Sans"/>
                <a:ea typeface="Fira Sans"/>
                <a:cs typeface="Fira Sans"/>
                <a:sym typeface="Fira Sans"/>
              </a:defRPr>
            </a:lvl3pPr>
            <a:lvl4pPr indent="-317500" lvl="3" marL="1828800" marR="0" rtl="0" algn="l">
              <a:lnSpc>
                <a:spcPct val="115000"/>
              </a:lnSpc>
              <a:spcBef>
                <a:spcPts val="0"/>
              </a:spcBef>
              <a:spcAft>
                <a:spcPts val="0"/>
              </a:spcAft>
              <a:buClr>
                <a:schemeClr val="dk2"/>
              </a:buClr>
              <a:buSzPts val="1400"/>
              <a:buFont typeface="Fira Sans"/>
              <a:buChar char="●"/>
              <a:defRPr b="0" i="0" sz="1400" u="none" cap="none" strike="noStrike">
                <a:solidFill>
                  <a:schemeClr val="dk2"/>
                </a:solidFill>
                <a:latin typeface="Fira Sans"/>
                <a:ea typeface="Fira Sans"/>
                <a:cs typeface="Fira Sans"/>
                <a:sym typeface="Fira Sans"/>
              </a:defRPr>
            </a:lvl4pPr>
            <a:lvl5pPr indent="-317500" lvl="4" marL="2286000" marR="0" rtl="0" algn="l">
              <a:lnSpc>
                <a:spcPct val="115000"/>
              </a:lnSpc>
              <a:spcBef>
                <a:spcPts val="0"/>
              </a:spcBef>
              <a:spcAft>
                <a:spcPts val="0"/>
              </a:spcAft>
              <a:buClr>
                <a:schemeClr val="dk2"/>
              </a:buClr>
              <a:buSzPts val="1400"/>
              <a:buFont typeface="Fira Sans"/>
              <a:buChar char="○"/>
              <a:defRPr b="0" i="0" sz="1400" u="none" cap="none" strike="noStrike">
                <a:solidFill>
                  <a:schemeClr val="dk2"/>
                </a:solidFill>
                <a:latin typeface="Fira Sans"/>
                <a:ea typeface="Fira Sans"/>
                <a:cs typeface="Fira Sans"/>
                <a:sym typeface="Fira Sans"/>
              </a:defRPr>
            </a:lvl5pPr>
            <a:lvl6pPr indent="-317500" lvl="5" marL="2743200" marR="0" rtl="0" algn="l">
              <a:lnSpc>
                <a:spcPct val="115000"/>
              </a:lnSpc>
              <a:spcBef>
                <a:spcPts val="0"/>
              </a:spcBef>
              <a:spcAft>
                <a:spcPts val="0"/>
              </a:spcAft>
              <a:buClr>
                <a:schemeClr val="dk2"/>
              </a:buClr>
              <a:buSzPts val="1400"/>
              <a:buFont typeface="Fira Sans"/>
              <a:buChar char="■"/>
              <a:defRPr b="0" i="0" sz="1400" u="none" cap="none" strike="noStrike">
                <a:solidFill>
                  <a:schemeClr val="dk2"/>
                </a:solidFill>
                <a:latin typeface="Fira Sans"/>
                <a:ea typeface="Fira Sans"/>
                <a:cs typeface="Fira Sans"/>
                <a:sym typeface="Fira Sans"/>
              </a:defRPr>
            </a:lvl6pPr>
            <a:lvl7pPr indent="-317500" lvl="6" marL="3200400" marR="0" rtl="0" algn="l">
              <a:lnSpc>
                <a:spcPct val="115000"/>
              </a:lnSpc>
              <a:spcBef>
                <a:spcPts val="0"/>
              </a:spcBef>
              <a:spcAft>
                <a:spcPts val="0"/>
              </a:spcAft>
              <a:buClr>
                <a:schemeClr val="dk2"/>
              </a:buClr>
              <a:buSzPts val="1400"/>
              <a:buFont typeface="Fira Sans"/>
              <a:buChar char="●"/>
              <a:defRPr b="0" i="0" sz="1400" u="none" cap="none" strike="noStrike">
                <a:solidFill>
                  <a:schemeClr val="dk2"/>
                </a:solidFill>
                <a:latin typeface="Fira Sans"/>
                <a:ea typeface="Fira Sans"/>
                <a:cs typeface="Fira Sans"/>
                <a:sym typeface="Fira Sans"/>
              </a:defRPr>
            </a:lvl7pPr>
            <a:lvl8pPr indent="-317500" lvl="7" marL="3657600" marR="0" rtl="0" algn="l">
              <a:lnSpc>
                <a:spcPct val="115000"/>
              </a:lnSpc>
              <a:spcBef>
                <a:spcPts val="0"/>
              </a:spcBef>
              <a:spcAft>
                <a:spcPts val="0"/>
              </a:spcAft>
              <a:buClr>
                <a:schemeClr val="dk2"/>
              </a:buClr>
              <a:buSzPts val="1400"/>
              <a:buFont typeface="Fira Sans"/>
              <a:buChar char="○"/>
              <a:defRPr b="0" i="0" sz="1400" u="none" cap="none" strike="noStrike">
                <a:solidFill>
                  <a:schemeClr val="dk2"/>
                </a:solidFill>
                <a:latin typeface="Fira Sans"/>
                <a:ea typeface="Fira Sans"/>
                <a:cs typeface="Fira Sans"/>
                <a:sym typeface="Fira Sans"/>
              </a:defRPr>
            </a:lvl8pPr>
            <a:lvl9pPr indent="-317500" lvl="8" marL="4114800" marR="0" rtl="0" algn="l">
              <a:lnSpc>
                <a:spcPct val="115000"/>
              </a:lnSpc>
              <a:spcBef>
                <a:spcPts val="0"/>
              </a:spcBef>
              <a:spcAft>
                <a:spcPts val="0"/>
              </a:spcAft>
              <a:buClr>
                <a:schemeClr val="dk2"/>
              </a:buClr>
              <a:buSzPts val="1400"/>
              <a:buFont typeface="Fira Sans"/>
              <a:buChar char="■"/>
              <a:defRPr b="0" i="0" sz="1400" u="none" cap="none" strike="noStrike">
                <a:solidFill>
                  <a:schemeClr val="dk2"/>
                </a:solidFill>
                <a:latin typeface="Fira Sans"/>
                <a:ea typeface="Fira Sans"/>
                <a:cs typeface="Fira Sans"/>
                <a:sym typeface="Fira Sans"/>
              </a:defRPr>
            </a:lvl9pPr>
          </a:lstStyle>
          <a:p/>
        </p:txBody>
      </p:sp>
      <p:pic>
        <p:nvPicPr>
          <p:cNvPr id="9" name="Google Shape;9;p1"/>
          <p:cNvPicPr preferRelativeResize="0"/>
          <p:nvPr/>
        </p:nvPicPr>
        <p:blipFill rotWithShape="1">
          <a:blip r:embed="rId1">
            <a:alphaModFix/>
          </a:blip>
          <a:srcRect b="0" l="0" r="0" t="0"/>
          <a:stretch/>
        </p:blipFill>
        <p:spPr>
          <a:xfrm>
            <a:off x="217689" y="4850612"/>
            <a:ext cx="493400" cy="178425"/>
          </a:xfrm>
          <a:prstGeom prst="rect">
            <a:avLst/>
          </a:prstGeom>
          <a:noFill/>
          <a:ln>
            <a:noFill/>
          </a:ln>
        </p:spPr>
      </p:pic>
      <p:sp>
        <p:nvSpPr>
          <p:cNvPr id="10" name="Google Shape;10;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2"/>
                </a:solidFill>
                <a:latin typeface="Fira Sans"/>
                <a:ea typeface="Fira Sans"/>
                <a:cs typeface="Fira Sans"/>
                <a:sym typeface="Fira Sans"/>
              </a:defRPr>
            </a:lvl1pPr>
            <a:lvl2pPr lvl="1" algn="r">
              <a:buNone/>
              <a:defRPr sz="1300">
                <a:solidFill>
                  <a:schemeClr val="dk2"/>
                </a:solidFill>
                <a:latin typeface="Fira Sans"/>
                <a:ea typeface="Fira Sans"/>
                <a:cs typeface="Fira Sans"/>
                <a:sym typeface="Fira Sans"/>
              </a:defRPr>
            </a:lvl2pPr>
            <a:lvl3pPr lvl="2" algn="r">
              <a:buNone/>
              <a:defRPr sz="1300">
                <a:solidFill>
                  <a:schemeClr val="dk2"/>
                </a:solidFill>
                <a:latin typeface="Fira Sans"/>
                <a:ea typeface="Fira Sans"/>
                <a:cs typeface="Fira Sans"/>
                <a:sym typeface="Fira Sans"/>
              </a:defRPr>
            </a:lvl3pPr>
            <a:lvl4pPr lvl="3" algn="r">
              <a:buNone/>
              <a:defRPr sz="1300">
                <a:solidFill>
                  <a:schemeClr val="dk2"/>
                </a:solidFill>
                <a:latin typeface="Fira Sans"/>
                <a:ea typeface="Fira Sans"/>
                <a:cs typeface="Fira Sans"/>
                <a:sym typeface="Fira Sans"/>
              </a:defRPr>
            </a:lvl4pPr>
            <a:lvl5pPr lvl="4" algn="r">
              <a:buNone/>
              <a:defRPr sz="1300">
                <a:solidFill>
                  <a:schemeClr val="dk2"/>
                </a:solidFill>
                <a:latin typeface="Fira Sans"/>
                <a:ea typeface="Fira Sans"/>
                <a:cs typeface="Fira Sans"/>
                <a:sym typeface="Fira Sans"/>
              </a:defRPr>
            </a:lvl5pPr>
            <a:lvl6pPr lvl="5" algn="r">
              <a:buNone/>
              <a:defRPr sz="1300">
                <a:solidFill>
                  <a:schemeClr val="dk2"/>
                </a:solidFill>
                <a:latin typeface="Fira Sans"/>
                <a:ea typeface="Fira Sans"/>
                <a:cs typeface="Fira Sans"/>
                <a:sym typeface="Fira Sans"/>
              </a:defRPr>
            </a:lvl6pPr>
            <a:lvl7pPr lvl="6" algn="r">
              <a:buNone/>
              <a:defRPr sz="1300">
                <a:solidFill>
                  <a:schemeClr val="dk2"/>
                </a:solidFill>
                <a:latin typeface="Fira Sans"/>
                <a:ea typeface="Fira Sans"/>
                <a:cs typeface="Fira Sans"/>
                <a:sym typeface="Fira Sans"/>
              </a:defRPr>
            </a:lvl7pPr>
            <a:lvl8pPr lvl="7" algn="r">
              <a:buNone/>
              <a:defRPr sz="1300">
                <a:solidFill>
                  <a:schemeClr val="dk2"/>
                </a:solidFill>
                <a:latin typeface="Fira Sans"/>
                <a:ea typeface="Fira Sans"/>
                <a:cs typeface="Fira Sans"/>
                <a:sym typeface="Fira Sans"/>
              </a:defRPr>
            </a:lvl8pPr>
            <a:lvl9pPr lvl="8" algn="r">
              <a:buNone/>
              <a:defRPr sz="1300">
                <a:solidFill>
                  <a:schemeClr val="dk2"/>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8.png"/><Relationship Id="rId9" Type="http://schemas.openxmlformats.org/officeDocument/2006/relationships/image" Target="../media/image9.png"/><Relationship Id="rId5" Type="http://schemas.openxmlformats.org/officeDocument/2006/relationships/image" Target="../media/image16.png"/><Relationship Id="rId6" Type="http://schemas.openxmlformats.org/officeDocument/2006/relationships/image" Target="../media/image5.png"/><Relationship Id="rId7" Type="http://schemas.openxmlformats.org/officeDocument/2006/relationships/image" Target="../media/image14.png"/><Relationship Id="rId8"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10.png"/><Relationship Id="rId5"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8.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ctrTitle"/>
          </p:nvPr>
        </p:nvSpPr>
        <p:spPr>
          <a:xfrm>
            <a:off x="311708" y="1475200"/>
            <a:ext cx="8520600" cy="20526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100000"/>
              </a:lnSpc>
              <a:spcBef>
                <a:spcPts val="0"/>
              </a:spcBef>
              <a:spcAft>
                <a:spcPts val="0"/>
              </a:spcAft>
              <a:buSzPct val="100000"/>
              <a:buNone/>
            </a:pPr>
            <a:r>
              <a:rPr lang="en"/>
              <a:t>VLMs for Autonomous Battle Damage Assessment (BDA)</a:t>
            </a:r>
            <a:endParaRPr/>
          </a:p>
          <a:p>
            <a:pPr indent="0" lvl="0" marL="0" rtl="0" algn="ctr">
              <a:lnSpc>
                <a:spcPct val="100000"/>
              </a:lnSpc>
              <a:spcBef>
                <a:spcPts val="0"/>
              </a:spcBef>
              <a:spcAft>
                <a:spcPts val="0"/>
              </a:spcAft>
              <a:buSzPct val="100000"/>
              <a:buNone/>
            </a:pPr>
            <a:r>
              <a:rPr lang="en"/>
              <a:t>End-Phase II</a:t>
            </a:r>
            <a:endParaRPr/>
          </a:p>
        </p:txBody>
      </p:sp>
      <p:sp>
        <p:nvSpPr>
          <p:cNvPr id="66" name="Google Shape;66;p15"/>
          <p:cNvSpPr txBox="1"/>
          <p:nvPr>
            <p:ph idx="1" type="subTitle"/>
          </p:nvPr>
        </p:nvSpPr>
        <p:spPr>
          <a:xfrm>
            <a:off x="311700" y="3580250"/>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5091"/>
              <a:buNone/>
            </a:pPr>
            <a:r>
              <a:rPr lang="en"/>
              <a:t>MAR 16, 2026</a:t>
            </a:r>
            <a:endParaRPr/>
          </a:p>
        </p:txBody>
      </p:sp>
      <p:sp>
        <p:nvSpPr>
          <p:cNvPr id="67" name="Google Shape;67;p15"/>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VLMs for Autonomous Battle Damage Assessment</a:t>
            </a:r>
            <a:endParaRPr/>
          </a:p>
        </p:txBody>
      </p:sp>
      <p:sp>
        <p:nvSpPr>
          <p:cNvPr id="73" name="Google Shape;73;p1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400"/>
              <a:buNone/>
            </a:pPr>
            <a:r>
              <a:rPr b="1" lang="en">
                <a:latin typeface="Arial"/>
                <a:ea typeface="Arial"/>
                <a:cs typeface="Arial"/>
                <a:sym typeface="Arial"/>
              </a:rPr>
              <a:t>Project Overview:</a:t>
            </a:r>
            <a:endParaRPr b="1">
              <a:latin typeface="Arial"/>
              <a:ea typeface="Arial"/>
              <a:cs typeface="Arial"/>
              <a:sym typeface="Arial"/>
            </a:endParaRPr>
          </a:p>
          <a:p>
            <a:pPr indent="-317500" lvl="0" marL="457200" rtl="0" algn="l">
              <a:lnSpc>
                <a:spcPct val="115000"/>
              </a:lnSpc>
              <a:spcBef>
                <a:spcPts val="1200"/>
              </a:spcBef>
              <a:spcAft>
                <a:spcPts val="0"/>
              </a:spcAft>
              <a:buSzPts val="1400"/>
              <a:buFont typeface="Arial"/>
              <a:buChar char="-"/>
            </a:pPr>
            <a:r>
              <a:rPr lang="en">
                <a:latin typeface="Arial"/>
                <a:ea typeface="Arial"/>
                <a:cs typeface="Arial"/>
                <a:sym typeface="Arial"/>
              </a:rPr>
              <a:t>Background</a:t>
            </a:r>
            <a:endParaRPr>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lang="en">
                <a:latin typeface="Arial"/>
                <a:ea typeface="Arial"/>
                <a:cs typeface="Arial"/>
                <a:sym typeface="Arial"/>
              </a:rPr>
              <a:t>Data Engineering</a:t>
            </a:r>
            <a:endParaRPr>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lang="en">
                <a:latin typeface="Arial"/>
                <a:ea typeface="Arial"/>
                <a:cs typeface="Arial"/>
                <a:sym typeface="Arial"/>
              </a:rPr>
              <a:t>Modeling</a:t>
            </a:r>
            <a:endParaRPr>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lang="en">
                <a:latin typeface="Arial"/>
                <a:ea typeface="Arial"/>
                <a:cs typeface="Arial"/>
                <a:sym typeface="Arial"/>
              </a:rPr>
              <a:t>Project Plan</a:t>
            </a:r>
            <a:endParaRPr>
              <a:latin typeface="Arial"/>
              <a:ea typeface="Arial"/>
              <a:cs typeface="Arial"/>
              <a:sym typeface="Arial"/>
            </a:endParaRPr>
          </a:p>
        </p:txBody>
      </p:sp>
      <p:sp>
        <p:nvSpPr>
          <p:cNvPr id="74" name="Google Shape;74;p16"/>
          <p:cNvSpPr txBox="1"/>
          <p:nvPr>
            <p:ph idx="2" type="body"/>
          </p:nvPr>
        </p:nvSpPr>
        <p:spPr>
          <a:xfrm>
            <a:off x="4121588" y="1152475"/>
            <a:ext cx="4710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b="1" lang="en">
                <a:latin typeface="Arial"/>
                <a:ea typeface="Arial"/>
                <a:cs typeface="Arial"/>
                <a:sym typeface="Arial"/>
              </a:rPr>
              <a:t>Team Members:</a:t>
            </a:r>
            <a:r>
              <a:rPr lang="en">
                <a:latin typeface="Arial"/>
                <a:ea typeface="Arial"/>
                <a:cs typeface="Arial"/>
                <a:sym typeface="Arial"/>
              </a:rPr>
              <a:t> </a:t>
            </a:r>
            <a:endParaRPr>
              <a:latin typeface="Arial"/>
              <a:ea typeface="Arial"/>
              <a:cs typeface="Arial"/>
              <a:sym typeface="Arial"/>
            </a:endParaRPr>
          </a:p>
          <a:p>
            <a:pPr indent="-317500" lvl="0" marL="457200" rtl="0" algn="l">
              <a:lnSpc>
                <a:spcPct val="115000"/>
              </a:lnSpc>
              <a:spcBef>
                <a:spcPts val="1200"/>
              </a:spcBef>
              <a:spcAft>
                <a:spcPts val="0"/>
              </a:spcAft>
              <a:buSzPts val="1400"/>
              <a:buFont typeface="Arial"/>
              <a:buChar char="-"/>
            </a:pPr>
            <a:r>
              <a:rPr lang="en">
                <a:latin typeface="Arial"/>
                <a:ea typeface="Arial"/>
                <a:cs typeface="Arial"/>
                <a:sym typeface="Arial"/>
              </a:rPr>
              <a:t>William Benitez:	  Prompt Engineer</a:t>
            </a:r>
            <a:endParaRPr>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lang="en">
                <a:latin typeface="Arial"/>
                <a:ea typeface="Arial"/>
                <a:cs typeface="Arial"/>
                <a:sym typeface="Arial"/>
              </a:rPr>
              <a:t>Carlos Gil: 		  Software Developer</a:t>
            </a:r>
            <a:endParaRPr>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lang="en">
                <a:latin typeface="Arial"/>
                <a:ea typeface="Arial"/>
                <a:cs typeface="Arial"/>
                <a:sym typeface="Arial"/>
              </a:rPr>
              <a:t>Nicholas Lind: 	  Data Engineer</a:t>
            </a:r>
            <a:endParaRPr>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lang="en">
                <a:latin typeface="Arial"/>
                <a:ea typeface="Arial"/>
                <a:cs typeface="Arial"/>
                <a:sym typeface="Arial"/>
              </a:rPr>
              <a:t>Benjamin Siegel:   ML Engineer</a:t>
            </a:r>
            <a:endParaRPr>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lang="en">
                <a:latin typeface="Arial"/>
                <a:ea typeface="Arial"/>
                <a:cs typeface="Arial"/>
                <a:sym typeface="Arial"/>
              </a:rPr>
              <a:t>Cory Wingate: 	  Project Manager/DevOps</a:t>
            </a:r>
            <a:endParaRPr>
              <a:latin typeface="Arial"/>
              <a:ea typeface="Arial"/>
              <a:cs typeface="Arial"/>
              <a:sym typeface="Arial"/>
            </a:endParaRPr>
          </a:p>
          <a:p>
            <a:pPr indent="0" lvl="0" marL="0" rtl="0" algn="l">
              <a:lnSpc>
                <a:spcPct val="195000"/>
              </a:lnSpc>
              <a:spcBef>
                <a:spcPts val="1200"/>
              </a:spcBef>
              <a:spcAft>
                <a:spcPts val="0"/>
              </a:spcAft>
              <a:buClr>
                <a:schemeClr val="dk1"/>
              </a:buClr>
              <a:buSzPts val="1100"/>
              <a:buFont typeface="Arial"/>
              <a:buNone/>
            </a:pPr>
            <a:r>
              <a:rPr b="1" lang="en">
                <a:latin typeface="Arial"/>
                <a:ea typeface="Arial"/>
                <a:cs typeface="Arial"/>
                <a:sym typeface="Arial"/>
              </a:rPr>
              <a:t>AI2C Scholar and Mentors:</a:t>
            </a:r>
            <a:r>
              <a:rPr lang="en">
                <a:latin typeface="Arial"/>
                <a:ea typeface="Arial"/>
                <a:cs typeface="Arial"/>
                <a:sym typeface="Arial"/>
              </a:rPr>
              <a:t> </a:t>
            </a:r>
            <a:endParaRPr>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lang="en">
                <a:latin typeface="Arial"/>
                <a:ea typeface="Arial"/>
                <a:cs typeface="Arial"/>
                <a:sym typeface="Arial"/>
              </a:rPr>
              <a:t>Jesse Barkley:        AI Scholar</a:t>
            </a:r>
            <a:endParaRPr>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lang="en">
                <a:latin typeface="Arial"/>
                <a:ea typeface="Arial"/>
                <a:cs typeface="Arial"/>
                <a:sym typeface="Arial"/>
              </a:rPr>
              <a:t>Derrik</a:t>
            </a:r>
            <a:r>
              <a:rPr lang="en">
                <a:latin typeface="Arial"/>
                <a:ea typeface="Arial"/>
                <a:cs typeface="Arial"/>
                <a:sym typeface="Arial"/>
              </a:rPr>
              <a:t> Asher:         Army Research Lab</a:t>
            </a:r>
            <a:endParaRPr>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lang="en">
                <a:latin typeface="Arial"/>
                <a:ea typeface="Arial"/>
                <a:cs typeface="Arial"/>
                <a:sym typeface="Arial"/>
              </a:rPr>
              <a:t>Jason Pusey:          Army Research Lab</a:t>
            </a:r>
            <a:endParaRPr b="1">
              <a:latin typeface="Arial"/>
              <a:ea typeface="Arial"/>
              <a:cs typeface="Arial"/>
              <a:sym typeface="Arial"/>
            </a:endParaRPr>
          </a:p>
        </p:txBody>
      </p:sp>
      <p:sp>
        <p:nvSpPr>
          <p:cNvPr id="75" name="Google Shape;75;p16"/>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Background</a:t>
            </a:r>
            <a:endParaRPr/>
          </a:p>
        </p:txBody>
      </p:sp>
      <p:sp>
        <p:nvSpPr>
          <p:cNvPr id="81" name="Google Shape;81;p17"/>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fld id="{00000000-1234-1234-1234-123412341234}" type="slidenum">
              <a:rPr lang="en"/>
              <a:t>‹#›</a:t>
            </a:fld>
            <a:endParaRPr/>
          </a:p>
        </p:txBody>
      </p:sp>
      <p:sp>
        <p:nvSpPr>
          <p:cNvPr id="82" name="Google Shape;82;p17"/>
          <p:cNvSpPr txBox="1"/>
          <p:nvPr>
            <p:ph idx="1" type="body"/>
          </p:nvPr>
        </p:nvSpPr>
        <p:spPr>
          <a:xfrm>
            <a:off x="311700" y="1017725"/>
            <a:ext cx="4748700" cy="3409800"/>
          </a:xfrm>
          <a:prstGeom prst="rect">
            <a:avLst/>
          </a:prstGeom>
          <a:noFill/>
          <a:ln>
            <a:noFill/>
          </a:ln>
        </p:spPr>
        <p:txBody>
          <a:bodyPr anchorCtr="0" anchor="ctr"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t/>
            </a:r>
            <a:endParaRPr>
              <a:solidFill>
                <a:schemeClr val="dk1"/>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
                <a:solidFill>
                  <a:schemeClr val="dk1"/>
                </a:solidFill>
                <a:latin typeface="Arial"/>
                <a:ea typeface="Arial"/>
                <a:cs typeface="Arial"/>
                <a:sym typeface="Arial"/>
              </a:rPr>
              <a:t>A Battle Damage Assessment (BDA) “provides the timely and accurate </a:t>
            </a:r>
            <a:r>
              <a:rPr b="1" lang="en">
                <a:solidFill>
                  <a:schemeClr val="dk1"/>
                </a:solidFill>
                <a:latin typeface="Arial"/>
                <a:ea typeface="Arial"/>
                <a:cs typeface="Arial"/>
                <a:sym typeface="Arial"/>
              </a:rPr>
              <a:t>estimate of damage</a:t>
            </a:r>
            <a:r>
              <a:rPr lang="en">
                <a:solidFill>
                  <a:schemeClr val="dk1"/>
                </a:solidFill>
                <a:latin typeface="Arial"/>
                <a:ea typeface="Arial"/>
                <a:cs typeface="Arial"/>
                <a:sym typeface="Arial"/>
              </a:rPr>
              <a:t> resulting from the </a:t>
            </a:r>
            <a:r>
              <a:rPr b="1" lang="en">
                <a:solidFill>
                  <a:schemeClr val="dk1"/>
                </a:solidFill>
                <a:latin typeface="Arial"/>
                <a:ea typeface="Arial"/>
                <a:cs typeface="Arial"/>
                <a:sym typeface="Arial"/>
              </a:rPr>
              <a:t>application of lethal and nonlethal military force</a:t>
            </a:r>
            <a:r>
              <a:rPr lang="en">
                <a:solidFill>
                  <a:schemeClr val="dk1"/>
                </a:solidFill>
                <a:latin typeface="Arial"/>
                <a:ea typeface="Arial"/>
                <a:cs typeface="Arial"/>
                <a:sym typeface="Arial"/>
              </a:rPr>
              <a:t>.”</a:t>
            </a:r>
            <a:endParaRPr>
              <a:solidFill>
                <a:schemeClr val="dk1"/>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a:solidFill>
                <a:schemeClr val="dk1"/>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a:solidFill>
                  <a:schemeClr val="dk1"/>
                </a:solidFill>
                <a:latin typeface="Arial"/>
                <a:ea typeface="Arial"/>
                <a:cs typeface="Arial"/>
                <a:sym typeface="Arial"/>
              </a:rPr>
              <a:t>(</a:t>
            </a:r>
            <a:r>
              <a:rPr i="1" lang="en">
                <a:solidFill>
                  <a:schemeClr val="dk1"/>
                </a:solidFill>
                <a:latin typeface="Arial"/>
                <a:ea typeface="Arial"/>
                <a:cs typeface="Arial"/>
                <a:sym typeface="Arial"/>
              </a:rPr>
              <a:t>Methodology for Combat Assessment - Joint Staff)</a:t>
            </a:r>
            <a:endParaRPr i="1">
              <a:solidFill>
                <a:schemeClr val="dk1"/>
              </a:solidFill>
              <a:latin typeface="Arial"/>
              <a:ea typeface="Arial"/>
              <a:cs typeface="Arial"/>
              <a:sym typeface="Arial"/>
            </a:endParaRPr>
          </a:p>
          <a:p>
            <a:pPr indent="0" lvl="0" marL="0" rtl="0" algn="l">
              <a:spcBef>
                <a:spcPts val="0"/>
              </a:spcBef>
              <a:spcAft>
                <a:spcPts val="0"/>
              </a:spcAft>
              <a:buNone/>
            </a:pPr>
            <a:r>
              <a:t/>
            </a:r>
            <a:endParaRPr i="1">
              <a:solidFill>
                <a:schemeClr val="dk1"/>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i="1">
              <a:solidFill>
                <a:schemeClr val="dk1"/>
              </a:solidFill>
              <a:latin typeface="Arial"/>
              <a:ea typeface="Arial"/>
              <a:cs typeface="Arial"/>
              <a:sym typeface="Arial"/>
            </a:endParaRPr>
          </a:p>
        </p:txBody>
      </p:sp>
      <p:pic>
        <p:nvPicPr>
          <p:cNvPr id="83" name="Google Shape;83;p17" title="01.jpg"/>
          <p:cNvPicPr preferRelativeResize="0"/>
          <p:nvPr/>
        </p:nvPicPr>
        <p:blipFill>
          <a:blip r:embed="rId3">
            <a:alphaModFix/>
          </a:blip>
          <a:stretch>
            <a:fillRect/>
          </a:stretch>
        </p:blipFill>
        <p:spPr>
          <a:xfrm>
            <a:off x="5260875" y="1326750"/>
            <a:ext cx="3571425" cy="27917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 Set</a:t>
            </a:r>
            <a:endParaRPr/>
          </a:p>
        </p:txBody>
      </p:sp>
      <p:sp>
        <p:nvSpPr>
          <p:cNvPr id="89" name="Google Shape;89;p18"/>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fld id="{00000000-1234-1234-1234-123412341234}" type="slidenum">
              <a:rPr lang="en"/>
              <a:t>‹#›</a:t>
            </a:fld>
            <a:endParaRPr/>
          </a:p>
        </p:txBody>
      </p:sp>
      <p:sp>
        <p:nvSpPr>
          <p:cNvPr id="90" name="Google Shape;90;p18"/>
          <p:cNvSpPr/>
          <p:nvPr/>
        </p:nvSpPr>
        <p:spPr>
          <a:xfrm>
            <a:off x="604225" y="845925"/>
            <a:ext cx="7991100" cy="3799200"/>
          </a:xfrm>
          <a:prstGeom prst="ellipse">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Fira Sans"/>
              <a:ea typeface="Fira Sans"/>
              <a:cs typeface="Fira Sans"/>
              <a:sym typeface="Fira Sans"/>
            </a:endParaRPr>
          </a:p>
        </p:txBody>
      </p:sp>
      <p:sp>
        <p:nvSpPr>
          <p:cNvPr id="91" name="Google Shape;91;p18"/>
          <p:cNvSpPr txBox="1"/>
          <p:nvPr/>
        </p:nvSpPr>
        <p:spPr>
          <a:xfrm>
            <a:off x="3313850" y="905325"/>
            <a:ext cx="2696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2"/>
                </a:solidFill>
              </a:rPr>
              <a:t>Operational Problem</a:t>
            </a:r>
            <a:endParaRPr b="1" sz="1800">
              <a:solidFill>
                <a:schemeClr val="dk2"/>
              </a:solidFill>
            </a:endParaRPr>
          </a:p>
        </p:txBody>
      </p:sp>
      <p:sp>
        <p:nvSpPr>
          <p:cNvPr id="92" name="Google Shape;92;p18"/>
          <p:cNvSpPr/>
          <p:nvPr/>
        </p:nvSpPr>
        <p:spPr>
          <a:xfrm>
            <a:off x="1669225" y="1840875"/>
            <a:ext cx="5861100" cy="2804100"/>
          </a:xfrm>
          <a:prstGeom prst="ellipse">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Sans"/>
              <a:ea typeface="Fira Sans"/>
              <a:cs typeface="Fira Sans"/>
              <a:sym typeface="Fira Sans"/>
            </a:endParaRPr>
          </a:p>
        </p:txBody>
      </p:sp>
      <p:sp>
        <p:nvSpPr>
          <p:cNvPr id="93" name="Google Shape;93;p18"/>
          <p:cNvSpPr txBox="1"/>
          <p:nvPr/>
        </p:nvSpPr>
        <p:spPr>
          <a:xfrm>
            <a:off x="3313850" y="1868824"/>
            <a:ext cx="2696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2"/>
                </a:solidFill>
              </a:rPr>
              <a:t>Current </a:t>
            </a:r>
            <a:r>
              <a:rPr b="1" lang="en" sz="1800">
                <a:solidFill>
                  <a:schemeClr val="dk2"/>
                </a:solidFill>
              </a:rPr>
              <a:t>Methodologies</a:t>
            </a:r>
            <a:endParaRPr b="1" sz="1800">
              <a:solidFill>
                <a:schemeClr val="dk2"/>
              </a:solidFill>
            </a:endParaRPr>
          </a:p>
        </p:txBody>
      </p:sp>
      <p:sp>
        <p:nvSpPr>
          <p:cNvPr id="94" name="Google Shape;94;p18"/>
          <p:cNvSpPr/>
          <p:nvPr/>
        </p:nvSpPr>
        <p:spPr>
          <a:xfrm>
            <a:off x="2874025" y="3142000"/>
            <a:ext cx="3451500" cy="1503000"/>
          </a:xfrm>
          <a:prstGeom prst="ellipse">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Sans"/>
              <a:ea typeface="Fira Sans"/>
              <a:cs typeface="Fira Sans"/>
              <a:sym typeface="Fira Sans"/>
            </a:endParaRPr>
          </a:p>
        </p:txBody>
      </p:sp>
      <p:sp>
        <p:nvSpPr>
          <p:cNvPr id="95" name="Google Shape;95;p18"/>
          <p:cNvSpPr txBox="1"/>
          <p:nvPr/>
        </p:nvSpPr>
        <p:spPr>
          <a:xfrm>
            <a:off x="3313850" y="3181077"/>
            <a:ext cx="2696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2"/>
                </a:solidFill>
              </a:rPr>
              <a:t>Resulting Gap</a:t>
            </a:r>
            <a:endParaRPr b="1" sz="1800">
              <a:solidFill>
                <a:schemeClr val="dk2"/>
              </a:solidFill>
            </a:endParaRPr>
          </a:p>
        </p:txBody>
      </p:sp>
      <p:sp>
        <p:nvSpPr>
          <p:cNvPr id="96" name="Google Shape;96;p18"/>
          <p:cNvSpPr txBox="1"/>
          <p:nvPr/>
        </p:nvSpPr>
        <p:spPr>
          <a:xfrm>
            <a:off x="3217580" y="3586100"/>
            <a:ext cx="3013500" cy="1040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Clr>
                <a:schemeClr val="dk1"/>
              </a:buClr>
              <a:buSzPts val="1100"/>
              <a:buFont typeface="Arial"/>
              <a:buNone/>
            </a:pPr>
            <a:r>
              <a:rPr lang="en" sz="1200">
                <a:solidFill>
                  <a:schemeClr val="dk2"/>
                </a:solidFill>
              </a:rPr>
              <a:t>No standardized, portable, and validated pipeline for VLM‑generated BDAs</a:t>
            </a:r>
            <a:endParaRPr sz="1200">
              <a:solidFill>
                <a:schemeClr val="dk2"/>
              </a:solidFill>
            </a:endParaRPr>
          </a:p>
          <a:p>
            <a:pPr indent="0" lvl="0" marL="0" rtl="0" algn="l">
              <a:spcBef>
                <a:spcPts val="1200"/>
              </a:spcBef>
              <a:spcAft>
                <a:spcPts val="0"/>
              </a:spcAft>
              <a:buNone/>
            </a:pPr>
            <a:r>
              <a:t/>
            </a:r>
            <a:endParaRPr sz="1800">
              <a:solidFill>
                <a:schemeClr val="dk2"/>
              </a:solidFill>
              <a:latin typeface="Fira Sans"/>
              <a:ea typeface="Fira Sans"/>
              <a:cs typeface="Fira Sans"/>
              <a:sym typeface="Fira Sans"/>
            </a:endParaRPr>
          </a:p>
        </p:txBody>
      </p:sp>
      <p:sp>
        <p:nvSpPr>
          <p:cNvPr id="97" name="Google Shape;97;p18"/>
          <p:cNvSpPr txBox="1"/>
          <p:nvPr/>
        </p:nvSpPr>
        <p:spPr>
          <a:xfrm>
            <a:off x="2116100" y="2547225"/>
            <a:ext cx="1818300" cy="369300"/>
          </a:xfrm>
          <a:prstGeom prst="rect">
            <a:avLst/>
          </a:prstGeom>
          <a:noFill/>
          <a:ln>
            <a:noFill/>
          </a:ln>
        </p:spPr>
        <p:txBody>
          <a:bodyPr anchorCtr="0" anchor="t" bIns="91425" lIns="91425" spcFirstLastPara="1" rIns="91425" wrap="square" tIns="91425">
            <a:spAutoFit/>
          </a:bodyPr>
          <a:lstStyle/>
          <a:p>
            <a:pPr indent="0" lvl="0" marL="0" rtl="0" algn="ctr">
              <a:spcBef>
                <a:spcPts val="1200"/>
              </a:spcBef>
              <a:spcAft>
                <a:spcPts val="1200"/>
              </a:spcAft>
              <a:buNone/>
            </a:pPr>
            <a:r>
              <a:rPr b="1" lang="en" sz="1200">
                <a:solidFill>
                  <a:schemeClr val="dk1"/>
                </a:solidFill>
              </a:rPr>
              <a:t>Doctrinal Grounding</a:t>
            </a:r>
            <a:endParaRPr sz="1200">
              <a:solidFill>
                <a:schemeClr val="dk1"/>
              </a:solidFill>
            </a:endParaRPr>
          </a:p>
        </p:txBody>
      </p:sp>
      <p:sp>
        <p:nvSpPr>
          <p:cNvPr id="98" name="Google Shape;98;p18"/>
          <p:cNvSpPr txBox="1"/>
          <p:nvPr/>
        </p:nvSpPr>
        <p:spPr>
          <a:xfrm>
            <a:off x="3635300" y="2346913"/>
            <a:ext cx="2053500" cy="369300"/>
          </a:xfrm>
          <a:prstGeom prst="rect">
            <a:avLst/>
          </a:prstGeom>
          <a:noFill/>
          <a:ln>
            <a:noFill/>
          </a:ln>
        </p:spPr>
        <p:txBody>
          <a:bodyPr anchorCtr="0" anchor="t" bIns="91425" lIns="91425" spcFirstLastPara="1" rIns="91425" wrap="square" tIns="91425">
            <a:spAutoFit/>
          </a:bodyPr>
          <a:lstStyle/>
          <a:p>
            <a:pPr indent="0" lvl="0" marL="0" rtl="0" algn="ctr">
              <a:spcBef>
                <a:spcPts val="1200"/>
              </a:spcBef>
              <a:spcAft>
                <a:spcPts val="1200"/>
              </a:spcAft>
              <a:buNone/>
            </a:pPr>
            <a:r>
              <a:rPr b="1" lang="en" sz="1200">
                <a:solidFill>
                  <a:schemeClr val="dk1"/>
                </a:solidFill>
              </a:rPr>
              <a:t>Experimental Tooling</a:t>
            </a:r>
            <a:endParaRPr sz="1200">
              <a:solidFill>
                <a:schemeClr val="dk2"/>
              </a:solidFill>
            </a:endParaRPr>
          </a:p>
        </p:txBody>
      </p:sp>
      <p:sp>
        <p:nvSpPr>
          <p:cNvPr id="99" name="Google Shape;99;p18"/>
          <p:cNvSpPr txBox="1"/>
          <p:nvPr/>
        </p:nvSpPr>
        <p:spPr>
          <a:xfrm>
            <a:off x="5350875" y="2566913"/>
            <a:ext cx="1818300" cy="369300"/>
          </a:xfrm>
          <a:prstGeom prst="rect">
            <a:avLst/>
          </a:prstGeom>
          <a:noFill/>
          <a:ln>
            <a:noFill/>
          </a:ln>
        </p:spPr>
        <p:txBody>
          <a:bodyPr anchorCtr="0" anchor="t" bIns="91425" lIns="91425" spcFirstLastPara="1" rIns="91425" wrap="square" tIns="91425">
            <a:spAutoFit/>
          </a:bodyPr>
          <a:lstStyle/>
          <a:p>
            <a:pPr indent="0" lvl="0" marL="0" rtl="0" algn="ctr">
              <a:spcBef>
                <a:spcPts val="1200"/>
              </a:spcBef>
              <a:spcAft>
                <a:spcPts val="1200"/>
              </a:spcAft>
              <a:buNone/>
            </a:pPr>
            <a:r>
              <a:rPr b="1" lang="en" sz="1200">
                <a:solidFill>
                  <a:schemeClr val="dk1"/>
                </a:solidFill>
              </a:rPr>
              <a:t>Model Evaluation</a:t>
            </a:r>
            <a:endParaRPr b="1" sz="1200">
              <a:solidFill>
                <a:schemeClr val="dk1"/>
              </a:solidFill>
            </a:endParaRPr>
          </a:p>
        </p:txBody>
      </p:sp>
      <p:sp>
        <p:nvSpPr>
          <p:cNvPr id="100" name="Google Shape;100;p18"/>
          <p:cNvSpPr txBox="1"/>
          <p:nvPr/>
        </p:nvSpPr>
        <p:spPr>
          <a:xfrm>
            <a:off x="2463625" y="1367013"/>
            <a:ext cx="1424100" cy="554100"/>
          </a:xfrm>
          <a:prstGeom prst="rect">
            <a:avLst/>
          </a:prstGeom>
          <a:noFill/>
          <a:ln>
            <a:noFill/>
          </a:ln>
        </p:spPr>
        <p:txBody>
          <a:bodyPr anchorCtr="0" anchor="t" bIns="91425" lIns="91425" spcFirstLastPara="1" rIns="91425" wrap="square" tIns="91425">
            <a:spAutoFit/>
          </a:bodyPr>
          <a:lstStyle/>
          <a:p>
            <a:pPr indent="0" lvl="0" marL="0" rtl="0" algn="ctr">
              <a:spcBef>
                <a:spcPts val="1200"/>
              </a:spcBef>
              <a:spcAft>
                <a:spcPts val="1200"/>
              </a:spcAft>
              <a:buNone/>
            </a:pPr>
            <a:r>
              <a:rPr b="1" lang="en" sz="1200">
                <a:solidFill>
                  <a:schemeClr val="dk1"/>
                </a:solidFill>
              </a:rPr>
              <a:t>Requires Human Analyst</a:t>
            </a:r>
            <a:endParaRPr sz="1200">
              <a:solidFill>
                <a:schemeClr val="dk2"/>
              </a:solidFill>
            </a:endParaRPr>
          </a:p>
        </p:txBody>
      </p:sp>
      <p:sp>
        <p:nvSpPr>
          <p:cNvPr id="101" name="Google Shape;101;p18"/>
          <p:cNvSpPr txBox="1"/>
          <p:nvPr/>
        </p:nvSpPr>
        <p:spPr>
          <a:xfrm>
            <a:off x="5428450" y="1367025"/>
            <a:ext cx="1424100" cy="554100"/>
          </a:xfrm>
          <a:prstGeom prst="rect">
            <a:avLst/>
          </a:prstGeom>
          <a:noFill/>
          <a:ln>
            <a:noFill/>
          </a:ln>
        </p:spPr>
        <p:txBody>
          <a:bodyPr anchorCtr="0" anchor="t" bIns="91425" lIns="91425" spcFirstLastPara="1" rIns="91425" wrap="square" tIns="91425">
            <a:spAutoFit/>
          </a:bodyPr>
          <a:lstStyle/>
          <a:p>
            <a:pPr indent="0" lvl="0" marL="0" rtl="0" algn="ctr">
              <a:spcBef>
                <a:spcPts val="1200"/>
              </a:spcBef>
              <a:spcAft>
                <a:spcPts val="1200"/>
              </a:spcAft>
              <a:buNone/>
            </a:pPr>
            <a:r>
              <a:rPr b="1" lang="en" sz="1200">
                <a:solidFill>
                  <a:schemeClr val="dk1"/>
                </a:solidFill>
              </a:rPr>
              <a:t>Inconsistent, Not Standardized</a:t>
            </a:r>
            <a:endParaRPr sz="1200">
              <a:solidFill>
                <a:schemeClr val="dk2"/>
              </a:solidFill>
            </a:endParaRPr>
          </a:p>
        </p:txBody>
      </p:sp>
      <p:sp>
        <p:nvSpPr>
          <p:cNvPr id="102" name="Google Shape;102;p18"/>
          <p:cNvSpPr txBox="1"/>
          <p:nvPr/>
        </p:nvSpPr>
        <p:spPr>
          <a:xfrm>
            <a:off x="6781450" y="1882063"/>
            <a:ext cx="1424100" cy="369300"/>
          </a:xfrm>
          <a:prstGeom prst="rect">
            <a:avLst/>
          </a:prstGeom>
          <a:noFill/>
          <a:ln>
            <a:noFill/>
          </a:ln>
        </p:spPr>
        <p:txBody>
          <a:bodyPr anchorCtr="0" anchor="t" bIns="91425" lIns="91425" spcFirstLastPara="1" rIns="91425" wrap="square" tIns="91425">
            <a:spAutoFit/>
          </a:bodyPr>
          <a:lstStyle/>
          <a:p>
            <a:pPr indent="0" lvl="0" marL="0" rtl="0" algn="ctr">
              <a:spcBef>
                <a:spcPts val="1200"/>
              </a:spcBef>
              <a:spcAft>
                <a:spcPts val="1200"/>
              </a:spcAft>
              <a:buNone/>
            </a:pPr>
            <a:r>
              <a:rPr b="1" lang="en" sz="1200">
                <a:solidFill>
                  <a:schemeClr val="dk1"/>
                </a:solidFill>
              </a:rPr>
              <a:t>Dangerous</a:t>
            </a:r>
            <a:endParaRPr sz="1200">
              <a:solidFill>
                <a:schemeClr val="dk2"/>
              </a:solidFill>
            </a:endParaRPr>
          </a:p>
        </p:txBody>
      </p:sp>
      <p:sp>
        <p:nvSpPr>
          <p:cNvPr id="103" name="Google Shape;103;p18"/>
          <p:cNvSpPr txBox="1"/>
          <p:nvPr/>
        </p:nvSpPr>
        <p:spPr>
          <a:xfrm>
            <a:off x="1118550" y="1882063"/>
            <a:ext cx="1424100" cy="369300"/>
          </a:xfrm>
          <a:prstGeom prst="rect">
            <a:avLst/>
          </a:prstGeom>
          <a:noFill/>
          <a:ln>
            <a:noFill/>
          </a:ln>
        </p:spPr>
        <p:txBody>
          <a:bodyPr anchorCtr="0" anchor="t" bIns="91425" lIns="91425" spcFirstLastPara="1" rIns="91425" wrap="square" tIns="91425">
            <a:spAutoFit/>
          </a:bodyPr>
          <a:lstStyle/>
          <a:p>
            <a:pPr indent="0" lvl="0" marL="0" rtl="0" algn="ctr">
              <a:spcBef>
                <a:spcPts val="1200"/>
              </a:spcBef>
              <a:spcAft>
                <a:spcPts val="1200"/>
              </a:spcAft>
              <a:buNone/>
            </a:pPr>
            <a:r>
              <a:rPr b="1" lang="en" sz="1200">
                <a:solidFill>
                  <a:schemeClr val="dk1"/>
                </a:solidFill>
              </a:rPr>
              <a:t>Slow</a:t>
            </a:r>
            <a:endParaRPr sz="12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Proposed Solution</a:t>
            </a:r>
            <a:endParaRPr/>
          </a:p>
        </p:txBody>
      </p:sp>
      <p:sp>
        <p:nvSpPr>
          <p:cNvPr id="109" name="Google Shape;109;p19"/>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fld id="{00000000-1234-1234-1234-123412341234}" type="slidenum">
              <a:rPr lang="en"/>
              <a:t>‹#›</a:t>
            </a:fld>
            <a:endParaRPr/>
          </a:p>
        </p:txBody>
      </p:sp>
      <p:sp>
        <p:nvSpPr>
          <p:cNvPr id="110" name="Google Shape;110;p19"/>
          <p:cNvSpPr txBox="1"/>
          <p:nvPr>
            <p:ph idx="1" type="body"/>
          </p:nvPr>
        </p:nvSpPr>
        <p:spPr>
          <a:xfrm>
            <a:off x="311700" y="1017725"/>
            <a:ext cx="8357400" cy="35514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n" sz="2200">
                <a:solidFill>
                  <a:schemeClr val="dk1"/>
                </a:solidFill>
                <a:latin typeface="Arial"/>
                <a:ea typeface="Arial"/>
                <a:cs typeface="Arial"/>
                <a:sym typeface="Arial"/>
              </a:rPr>
              <a:t>We are objectively </a:t>
            </a:r>
            <a:r>
              <a:rPr b="1" lang="en" sz="2200">
                <a:solidFill>
                  <a:schemeClr val="dk1"/>
                </a:solidFill>
                <a:latin typeface="Arial"/>
                <a:ea typeface="Arial"/>
                <a:cs typeface="Arial"/>
                <a:sym typeface="Arial"/>
              </a:rPr>
              <a:t>evaluating</a:t>
            </a:r>
            <a:r>
              <a:rPr lang="en" sz="2200">
                <a:solidFill>
                  <a:schemeClr val="dk1"/>
                </a:solidFill>
                <a:latin typeface="Arial"/>
                <a:ea typeface="Arial"/>
                <a:cs typeface="Arial"/>
                <a:sym typeface="Arial"/>
              </a:rPr>
              <a:t> VLM-generated BDAs using </a:t>
            </a:r>
            <a:r>
              <a:rPr b="1" lang="en" sz="2200">
                <a:solidFill>
                  <a:schemeClr val="dk1"/>
                </a:solidFill>
                <a:latin typeface="Arial"/>
                <a:ea typeface="Arial"/>
                <a:cs typeface="Arial"/>
                <a:sym typeface="Arial"/>
              </a:rPr>
              <a:t>open-source data</a:t>
            </a:r>
            <a:r>
              <a:rPr lang="en" sz="2200">
                <a:solidFill>
                  <a:schemeClr val="dk1"/>
                </a:solidFill>
                <a:latin typeface="Arial"/>
                <a:ea typeface="Arial"/>
                <a:cs typeface="Arial"/>
                <a:sym typeface="Arial"/>
              </a:rPr>
              <a:t>, as well as developing a </a:t>
            </a:r>
            <a:r>
              <a:rPr b="1" lang="en" sz="2200">
                <a:solidFill>
                  <a:schemeClr val="dk1"/>
                </a:solidFill>
                <a:latin typeface="Arial"/>
                <a:ea typeface="Arial"/>
                <a:cs typeface="Arial"/>
                <a:sym typeface="Arial"/>
              </a:rPr>
              <a:t>portable environment</a:t>
            </a:r>
            <a:r>
              <a:rPr lang="en" sz="2200">
                <a:solidFill>
                  <a:schemeClr val="dk1"/>
                </a:solidFill>
                <a:latin typeface="Arial"/>
                <a:ea typeface="Arial"/>
                <a:cs typeface="Arial"/>
                <a:sym typeface="Arial"/>
              </a:rPr>
              <a:t> to create VLM-generated BDAs on edge devices operating within </a:t>
            </a:r>
            <a:r>
              <a:rPr b="1" lang="en" sz="2200">
                <a:solidFill>
                  <a:schemeClr val="dk1"/>
                </a:solidFill>
                <a:latin typeface="Arial"/>
                <a:ea typeface="Arial"/>
                <a:cs typeface="Arial"/>
                <a:sym typeface="Arial"/>
              </a:rPr>
              <a:t>research environments</a:t>
            </a:r>
            <a:r>
              <a:rPr lang="en" sz="2200">
                <a:solidFill>
                  <a:schemeClr val="dk1"/>
                </a:solidFill>
                <a:latin typeface="Arial"/>
                <a:ea typeface="Arial"/>
                <a:cs typeface="Arial"/>
                <a:sym typeface="Arial"/>
              </a:rPr>
              <a:t>.</a:t>
            </a:r>
            <a:endParaRPr i="1" sz="2200">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Data Requirements For BDA - Target Focused</a:t>
            </a:r>
            <a:endParaRPr/>
          </a:p>
        </p:txBody>
      </p:sp>
      <p:sp>
        <p:nvSpPr>
          <p:cNvPr id="116" name="Google Shape;116;p20"/>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117" name="Google Shape;117;p20"/>
          <p:cNvSpPr/>
          <p:nvPr/>
        </p:nvSpPr>
        <p:spPr>
          <a:xfrm>
            <a:off x="5850350" y="2389598"/>
            <a:ext cx="2589600" cy="1121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a:t>Target Type</a:t>
            </a:r>
            <a:endParaRPr/>
          </a:p>
          <a:p>
            <a:pPr indent="-317500" lvl="0" marL="457200" rtl="0" algn="l">
              <a:spcBef>
                <a:spcPts val="0"/>
              </a:spcBef>
              <a:spcAft>
                <a:spcPts val="0"/>
              </a:spcAft>
              <a:buSzPts val="1400"/>
              <a:buChar char="●"/>
            </a:pPr>
            <a:r>
              <a:rPr lang="en"/>
              <a:t>Damage Category</a:t>
            </a:r>
            <a:endParaRPr/>
          </a:p>
          <a:p>
            <a:pPr indent="-317500" lvl="0" marL="457200" rtl="0" algn="l">
              <a:spcBef>
                <a:spcPts val="0"/>
              </a:spcBef>
              <a:spcAft>
                <a:spcPts val="0"/>
              </a:spcAft>
              <a:buSzPts val="1400"/>
              <a:buChar char="●"/>
            </a:pPr>
            <a:r>
              <a:rPr lang="en"/>
              <a:t>Confidence Level</a:t>
            </a:r>
            <a:endParaRPr/>
          </a:p>
        </p:txBody>
      </p:sp>
      <p:sp>
        <p:nvSpPr>
          <p:cNvPr id="118" name="Google Shape;118;p20"/>
          <p:cNvSpPr/>
          <p:nvPr/>
        </p:nvSpPr>
        <p:spPr>
          <a:xfrm rot="2290852">
            <a:off x="5132621" y="2820007"/>
            <a:ext cx="285855" cy="1497785"/>
          </a:xfrm>
          <a:prstGeom prst="up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Sans"/>
              <a:ea typeface="Fira Sans"/>
              <a:cs typeface="Fira Sans"/>
              <a:sym typeface="Fira Sans"/>
            </a:endParaRPr>
          </a:p>
        </p:txBody>
      </p:sp>
      <p:sp>
        <p:nvSpPr>
          <p:cNvPr id="119" name="Google Shape;119;p20"/>
          <p:cNvSpPr txBox="1"/>
          <p:nvPr/>
        </p:nvSpPr>
        <p:spPr>
          <a:xfrm>
            <a:off x="5645150" y="3511000"/>
            <a:ext cx="3000000" cy="648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i="1" lang="en">
                <a:solidFill>
                  <a:schemeClr val="dk1"/>
                </a:solidFill>
              </a:rPr>
              <a:t>“One vehicle is assessed as DESTROYED (CONFIRMED)”</a:t>
            </a:r>
            <a:endParaRPr i="1">
              <a:solidFill>
                <a:schemeClr val="dk1"/>
              </a:solidFill>
            </a:endParaRPr>
          </a:p>
        </p:txBody>
      </p:sp>
      <p:pic>
        <p:nvPicPr>
          <p:cNvPr id="120" name="Google Shape;120;p20" title="image_png.png"/>
          <p:cNvPicPr preferRelativeResize="0"/>
          <p:nvPr/>
        </p:nvPicPr>
        <p:blipFill>
          <a:blip r:embed="rId3">
            <a:alphaModFix/>
          </a:blip>
          <a:stretch>
            <a:fillRect/>
          </a:stretch>
        </p:blipFill>
        <p:spPr>
          <a:xfrm>
            <a:off x="311700" y="1306675"/>
            <a:ext cx="4389052" cy="32872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Data Requirements For BDA - Out Of Scope</a:t>
            </a:r>
            <a:endParaRPr/>
          </a:p>
        </p:txBody>
      </p:sp>
      <p:sp>
        <p:nvSpPr>
          <p:cNvPr id="126" name="Google Shape;126;p21"/>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pic>
        <p:nvPicPr>
          <p:cNvPr id="127" name="Google Shape;127;p21" title="image_png.png"/>
          <p:cNvPicPr preferRelativeResize="0"/>
          <p:nvPr/>
        </p:nvPicPr>
        <p:blipFill>
          <a:blip r:embed="rId3">
            <a:alphaModFix/>
          </a:blip>
          <a:stretch>
            <a:fillRect/>
          </a:stretch>
        </p:blipFill>
        <p:spPr>
          <a:xfrm>
            <a:off x="311700" y="1306675"/>
            <a:ext cx="4389052" cy="3287250"/>
          </a:xfrm>
          <a:prstGeom prst="rect">
            <a:avLst/>
          </a:prstGeom>
          <a:noFill/>
          <a:ln>
            <a:noFill/>
          </a:ln>
        </p:spPr>
      </p:pic>
      <p:sp>
        <p:nvSpPr>
          <p:cNvPr id="128" name="Google Shape;128;p21"/>
          <p:cNvSpPr/>
          <p:nvPr/>
        </p:nvSpPr>
        <p:spPr>
          <a:xfrm>
            <a:off x="5800500" y="2992761"/>
            <a:ext cx="2794800" cy="1121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lang="en">
                <a:solidFill>
                  <a:schemeClr val="dk1"/>
                </a:solidFill>
              </a:rPr>
              <a:t>Scene </a:t>
            </a:r>
            <a:r>
              <a:rPr lang="en">
                <a:solidFill>
                  <a:schemeClr val="dk1"/>
                </a:solidFill>
              </a:rPr>
              <a:t>Level</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Functional Damage Level</a:t>
            </a:r>
            <a:endParaRPr>
              <a:solidFill>
                <a:schemeClr val="dk1"/>
              </a:solidFill>
            </a:endParaRPr>
          </a:p>
        </p:txBody>
      </p:sp>
      <p:sp>
        <p:nvSpPr>
          <p:cNvPr id="129" name="Google Shape;129;p21"/>
          <p:cNvSpPr/>
          <p:nvPr/>
        </p:nvSpPr>
        <p:spPr>
          <a:xfrm rot="5404078">
            <a:off x="5101900" y="3073150"/>
            <a:ext cx="252900" cy="960600"/>
          </a:xfrm>
          <a:prstGeom prst="up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Sans"/>
              <a:ea typeface="Fira Sans"/>
              <a:cs typeface="Fira Sans"/>
              <a:sym typeface="Fira Sans"/>
            </a:endParaRPr>
          </a:p>
        </p:txBody>
      </p:sp>
      <p:sp>
        <p:nvSpPr>
          <p:cNvPr id="130" name="Google Shape;130;p21"/>
          <p:cNvSpPr/>
          <p:nvPr/>
        </p:nvSpPr>
        <p:spPr>
          <a:xfrm>
            <a:off x="5757908" y="1206286"/>
            <a:ext cx="2794800" cy="1121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lang="en">
                <a:solidFill>
                  <a:schemeClr val="dk1"/>
                </a:solidFill>
              </a:rPr>
              <a:t>Target System Impact</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Recuperation Time</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Re-Attack Rec.</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Task Assessment</a:t>
            </a:r>
            <a:endParaRPr>
              <a:solidFill>
                <a:schemeClr val="dk1"/>
              </a:solidFill>
            </a:endParaRPr>
          </a:p>
        </p:txBody>
      </p:sp>
      <p:sp>
        <p:nvSpPr>
          <p:cNvPr id="131" name="Google Shape;131;p21"/>
          <p:cNvSpPr/>
          <p:nvPr/>
        </p:nvSpPr>
        <p:spPr>
          <a:xfrm rot="2290852">
            <a:off x="5024830" y="1610449"/>
            <a:ext cx="285855" cy="1278132"/>
          </a:xfrm>
          <a:prstGeom prst="up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Sans"/>
              <a:ea typeface="Fira Sans"/>
              <a:cs typeface="Fira Sans"/>
              <a:sym typeface="Fira Sans"/>
            </a:endParaRPr>
          </a:p>
        </p:txBody>
      </p:sp>
      <p:sp>
        <p:nvSpPr>
          <p:cNvPr id="132" name="Google Shape;132;p21"/>
          <p:cNvSpPr txBox="1"/>
          <p:nvPr/>
        </p:nvSpPr>
        <p:spPr>
          <a:xfrm>
            <a:off x="5186700" y="2297888"/>
            <a:ext cx="39372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i="1" lang="en">
                <a:solidFill>
                  <a:schemeClr val="accent6"/>
                </a:solidFill>
              </a:rPr>
              <a:t>*</a:t>
            </a:r>
            <a:r>
              <a:rPr i="1" lang="en">
                <a:solidFill>
                  <a:schemeClr val="accent6"/>
                </a:solidFill>
              </a:rPr>
              <a:t>Requires Mission Context (OPORD) and MOE</a:t>
            </a:r>
            <a:endParaRPr i="1">
              <a:solidFill>
                <a:schemeClr val="accent6"/>
              </a:solidFill>
            </a:endParaRPr>
          </a:p>
        </p:txBody>
      </p:sp>
      <p:sp>
        <p:nvSpPr>
          <p:cNvPr id="133" name="Google Shape;133;p21"/>
          <p:cNvSpPr txBox="1"/>
          <p:nvPr/>
        </p:nvSpPr>
        <p:spPr>
          <a:xfrm>
            <a:off x="5507392" y="4114160"/>
            <a:ext cx="33810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i="1" lang="en">
                <a:solidFill>
                  <a:schemeClr val="accent6"/>
                </a:solidFill>
              </a:rPr>
              <a:t>*Requires All Source Intelligence Fusion</a:t>
            </a:r>
            <a:endParaRPr i="1">
              <a:solidFill>
                <a:schemeClr val="accent6"/>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2"/>
          <p:cNvSpPr/>
          <p:nvPr/>
        </p:nvSpPr>
        <p:spPr>
          <a:xfrm>
            <a:off x="1046506" y="1349068"/>
            <a:ext cx="2130000" cy="2421000"/>
          </a:xfrm>
          <a:prstGeom prst="roundRect">
            <a:avLst>
              <a:gd fmla="val 16667" name="adj"/>
            </a:avLst>
          </a:prstGeom>
          <a:noFill/>
          <a:ln cap="flat" cmpd="sng" w="9525">
            <a:solidFill>
              <a:srgbClr val="85858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Sans"/>
              <a:ea typeface="Fira Sans"/>
              <a:cs typeface="Fira Sans"/>
              <a:sym typeface="Fira Sans"/>
            </a:endParaRPr>
          </a:p>
        </p:txBody>
      </p:sp>
      <p:sp>
        <p:nvSpPr>
          <p:cNvPr id="139" name="Google Shape;139;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Input</a:t>
            </a:r>
            <a:endParaRPr/>
          </a:p>
        </p:txBody>
      </p:sp>
      <p:sp>
        <p:nvSpPr>
          <p:cNvPr id="140" name="Google Shape;140;p22"/>
          <p:cNvSpPr txBox="1"/>
          <p:nvPr>
            <p:ph idx="12" type="sldNum"/>
          </p:nvPr>
        </p:nvSpPr>
        <p:spPr>
          <a:xfrm>
            <a:off x="9273572"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pic>
        <p:nvPicPr>
          <p:cNvPr id="141" name="Google Shape;141;p22"/>
          <p:cNvPicPr preferRelativeResize="0"/>
          <p:nvPr/>
        </p:nvPicPr>
        <p:blipFill>
          <a:blip r:embed="rId3">
            <a:alphaModFix/>
          </a:blip>
          <a:stretch>
            <a:fillRect/>
          </a:stretch>
        </p:blipFill>
        <p:spPr>
          <a:xfrm>
            <a:off x="2268739" y="2642038"/>
            <a:ext cx="657225" cy="904875"/>
          </a:xfrm>
          <a:prstGeom prst="rect">
            <a:avLst/>
          </a:prstGeom>
          <a:noFill/>
          <a:ln>
            <a:noFill/>
          </a:ln>
        </p:spPr>
      </p:pic>
      <p:pic>
        <p:nvPicPr>
          <p:cNvPr id="142" name="Google Shape;142;p22"/>
          <p:cNvPicPr preferRelativeResize="0"/>
          <p:nvPr/>
        </p:nvPicPr>
        <p:blipFill>
          <a:blip r:embed="rId4">
            <a:alphaModFix/>
          </a:blip>
          <a:stretch>
            <a:fillRect/>
          </a:stretch>
        </p:blipFill>
        <p:spPr>
          <a:xfrm>
            <a:off x="1292551" y="2656325"/>
            <a:ext cx="647700" cy="876300"/>
          </a:xfrm>
          <a:prstGeom prst="rect">
            <a:avLst/>
          </a:prstGeom>
          <a:noFill/>
          <a:ln>
            <a:noFill/>
          </a:ln>
        </p:spPr>
      </p:pic>
      <p:pic>
        <p:nvPicPr>
          <p:cNvPr id="143" name="Google Shape;143;p22"/>
          <p:cNvPicPr preferRelativeResize="0"/>
          <p:nvPr/>
        </p:nvPicPr>
        <p:blipFill>
          <a:blip r:embed="rId5">
            <a:alphaModFix/>
          </a:blip>
          <a:stretch>
            <a:fillRect/>
          </a:stretch>
        </p:blipFill>
        <p:spPr>
          <a:xfrm>
            <a:off x="2268751" y="1515684"/>
            <a:ext cx="657226" cy="900915"/>
          </a:xfrm>
          <a:prstGeom prst="rect">
            <a:avLst/>
          </a:prstGeom>
          <a:noFill/>
          <a:ln>
            <a:noFill/>
          </a:ln>
        </p:spPr>
      </p:pic>
      <p:pic>
        <p:nvPicPr>
          <p:cNvPr id="144" name="Google Shape;144;p22"/>
          <p:cNvPicPr preferRelativeResize="0"/>
          <p:nvPr/>
        </p:nvPicPr>
        <p:blipFill>
          <a:blip r:embed="rId6">
            <a:alphaModFix/>
          </a:blip>
          <a:stretch>
            <a:fillRect/>
          </a:stretch>
        </p:blipFill>
        <p:spPr>
          <a:xfrm>
            <a:off x="1275826" y="1551253"/>
            <a:ext cx="681187" cy="876301"/>
          </a:xfrm>
          <a:prstGeom prst="rect">
            <a:avLst/>
          </a:prstGeom>
          <a:noFill/>
          <a:ln>
            <a:noFill/>
          </a:ln>
        </p:spPr>
      </p:pic>
      <p:cxnSp>
        <p:nvCxnSpPr>
          <p:cNvPr id="145" name="Google Shape;145;p22"/>
          <p:cNvCxnSpPr>
            <a:stCxn id="138" idx="3"/>
          </p:cNvCxnSpPr>
          <p:nvPr/>
        </p:nvCxnSpPr>
        <p:spPr>
          <a:xfrm>
            <a:off x="3176506" y="2559568"/>
            <a:ext cx="3597600" cy="0"/>
          </a:xfrm>
          <a:prstGeom prst="straightConnector1">
            <a:avLst/>
          </a:prstGeom>
          <a:noFill/>
          <a:ln cap="flat" cmpd="sng" w="9525">
            <a:solidFill>
              <a:srgbClr val="858585"/>
            </a:solidFill>
            <a:prstDash val="solid"/>
            <a:round/>
            <a:headEnd len="med" w="med" type="none"/>
            <a:tailEnd len="med" w="med" type="triangle"/>
          </a:ln>
        </p:spPr>
      </p:cxnSp>
      <p:pic>
        <p:nvPicPr>
          <p:cNvPr id="146" name="Google Shape;146;p22"/>
          <p:cNvPicPr preferRelativeResize="0"/>
          <p:nvPr/>
        </p:nvPicPr>
        <p:blipFill>
          <a:blip r:embed="rId7">
            <a:alphaModFix/>
          </a:blip>
          <a:stretch>
            <a:fillRect/>
          </a:stretch>
        </p:blipFill>
        <p:spPr>
          <a:xfrm>
            <a:off x="6764404" y="1951075"/>
            <a:ext cx="1339000" cy="1174050"/>
          </a:xfrm>
          <a:prstGeom prst="rect">
            <a:avLst/>
          </a:prstGeom>
          <a:noFill/>
          <a:ln>
            <a:noFill/>
          </a:ln>
        </p:spPr>
      </p:pic>
      <p:cxnSp>
        <p:nvCxnSpPr>
          <p:cNvPr id="147" name="Google Shape;147;p22"/>
          <p:cNvCxnSpPr>
            <a:stCxn id="138" idx="2"/>
          </p:cNvCxnSpPr>
          <p:nvPr/>
        </p:nvCxnSpPr>
        <p:spPr>
          <a:xfrm rot="5400000">
            <a:off x="1578856" y="3859318"/>
            <a:ext cx="621900" cy="443400"/>
          </a:xfrm>
          <a:prstGeom prst="curvedConnector3">
            <a:avLst>
              <a:gd fmla="val 50000" name="adj1"/>
            </a:avLst>
          </a:prstGeom>
          <a:noFill/>
          <a:ln cap="flat" cmpd="sng" w="9525">
            <a:solidFill>
              <a:srgbClr val="FF0000"/>
            </a:solidFill>
            <a:prstDash val="solid"/>
            <a:round/>
            <a:headEnd len="med" w="med" type="none"/>
            <a:tailEnd len="med" w="med" type="stealth"/>
          </a:ln>
        </p:spPr>
      </p:cxnSp>
      <p:sp>
        <p:nvSpPr>
          <p:cNvPr id="148" name="Google Shape;148;p22"/>
          <p:cNvSpPr txBox="1"/>
          <p:nvPr/>
        </p:nvSpPr>
        <p:spPr>
          <a:xfrm>
            <a:off x="99864" y="4382619"/>
            <a:ext cx="491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Exception Handling if image is not a supported </a:t>
            </a:r>
            <a:r>
              <a:rPr lang="en">
                <a:solidFill>
                  <a:srgbClr val="FF0000"/>
                </a:solidFill>
              </a:rPr>
              <a:t>file format</a:t>
            </a:r>
            <a:endParaRPr>
              <a:solidFill>
                <a:srgbClr val="FF0000"/>
              </a:solidFill>
            </a:endParaRPr>
          </a:p>
        </p:txBody>
      </p:sp>
      <p:sp>
        <p:nvSpPr>
          <p:cNvPr id="149" name="Google Shape;149;p22"/>
          <p:cNvSpPr txBox="1"/>
          <p:nvPr/>
        </p:nvSpPr>
        <p:spPr>
          <a:xfrm>
            <a:off x="6832104" y="3026294"/>
            <a:ext cx="1203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2"/>
                </a:solidFill>
                <a:latin typeface="Fira Sans"/>
                <a:ea typeface="Fira Sans"/>
                <a:cs typeface="Fira Sans"/>
                <a:sym typeface="Fira Sans"/>
              </a:rPr>
              <a:t>bda-svc</a:t>
            </a:r>
            <a:endParaRPr sz="1800">
              <a:solidFill>
                <a:schemeClr val="dk2"/>
              </a:solidFill>
              <a:latin typeface="Fira Sans"/>
              <a:ea typeface="Fira Sans"/>
              <a:cs typeface="Fira Sans"/>
              <a:sym typeface="Fira Sans"/>
            </a:endParaRPr>
          </a:p>
        </p:txBody>
      </p:sp>
      <p:grpSp>
        <p:nvGrpSpPr>
          <p:cNvPr id="150" name="Google Shape;150;p22"/>
          <p:cNvGrpSpPr/>
          <p:nvPr/>
        </p:nvGrpSpPr>
        <p:grpSpPr>
          <a:xfrm>
            <a:off x="3724449" y="873200"/>
            <a:ext cx="2767250" cy="975000"/>
            <a:chOff x="2367800" y="383350"/>
            <a:chExt cx="2597625" cy="975000"/>
          </a:xfrm>
        </p:grpSpPr>
        <p:sp>
          <p:nvSpPr>
            <p:cNvPr id="151" name="Google Shape;151;p22"/>
            <p:cNvSpPr/>
            <p:nvPr/>
          </p:nvSpPr>
          <p:spPr>
            <a:xfrm>
              <a:off x="2367800" y="383350"/>
              <a:ext cx="2484600" cy="975000"/>
            </a:xfrm>
            <a:prstGeom prst="roundRect">
              <a:avLst>
                <a:gd fmla="val 16667" name="adj"/>
              </a:avLst>
            </a:prstGeom>
            <a:noFill/>
            <a:ln cap="flat" cmpd="sng" w="9525">
              <a:solidFill>
                <a:srgbClr val="85858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Sans"/>
                <a:ea typeface="Fira Sans"/>
                <a:cs typeface="Fira Sans"/>
                <a:sym typeface="Fira Sans"/>
              </a:endParaRPr>
            </a:p>
          </p:txBody>
        </p:sp>
        <p:sp>
          <p:nvSpPr>
            <p:cNvPr id="152" name="Google Shape;152;p22"/>
            <p:cNvSpPr txBox="1"/>
            <p:nvPr/>
          </p:nvSpPr>
          <p:spPr>
            <a:xfrm>
              <a:off x="2527325" y="492300"/>
              <a:ext cx="24381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 </a:t>
              </a:r>
              <a:r>
                <a:rPr lang="en" sz="1800">
                  <a:solidFill>
                    <a:schemeClr val="dk2"/>
                  </a:solidFill>
                </a:rPr>
                <a:t>Model prompt</a:t>
              </a:r>
              <a:endParaRPr sz="1800">
                <a:solidFill>
                  <a:schemeClr val="dk2"/>
                </a:solidFill>
              </a:endParaRPr>
            </a:p>
            <a:p>
              <a:pPr indent="0" lvl="0" marL="0" rtl="0" algn="l">
                <a:spcBef>
                  <a:spcPts val="0"/>
                </a:spcBef>
                <a:spcAft>
                  <a:spcPts val="0"/>
                </a:spcAft>
                <a:buNone/>
              </a:pPr>
              <a:r>
                <a:rPr lang="en" sz="1800">
                  <a:solidFill>
                    <a:schemeClr val="dk2"/>
                  </a:solidFill>
                </a:rPr>
                <a:t>- Model parameters</a:t>
              </a:r>
              <a:endParaRPr sz="1800">
                <a:solidFill>
                  <a:schemeClr val="dk2"/>
                </a:solidFill>
              </a:endParaRPr>
            </a:p>
          </p:txBody>
        </p:sp>
      </p:grpSp>
      <p:cxnSp>
        <p:nvCxnSpPr>
          <p:cNvPr id="153" name="Google Shape;153;p22"/>
          <p:cNvCxnSpPr>
            <a:stCxn id="151" idx="2"/>
          </p:cNvCxnSpPr>
          <p:nvPr/>
        </p:nvCxnSpPr>
        <p:spPr>
          <a:xfrm flipH="1" rot="-5400000">
            <a:off x="5675471" y="1220600"/>
            <a:ext cx="489900" cy="1745100"/>
          </a:xfrm>
          <a:prstGeom prst="bentConnector2">
            <a:avLst/>
          </a:prstGeom>
          <a:noFill/>
          <a:ln cap="flat" cmpd="sng" w="9525">
            <a:solidFill>
              <a:srgbClr val="858585"/>
            </a:solidFill>
            <a:prstDash val="solid"/>
            <a:round/>
            <a:headEnd len="med" w="med" type="none"/>
            <a:tailEnd len="med" w="med" type="triangle"/>
          </a:ln>
        </p:spPr>
      </p:cxnSp>
      <p:pic>
        <p:nvPicPr>
          <p:cNvPr id="154" name="Google Shape;154;p22"/>
          <p:cNvPicPr preferRelativeResize="0"/>
          <p:nvPr/>
        </p:nvPicPr>
        <p:blipFill>
          <a:blip r:embed="rId8">
            <a:alphaModFix/>
          </a:blip>
          <a:stretch>
            <a:fillRect/>
          </a:stretch>
        </p:blipFill>
        <p:spPr>
          <a:xfrm>
            <a:off x="886090" y="3531307"/>
            <a:ext cx="424200" cy="323125"/>
          </a:xfrm>
          <a:prstGeom prst="rect">
            <a:avLst/>
          </a:prstGeom>
          <a:noFill/>
          <a:ln>
            <a:noFill/>
          </a:ln>
        </p:spPr>
      </p:pic>
      <p:pic>
        <p:nvPicPr>
          <p:cNvPr id="155" name="Google Shape;155;p22"/>
          <p:cNvPicPr preferRelativeResize="0"/>
          <p:nvPr/>
        </p:nvPicPr>
        <p:blipFill>
          <a:blip r:embed="rId9">
            <a:alphaModFix/>
          </a:blip>
          <a:stretch>
            <a:fillRect/>
          </a:stretch>
        </p:blipFill>
        <p:spPr>
          <a:xfrm>
            <a:off x="3523480" y="1580198"/>
            <a:ext cx="461700" cy="461700"/>
          </a:xfrm>
          <a:prstGeom prst="rect">
            <a:avLst/>
          </a:prstGeom>
          <a:noFill/>
          <a:ln>
            <a:noFill/>
          </a:ln>
        </p:spPr>
      </p:pic>
      <p:grpSp>
        <p:nvGrpSpPr>
          <p:cNvPr id="156" name="Google Shape;156;p22"/>
          <p:cNvGrpSpPr/>
          <p:nvPr/>
        </p:nvGrpSpPr>
        <p:grpSpPr>
          <a:xfrm>
            <a:off x="3721332" y="3136353"/>
            <a:ext cx="2767258" cy="1048232"/>
            <a:chOff x="2367800" y="383341"/>
            <a:chExt cx="2597633" cy="975009"/>
          </a:xfrm>
        </p:grpSpPr>
        <p:sp>
          <p:nvSpPr>
            <p:cNvPr id="157" name="Google Shape;157;p22"/>
            <p:cNvSpPr/>
            <p:nvPr/>
          </p:nvSpPr>
          <p:spPr>
            <a:xfrm>
              <a:off x="2367800" y="383350"/>
              <a:ext cx="2484600" cy="975000"/>
            </a:xfrm>
            <a:prstGeom prst="roundRect">
              <a:avLst>
                <a:gd fmla="val 16667" name="adj"/>
              </a:avLst>
            </a:prstGeom>
            <a:noFill/>
            <a:ln cap="flat" cmpd="sng" w="9525">
              <a:solidFill>
                <a:srgbClr val="85858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Sans"/>
                <a:ea typeface="Fira Sans"/>
                <a:cs typeface="Fira Sans"/>
                <a:sym typeface="Fira Sans"/>
              </a:endParaRPr>
            </a:p>
          </p:txBody>
        </p:sp>
        <p:sp>
          <p:nvSpPr>
            <p:cNvPr id="158" name="Google Shape;158;p22"/>
            <p:cNvSpPr txBox="1"/>
            <p:nvPr/>
          </p:nvSpPr>
          <p:spPr>
            <a:xfrm>
              <a:off x="2527333" y="383341"/>
              <a:ext cx="2438100" cy="94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 Military Doctrine</a:t>
              </a:r>
              <a:endParaRPr sz="1800">
                <a:solidFill>
                  <a:schemeClr val="dk2"/>
                </a:solidFill>
              </a:endParaRPr>
            </a:p>
            <a:p>
              <a:pPr indent="0" lvl="0" marL="0" rtl="0" algn="l">
                <a:spcBef>
                  <a:spcPts val="0"/>
                </a:spcBef>
                <a:spcAft>
                  <a:spcPts val="0"/>
                </a:spcAft>
                <a:buNone/>
              </a:pPr>
              <a:r>
                <a:rPr lang="en" sz="1800">
                  <a:solidFill>
                    <a:schemeClr val="dk2"/>
                  </a:solidFill>
                </a:rPr>
                <a:t>      - Object types</a:t>
              </a:r>
              <a:endParaRPr sz="1800">
                <a:solidFill>
                  <a:schemeClr val="dk2"/>
                </a:solidFill>
              </a:endParaRPr>
            </a:p>
            <a:p>
              <a:pPr indent="0" lvl="0" marL="0" rtl="0" algn="l">
                <a:spcBef>
                  <a:spcPts val="0"/>
                </a:spcBef>
                <a:spcAft>
                  <a:spcPts val="0"/>
                </a:spcAft>
                <a:buNone/>
              </a:pPr>
              <a:r>
                <a:rPr lang="en" sz="1800">
                  <a:solidFill>
                    <a:schemeClr val="dk2"/>
                  </a:solidFill>
                </a:rPr>
                <a:t>      - Damage</a:t>
              </a:r>
              <a:endParaRPr sz="1800">
                <a:solidFill>
                  <a:schemeClr val="dk2"/>
                </a:solidFill>
              </a:endParaRPr>
            </a:p>
          </p:txBody>
        </p:sp>
      </p:grpSp>
      <p:pic>
        <p:nvPicPr>
          <p:cNvPr id="159" name="Google Shape;159;p22"/>
          <p:cNvPicPr preferRelativeResize="0"/>
          <p:nvPr/>
        </p:nvPicPr>
        <p:blipFill>
          <a:blip r:embed="rId9">
            <a:alphaModFix/>
          </a:blip>
          <a:stretch>
            <a:fillRect/>
          </a:stretch>
        </p:blipFill>
        <p:spPr>
          <a:xfrm>
            <a:off x="3520346" y="3843379"/>
            <a:ext cx="461700" cy="461700"/>
          </a:xfrm>
          <a:prstGeom prst="rect">
            <a:avLst/>
          </a:prstGeom>
          <a:noFill/>
          <a:ln>
            <a:noFill/>
          </a:ln>
        </p:spPr>
      </p:pic>
      <p:cxnSp>
        <p:nvCxnSpPr>
          <p:cNvPr id="160" name="Google Shape;160;p22"/>
          <p:cNvCxnSpPr>
            <a:stCxn id="157" idx="0"/>
          </p:cNvCxnSpPr>
          <p:nvPr/>
        </p:nvCxnSpPr>
        <p:spPr>
          <a:xfrm rot="-5400000">
            <a:off x="5741204" y="2094013"/>
            <a:ext cx="345900" cy="1738800"/>
          </a:xfrm>
          <a:prstGeom prst="bentConnector2">
            <a:avLst/>
          </a:prstGeom>
          <a:noFill/>
          <a:ln cap="flat" cmpd="sng" w="9525">
            <a:solidFill>
              <a:srgbClr val="858585"/>
            </a:solidFill>
            <a:prstDash val="solid"/>
            <a:round/>
            <a:headEnd len="med" w="med"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3"/>
          <p:cNvSpPr/>
          <p:nvPr/>
        </p:nvSpPr>
        <p:spPr>
          <a:xfrm>
            <a:off x="5135025" y="2319350"/>
            <a:ext cx="3566700" cy="1261500"/>
          </a:xfrm>
          <a:prstGeom prst="roundRect">
            <a:avLst>
              <a:gd fmla="val 16667" name="adj"/>
            </a:avLst>
          </a:prstGeom>
          <a:solidFill>
            <a:srgbClr val="BB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Sans"/>
              <a:ea typeface="Fira Sans"/>
              <a:cs typeface="Fira Sans"/>
              <a:sym typeface="Fira Sans"/>
            </a:endParaRPr>
          </a:p>
        </p:txBody>
      </p:sp>
      <p:sp>
        <p:nvSpPr>
          <p:cNvPr id="166" name="Google Shape;166;p23"/>
          <p:cNvSpPr/>
          <p:nvPr/>
        </p:nvSpPr>
        <p:spPr>
          <a:xfrm>
            <a:off x="5135025" y="3704150"/>
            <a:ext cx="3566700" cy="310800"/>
          </a:xfrm>
          <a:prstGeom prst="roundRect">
            <a:avLst>
              <a:gd fmla="val 16667" name="adj"/>
            </a:avLst>
          </a:prstGeom>
          <a:solidFill>
            <a:srgbClr val="FFC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Sans"/>
              <a:ea typeface="Fira Sans"/>
              <a:cs typeface="Fira Sans"/>
              <a:sym typeface="Fira Sans"/>
            </a:endParaRPr>
          </a:p>
        </p:txBody>
      </p:sp>
      <p:sp>
        <p:nvSpPr>
          <p:cNvPr id="167" name="Google Shape;167;p23"/>
          <p:cNvSpPr txBox="1"/>
          <p:nvPr/>
        </p:nvSpPr>
        <p:spPr>
          <a:xfrm>
            <a:off x="4735500" y="260350"/>
            <a:ext cx="4299600" cy="4340700"/>
          </a:xfrm>
          <a:prstGeom prst="rect">
            <a:avLst/>
          </a:prstGeom>
          <a:noFill/>
          <a:ln cap="flat" cmpd="sng" w="9525">
            <a:solidFill>
              <a:srgbClr val="858585"/>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rPr>
              <a:t>{</a:t>
            </a:r>
            <a:endParaRPr sz="1000">
              <a:solidFill>
                <a:schemeClr val="dk2"/>
              </a:solidFill>
            </a:endParaRPr>
          </a:p>
          <a:p>
            <a:pPr indent="0" lvl="0" marL="0" rtl="0" algn="l">
              <a:spcBef>
                <a:spcPts val="0"/>
              </a:spcBef>
              <a:spcAft>
                <a:spcPts val="0"/>
              </a:spcAft>
              <a:buNone/>
            </a:pPr>
            <a:r>
              <a:rPr lang="en" sz="1000">
                <a:solidFill>
                  <a:schemeClr val="dk2"/>
                </a:solidFill>
              </a:rPr>
              <a:t>        " </a:t>
            </a:r>
            <a:r>
              <a:rPr lang="en" sz="1000">
                <a:solidFill>
                  <a:schemeClr val="dk2"/>
                </a:solidFill>
              </a:rPr>
              <a:t>m</a:t>
            </a:r>
            <a:r>
              <a:rPr lang="en" sz="1000">
                <a:solidFill>
                  <a:schemeClr val="dk2"/>
                </a:solidFill>
              </a:rPr>
              <a:t>etadata ": {</a:t>
            </a:r>
            <a:endParaRPr sz="1000">
              <a:solidFill>
                <a:schemeClr val="dk2"/>
              </a:solidFill>
            </a:endParaRPr>
          </a:p>
          <a:p>
            <a:pPr indent="0" lvl="0" marL="0" rtl="0" algn="l">
              <a:spcBef>
                <a:spcPts val="0"/>
              </a:spcBef>
              <a:spcAft>
                <a:spcPts val="0"/>
              </a:spcAft>
              <a:buNone/>
            </a:pPr>
            <a:r>
              <a:rPr lang="en" sz="1000">
                <a:solidFill>
                  <a:schemeClr val="dk2"/>
                </a:solidFill>
              </a:rPr>
              <a:t>            " image_id "</a:t>
            </a:r>
            <a:endParaRPr sz="1000">
              <a:solidFill>
                <a:schemeClr val="dk2"/>
              </a:solidFill>
            </a:endParaRPr>
          </a:p>
          <a:p>
            <a:pPr indent="0" lvl="0" marL="0" rtl="0" algn="l">
              <a:spcBef>
                <a:spcPts val="0"/>
              </a:spcBef>
              <a:spcAft>
                <a:spcPts val="0"/>
              </a:spcAft>
              <a:buNone/>
            </a:pPr>
            <a:r>
              <a:rPr lang="en" sz="1000">
                <a:solidFill>
                  <a:schemeClr val="dk2"/>
                </a:solidFill>
              </a:rPr>
              <a:t>            “ image_filename ”</a:t>
            </a:r>
            <a:endParaRPr sz="1000">
              <a:solidFill>
                <a:schemeClr val="dk2"/>
              </a:solidFill>
            </a:endParaRPr>
          </a:p>
          <a:p>
            <a:pPr indent="0" lvl="0" marL="0" rtl="0" algn="l">
              <a:spcBef>
                <a:spcPts val="0"/>
              </a:spcBef>
              <a:spcAft>
                <a:spcPts val="0"/>
              </a:spcAft>
              <a:buNone/>
            </a:pPr>
            <a:r>
              <a:rPr lang="en" sz="1000">
                <a:solidFill>
                  <a:schemeClr val="dk2"/>
                </a:solidFill>
              </a:rPr>
              <a:t>            " date_created "</a:t>
            </a:r>
            <a:endParaRPr sz="1000">
              <a:solidFill>
                <a:schemeClr val="dk2"/>
              </a:solidFill>
            </a:endParaRPr>
          </a:p>
          <a:p>
            <a:pPr indent="0" lvl="0" marL="0" rtl="0" algn="l">
              <a:spcBef>
                <a:spcPts val="0"/>
              </a:spcBef>
              <a:spcAft>
                <a:spcPts val="0"/>
              </a:spcAft>
              <a:buNone/>
            </a:pPr>
            <a:r>
              <a:rPr lang="en" sz="1000">
                <a:solidFill>
                  <a:schemeClr val="dk2"/>
                </a:solidFill>
              </a:rPr>
              <a:t>            " location : {</a:t>
            </a:r>
            <a:endParaRPr sz="1000">
              <a:solidFill>
                <a:schemeClr val="dk2"/>
              </a:solidFill>
            </a:endParaRPr>
          </a:p>
          <a:p>
            <a:pPr indent="0" lvl="0" marL="0" rtl="0" algn="l">
              <a:spcBef>
                <a:spcPts val="0"/>
              </a:spcBef>
              <a:spcAft>
                <a:spcPts val="0"/>
              </a:spcAft>
              <a:buNone/>
            </a:pPr>
            <a:r>
              <a:rPr lang="en" sz="1000">
                <a:solidFill>
                  <a:schemeClr val="dk2"/>
                </a:solidFill>
              </a:rPr>
              <a:t>                “crs”</a:t>
            </a:r>
            <a:endParaRPr sz="1000">
              <a:solidFill>
                <a:schemeClr val="dk2"/>
              </a:solidFill>
            </a:endParaRPr>
          </a:p>
          <a:p>
            <a:pPr indent="0" lvl="0" marL="0" rtl="0" algn="l">
              <a:spcBef>
                <a:spcPts val="0"/>
              </a:spcBef>
              <a:spcAft>
                <a:spcPts val="0"/>
              </a:spcAft>
              <a:buNone/>
            </a:pPr>
            <a:r>
              <a:rPr lang="en" sz="1000">
                <a:solidFill>
                  <a:schemeClr val="dk2"/>
                </a:solidFill>
              </a:rPr>
              <a:t>                “coordinates”</a:t>
            </a:r>
            <a:endParaRPr sz="1000">
              <a:solidFill>
                <a:schemeClr val="dk2"/>
              </a:solidFill>
            </a:endParaRPr>
          </a:p>
          <a:p>
            <a:pPr indent="0" lvl="0" marL="0" rtl="0" algn="l">
              <a:spcBef>
                <a:spcPts val="0"/>
              </a:spcBef>
              <a:spcAft>
                <a:spcPts val="0"/>
              </a:spcAft>
              <a:buNone/>
            </a:pPr>
            <a:r>
              <a:rPr lang="en" sz="1000">
                <a:solidFill>
                  <a:schemeClr val="dk2"/>
                </a:solidFill>
              </a:rPr>
              <a:t>            },</a:t>
            </a:r>
            <a:endParaRPr sz="1000">
              <a:solidFill>
                <a:schemeClr val="dk2"/>
              </a:solidFill>
            </a:endParaRPr>
          </a:p>
          <a:p>
            <a:pPr indent="0" lvl="0" marL="0" rtl="0" algn="l">
              <a:spcBef>
                <a:spcPts val="0"/>
              </a:spcBef>
              <a:spcAft>
                <a:spcPts val="0"/>
              </a:spcAft>
              <a:buNone/>
            </a:pPr>
            <a:r>
              <a:rPr lang="en" sz="1000">
                <a:solidFill>
                  <a:schemeClr val="dk2"/>
                </a:solidFill>
              </a:rPr>
              <a:t>            " report_type "</a:t>
            </a:r>
            <a:endParaRPr sz="1000">
              <a:solidFill>
                <a:schemeClr val="dk2"/>
              </a:solidFill>
            </a:endParaRPr>
          </a:p>
          <a:p>
            <a:pPr indent="0" lvl="0" marL="0" rtl="0" algn="l">
              <a:spcBef>
                <a:spcPts val="0"/>
              </a:spcBef>
              <a:spcAft>
                <a:spcPts val="0"/>
              </a:spcAft>
              <a:buNone/>
            </a:pPr>
            <a:r>
              <a:rPr lang="en" sz="1000">
                <a:solidFill>
                  <a:schemeClr val="dk2"/>
                </a:solidFill>
              </a:rPr>
              <a:t>            " analyst "</a:t>
            </a:r>
            <a:endParaRPr sz="1000">
              <a:solidFill>
                <a:schemeClr val="dk2"/>
              </a:solidFill>
            </a:endParaRPr>
          </a:p>
          <a:p>
            <a:pPr indent="0" lvl="0" marL="0" rtl="0" algn="l">
              <a:spcBef>
                <a:spcPts val="0"/>
              </a:spcBef>
              <a:spcAft>
                <a:spcPts val="0"/>
              </a:spcAft>
              <a:buNone/>
            </a:pPr>
            <a:r>
              <a:rPr lang="en" sz="1000">
                <a:solidFill>
                  <a:schemeClr val="dk2"/>
                </a:solidFill>
              </a:rPr>
              <a:t>        },</a:t>
            </a:r>
            <a:endParaRPr sz="1000">
              <a:solidFill>
                <a:schemeClr val="dk2"/>
              </a:solidFill>
            </a:endParaRPr>
          </a:p>
          <a:p>
            <a:pPr indent="0" lvl="0" marL="0" rtl="0" algn="l">
              <a:spcBef>
                <a:spcPts val="0"/>
              </a:spcBef>
              <a:spcAft>
                <a:spcPts val="0"/>
              </a:spcAft>
              <a:buNone/>
            </a:pPr>
            <a:r>
              <a:rPr lang="en" sz="1000">
                <a:solidFill>
                  <a:schemeClr val="dk2"/>
                </a:solidFill>
              </a:rPr>
              <a:t>        " physical_damage " : {</a:t>
            </a:r>
            <a:endParaRPr sz="1000">
              <a:solidFill>
                <a:schemeClr val="dk2"/>
              </a:solidFill>
            </a:endParaRPr>
          </a:p>
          <a:p>
            <a:pPr indent="0" lvl="0" marL="0" rtl="0" algn="l">
              <a:spcBef>
                <a:spcPts val="0"/>
              </a:spcBef>
              <a:spcAft>
                <a:spcPts val="0"/>
              </a:spcAft>
              <a:buNone/>
            </a:pPr>
            <a:r>
              <a:rPr lang="en" sz="1000">
                <a:solidFill>
                  <a:schemeClr val="dk2"/>
                </a:solidFill>
              </a:rPr>
              <a:t>            " target_1 " : {</a:t>
            </a:r>
            <a:endParaRPr sz="1000">
              <a:solidFill>
                <a:schemeClr val="dk2"/>
              </a:solidFill>
            </a:endParaRPr>
          </a:p>
          <a:p>
            <a:pPr indent="0" lvl="0" marL="0" rtl="0" algn="l">
              <a:spcBef>
                <a:spcPts val="0"/>
              </a:spcBef>
              <a:spcAft>
                <a:spcPts val="0"/>
              </a:spcAft>
              <a:buNone/>
            </a:pPr>
            <a:r>
              <a:rPr lang="en" sz="1000">
                <a:solidFill>
                  <a:schemeClr val="dk2"/>
                </a:solidFill>
              </a:rPr>
              <a:t>                " bounding_box " : {</a:t>
            </a:r>
            <a:endParaRPr sz="1000">
              <a:solidFill>
                <a:schemeClr val="dk2"/>
              </a:solidFill>
            </a:endParaRPr>
          </a:p>
          <a:p>
            <a:pPr indent="0" lvl="0" marL="0" rtl="0" algn="l">
              <a:spcBef>
                <a:spcPts val="0"/>
              </a:spcBef>
              <a:spcAft>
                <a:spcPts val="0"/>
              </a:spcAft>
              <a:buNone/>
            </a:pPr>
            <a:r>
              <a:rPr lang="en" sz="1000">
                <a:solidFill>
                  <a:schemeClr val="dk2"/>
                </a:solidFill>
              </a:rPr>
              <a:t>                    " xmin ": 314, " ymin ": 256, " xmax ": 555, " ymax ": 433</a:t>
            </a:r>
            <a:endParaRPr sz="1000">
              <a:solidFill>
                <a:schemeClr val="dk2"/>
              </a:solidFill>
            </a:endParaRPr>
          </a:p>
          <a:p>
            <a:pPr indent="0" lvl="0" marL="0" rtl="0" algn="l">
              <a:spcBef>
                <a:spcPts val="0"/>
              </a:spcBef>
              <a:spcAft>
                <a:spcPts val="0"/>
              </a:spcAft>
              <a:buNone/>
            </a:pPr>
            <a:r>
              <a:rPr lang="en" sz="1000">
                <a:solidFill>
                  <a:schemeClr val="dk2"/>
                </a:solidFill>
              </a:rPr>
              <a:t>                },</a:t>
            </a:r>
            <a:endParaRPr sz="1000">
              <a:solidFill>
                <a:schemeClr val="dk2"/>
              </a:solidFill>
            </a:endParaRPr>
          </a:p>
          <a:p>
            <a:pPr indent="0" lvl="0" marL="0" rtl="0" algn="l">
              <a:spcBef>
                <a:spcPts val="0"/>
              </a:spcBef>
              <a:spcAft>
                <a:spcPts val="0"/>
              </a:spcAft>
              <a:buNone/>
            </a:pPr>
            <a:r>
              <a:rPr lang="en" sz="1000">
                <a:solidFill>
                  <a:schemeClr val="dk2"/>
                </a:solidFill>
              </a:rPr>
              <a:t>                " target_type "</a:t>
            </a:r>
            <a:endParaRPr sz="1000">
              <a:solidFill>
                <a:schemeClr val="dk2"/>
              </a:solidFill>
            </a:endParaRPr>
          </a:p>
          <a:p>
            <a:pPr indent="0" lvl="0" marL="0" rtl="0" algn="l">
              <a:spcBef>
                <a:spcPts val="0"/>
              </a:spcBef>
              <a:spcAft>
                <a:spcPts val="0"/>
              </a:spcAft>
              <a:buNone/>
            </a:pPr>
            <a:r>
              <a:rPr lang="en" sz="1000">
                <a:solidFill>
                  <a:schemeClr val="dk2"/>
                </a:solidFill>
              </a:rPr>
              <a:t>                " damage_category "</a:t>
            </a:r>
            <a:endParaRPr sz="1000">
              <a:solidFill>
                <a:schemeClr val="dk2"/>
              </a:solidFill>
            </a:endParaRPr>
          </a:p>
          <a:p>
            <a:pPr indent="0" lvl="0" marL="0" rtl="0" algn="l">
              <a:spcBef>
                <a:spcPts val="0"/>
              </a:spcBef>
              <a:spcAft>
                <a:spcPts val="0"/>
              </a:spcAft>
              <a:buNone/>
            </a:pPr>
            <a:r>
              <a:rPr lang="en" sz="1000">
                <a:solidFill>
                  <a:schemeClr val="dk2"/>
                </a:solidFill>
              </a:rPr>
              <a:t>                " confidence_level "</a:t>
            </a:r>
            <a:endParaRPr sz="1000">
              <a:solidFill>
                <a:schemeClr val="dk2"/>
              </a:solidFill>
            </a:endParaRPr>
          </a:p>
          <a:p>
            <a:pPr indent="0" lvl="0" marL="0" rtl="0" algn="l">
              <a:spcBef>
                <a:spcPts val="0"/>
              </a:spcBef>
              <a:spcAft>
                <a:spcPts val="0"/>
              </a:spcAft>
              <a:buNone/>
            </a:pPr>
            <a:r>
              <a:rPr lang="en" sz="1000">
                <a:solidFill>
                  <a:schemeClr val="dk2"/>
                </a:solidFill>
              </a:rPr>
              <a:t>                " brief_supporting_logic "</a:t>
            </a:r>
            <a:endParaRPr sz="1000">
              <a:solidFill>
                <a:schemeClr val="dk2"/>
              </a:solidFill>
            </a:endParaRPr>
          </a:p>
          <a:p>
            <a:pPr indent="0" lvl="0" marL="0" rtl="0" algn="l">
              <a:spcBef>
                <a:spcPts val="0"/>
              </a:spcBef>
              <a:spcAft>
                <a:spcPts val="0"/>
              </a:spcAft>
              <a:buNone/>
            </a:pPr>
            <a:r>
              <a:rPr lang="en" sz="1000">
                <a:solidFill>
                  <a:schemeClr val="dk2"/>
                </a:solidFill>
              </a:rPr>
              <a:t>            },</a:t>
            </a:r>
            <a:endParaRPr sz="1000">
              <a:solidFill>
                <a:schemeClr val="dk2"/>
              </a:solidFill>
            </a:endParaRPr>
          </a:p>
          <a:p>
            <a:pPr indent="0" lvl="0" marL="0" rtl="0" algn="l">
              <a:spcBef>
                <a:spcPts val="0"/>
              </a:spcBef>
              <a:spcAft>
                <a:spcPts val="0"/>
              </a:spcAft>
              <a:buNone/>
            </a:pPr>
            <a:r>
              <a:rPr lang="en" sz="1000">
                <a:solidFill>
                  <a:schemeClr val="dk2"/>
                </a:solidFill>
              </a:rPr>
              <a:t>            " target_2 " : {</a:t>
            </a:r>
            <a:endParaRPr sz="1000">
              <a:solidFill>
                <a:schemeClr val="dk2"/>
              </a:solidFill>
            </a:endParaRPr>
          </a:p>
          <a:p>
            <a:pPr indent="0" lvl="0" marL="0" rtl="0" algn="l">
              <a:spcBef>
                <a:spcPts val="0"/>
              </a:spcBef>
              <a:spcAft>
                <a:spcPts val="0"/>
              </a:spcAft>
              <a:buNone/>
            </a:pPr>
            <a:r>
              <a:rPr lang="en" sz="1000">
                <a:solidFill>
                  <a:schemeClr val="dk2"/>
                </a:solidFill>
              </a:rPr>
              <a:t>                   . . .</a:t>
            </a:r>
            <a:endParaRPr sz="1000">
              <a:solidFill>
                <a:schemeClr val="dk2"/>
              </a:solidFill>
            </a:endParaRPr>
          </a:p>
          <a:p>
            <a:pPr indent="0" lvl="0" marL="0" rtl="0" algn="l">
              <a:spcBef>
                <a:spcPts val="0"/>
              </a:spcBef>
              <a:spcAft>
                <a:spcPts val="0"/>
              </a:spcAft>
              <a:buNone/>
            </a:pPr>
            <a:r>
              <a:rPr lang="en" sz="1000">
                <a:solidFill>
                  <a:schemeClr val="dk2"/>
                </a:solidFill>
              </a:rPr>
              <a:t>            }</a:t>
            </a:r>
            <a:endParaRPr sz="1000">
              <a:solidFill>
                <a:schemeClr val="dk2"/>
              </a:solidFill>
            </a:endParaRPr>
          </a:p>
          <a:p>
            <a:pPr indent="0" lvl="0" marL="0" rtl="0" algn="l">
              <a:spcBef>
                <a:spcPts val="0"/>
              </a:spcBef>
              <a:spcAft>
                <a:spcPts val="0"/>
              </a:spcAft>
              <a:buNone/>
            </a:pPr>
            <a:r>
              <a:rPr lang="en" sz="1000">
                <a:solidFill>
                  <a:schemeClr val="dk2"/>
                </a:solidFill>
              </a:rPr>
              <a:t>      }</a:t>
            </a:r>
            <a:endParaRPr sz="1000">
              <a:solidFill>
                <a:schemeClr val="dk2"/>
              </a:solidFill>
            </a:endParaRPr>
          </a:p>
          <a:p>
            <a:pPr indent="0" lvl="0" marL="0" rtl="0" algn="l">
              <a:spcBef>
                <a:spcPts val="0"/>
              </a:spcBef>
              <a:spcAft>
                <a:spcPts val="0"/>
              </a:spcAft>
              <a:buNone/>
            </a:pPr>
            <a:r>
              <a:rPr lang="en" sz="1000">
                <a:solidFill>
                  <a:schemeClr val="dk2"/>
                </a:solidFill>
              </a:rPr>
              <a:t>}</a:t>
            </a:r>
            <a:endParaRPr sz="1000">
              <a:solidFill>
                <a:schemeClr val="dk2"/>
              </a:solidFill>
            </a:endParaRPr>
          </a:p>
        </p:txBody>
      </p:sp>
      <p:sp>
        <p:nvSpPr>
          <p:cNvPr id="168" name="Google Shape;168;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Output</a:t>
            </a:r>
            <a:endParaRPr/>
          </a:p>
        </p:txBody>
      </p:sp>
      <p:sp>
        <p:nvSpPr>
          <p:cNvPr id="169" name="Google Shape;169;p23"/>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pic>
        <p:nvPicPr>
          <p:cNvPr id="170" name="Google Shape;170;p23"/>
          <p:cNvPicPr preferRelativeResize="0"/>
          <p:nvPr/>
        </p:nvPicPr>
        <p:blipFill>
          <a:blip r:embed="rId3">
            <a:alphaModFix/>
          </a:blip>
          <a:stretch>
            <a:fillRect/>
          </a:stretch>
        </p:blipFill>
        <p:spPr>
          <a:xfrm>
            <a:off x="311700" y="1075875"/>
            <a:ext cx="3861676" cy="3081050"/>
          </a:xfrm>
          <a:prstGeom prst="rect">
            <a:avLst/>
          </a:prstGeom>
          <a:noFill/>
          <a:ln cap="flat" cmpd="sng" w="9525">
            <a:solidFill>
              <a:srgbClr val="858585"/>
            </a:solidFill>
            <a:prstDash val="solid"/>
            <a:round/>
            <a:headEnd len="sm" w="sm" type="none"/>
            <a:tailEnd len="sm" w="sm" type="none"/>
          </a:ln>
        </p:spPr>
      </p:pic>
      <p:sp>
        <p:nvSpPr>
          <p:cNvPr id="171" name="Google Shape;171;p23"/>
          <p:cNvSpPr/>
          <p:nvPr/>
        </p:nvSpPr>
        <p:spPr>
          <a:xfrm>
            <a:off x="1461100" y="1999075"/>
            <a:ext cx="1130400" cy="668700"/>
          </a:xfrm>
          <a:prstGeom prst="rect">
            <a:avLst/>
          </a:prstGeom>
          <a:noFill/>
          <a:ln cap="flat" cmpd="sng" w="1905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Sans"/>
              <a:ea typeface="Fira Sans"/>
              <a:cs typeface="Fira Sans"/>
              <a:sym typeface="Fira Sans"/>
            </a:endParaRPr>
          </a:p>
        </p:txBody>
      </p:sp>
      <p:sp>
        <p:nvSpPr>
          <p:cNvPr id="172" name="Google Shape;172;p23"/>
          <p:cNvSpPr/>
          <p:nvPr/>
        </p:nvSpPr>
        <p:spPr>
          <a:xfrm>
            <a:off x="2046844" y="2611350"/>
            <a:ext cx="1467900" cy="1177500"/>
          </a:xfrm>
          <a:prstGeom prst="rect">
            <a:avLst/>
          </a:prstGeom>
          <a:no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Sans"/>
              <a:ea typeface="Fira Sans"/>
              <a:cs typeface="Fira Sans"/>
              <a:sym typeface="Fira Sans"/>
            </a:endParaRPr>
          </a:p>
        </p:txBody>
      </p:sp>
      <p:cxnSp>
        <p:nvCxnSpPr>
          <p:cNvPr id="173" name="Google Shape;173;p23"/>
          <p:cNvCxnSpPr/>
          <p:nvPr/>
        </p:nvCxnSpPr>
        <p:spPr>
          <a:xfrm>
            <a:off x="2591500" y="2333425"/>
            <a:ext cx="2553000" cy="636000"/>
          </a:xfrm>
          <a:prstGeom prst="bentConnector3">
            <a:avLst>
              <a:gd fmla="val 73427" name="adj1"/>
            </a:avLst>
          </a:prstGeom>
          <a:noFill/>
          <a:ln cap="flat" cmpd="sng" w="28575">
            <a:solidFill>
              <a:srgbClr val="00FFFF"/>
            </a:solidFill>
            <a:prstDash val="solid"/>
            <a:round/>
            <a:headEnd len="med" w="med" type="none"/>
            <a:tailEnd len="med" w="med" type="none"/>
          </a:ln>
        </p:spPr>
      </p:cxnSp>
      <p:cxnSp>
        <p:nvCxnSpPr>
          <p:cNvPr id="174" name="Google Shape;174;p23"/>
          <p:cNvCxnSpPr>
            <a:stCxn id="172" idx="3"/>
            <a:endCxn id="166" idx="1"/>
          </p:cNvCxnSpPr>
          <p:nvPr/>
        </p:nvCxnSpPr>
        <p:spPr>
          <a:xfrm>
            <a:off x="3514744" y="3200100"/>
            <a:ext cx="1620300" cy="659400"/>
          </a:xfrm>
          <a:prstGeom prst="bentConnector3">
            <a:avLst>
              <a:gd fmla="val 57922" name="adj1"/>
            </a:avLst>
          </a:prstGeom>
          <a:noFill/>
          <a:ln cap="flat" cmpd="sng" w="28575">
            <a:solidFill>
              <a:srgbClr val="FF00FF"/>
            </a:solidFill>
            <a:prstDash val="solid"/>
            <a:round/>
            <a:headEnd len="med" w="med" type="none"/>
            <a:tailEnd len="med" w="med" type="none"/>
          </a:ln>
        </p:spPr>
      </p:cxnSp>
      <p:sp>
        <p:nvSpPr>
          <p:cNvPr id="175" name="Google Shape;175;p23"/>
          <p:cNvSpPr txBox="1"/>
          <p:nvPr/>
        </p:nvSpPr>
        <p:spPr>
          <a:xfrm>
            <a:off x="1357470" y="1688200"/>
            <a:ext cx="2553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00FFFF"/>
                </a:solidFill>
                <a:latin typeface="Fira Sans"/>
                <a:ea typeface="Fira Sans"/>
                <a:cs typeface="Fira Sans"/>
                <a:sym typeface="Fira Sans"/>
              </a:rPr>
              <a:t>target</a:t>
            </a:r>
            <a:r>
              <a:rPr b="1" lang="en" sz="1100">
                <a:solidFill>
                  <a:srgbClr val="00FFFF"/>
                </a:solidFill>
                <a:latin typeface="Fira Sans"/>
                <a:ea typeface="Fira Sans"/>
                <a:cs typeface="Fira Sans"/>
                <a:sym typeface="Fira Sans"/>
              </a:rPr>
              <a:t>_</a:t>
            </a:r>
            <a:r>
              <a:rPr lang="en" sz="1100">
                <a:solidFill>
                  <a:srgbClr val="00FFFF"/>
                </a:solidFill>
                <a:latin typeface="Fira Sans"/>
                <a:ea typeface="Fira Sans"/>
                <a:cs typeface="Fira Sans"/>
                <a:sym typeface="Fira Sans"/>
              </a:rPr>
              <a:t>1</a:t>
            </a:r>
            <a:endParaRPr sz="1100">
              <a:solidFill>
                <a:srgbClr val="00FFFF"/>
              </a:solidFill>
              <a:latin typeface="Fira Sans"/>
              <a:ea typeface="Fira Sans"/>
              <a:cs typeface="Fira Sans"/>
              <a:sym typeface="Fira Sans"/>
            </a:endParaRPr>
          </a:p>
        </p:txBody>
      </p:sp>
      <p:sp>
        <p:nvSpPr>
          <p:cNvPr id="176" name="Google Shape;176;p23"/>
          <p:cNvSpPr txBox="1"/>
          <p:nvPr/>
        </p:nvSpPr>
        <p:spPr>
          <a:xfrm>
            <a:off x="1943633" y="3713491"/>
            <a:ext cx="2553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FFCEFF"/>
                </a:solidFill>
                <a:latin typeface="Fira Sans"/>
                <a:ea typeface="Fira Sans"/>
                <a:cs typeface="Fira Sans"/>
                <a:sym typeface="Fira Sans"/>
              </a:rPr>
              <a:t>target</a:t>
            </a:r>
            <a:r>
              <a:rPr b="1" lang="en" sz="1100">
                <a:solidFill>
                  <a:srgbClr val="FFCEFF"/>
                </a:solidFill>
                <a:latin typeface="Fira Sans"/>
                <a:ea typeface="Fira Sans"/>
                <a:cs typeface="Fira Sans"/>
                <a:sym typeface="Fira Sans"/>
              </a:rPr>
              <a:t>_</a:t>
            </a:r>
            <a:r>
              <a:rPr lang="en" sz="1100">
                <a:solidFill>
                  <a:srgbClr val="FFCEFF"/>
                </a:solidFill>
                <a:latin typeface="Fira Sans"/>
                <a:ea typeface="Fira Sans"/>
                <a:cs typeface="Fira Sans"/>
                <a:sym typeface="Fira Sans"/>
              </a:rPr>
              <a:t>2</a:t>
            </a:r>
            <a:endParaRPr sz="1100">
              <a:solidFill>
                <a:srgbClr val="FFCEFF"/>
              </a:solidFill>
              <a:latin typeface="Fira Sans"/>
              <a:ea typeface="Fira Sans"/>
              <a:cs typeface="Fira Sans"/>
              <a:sym typeface="Fira Sans"/>
            </a:endParaRPr>
          </a:p>
        </p:txBody>
      </p:sp>
      <p:sp>
        <p:nvSpPr>
          <p:cNvPr id="177" name="Google Shape;177;p23"/>
          <p:cNvSpPr txBox="1"/>
          <p:nvPr/>
        </p:nvSpPr>
        <p:spPr>
          <a:xfrm>
            <a:off x="6280798" y="260350"/>
            <a:ext cx="2863200" cy="341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rPr lang="en" sz="1000">
                <a:solidFill>
                  <a:schemeClr val="dk2"/>
                </a:solidFill>
              </a:rPr>
              <a:t>:  “ 6608e9e-1f12-409d-8234-0b74a09b844f ”,</a:t>
            </a:r>
            <a:endParaRPr sz="1000">
              <a:solidFill>
                <a:schemeClr val="dk2"/>
              </a:solidFill>
            </a:endParaRPr>
          </a:p>
          <a:p>
            <a:pPr indent="0" lvl="0" marL="0" rtl="0" algn="l">
              <a:spcBef>
                <a:spcPts val="0"/>
              </a:spcBef>
              <a:spcAft>
                <a:spcPts val="0"/>
              </a:spcAft>
              <a:buNone/>
            </a:pPr>
            <a:r>
              <a:rPr lang="en" sz="1000">
                <a:solidFill>
                  <a:schemeClr val="dk2"/>
                </a:solidFill>
              </a:rPr>
              <a:t>:  “ field_multi_mil_042.jpg ",</a:t>
            </a:r>
            <a:endParaRPr sz="1000">
              <a:solidFill>
                <a:schemeClr val="dk2"/>
              </a:solidFill>
            </a:endParaRPr>
          </a:p>
          <a:p>
            <a:pPr indent="0" lvl="0" marL="0" rtl="0" algn="l">
              <a:spcBef>
                <a:spcPts val="0"/>
              </a:spcBef>
              <a:spcAft>
                <a:spcPts val="0"/>
              </a:spcAft>
              <a:buNone/>
            </a:pPr>
            <a:r>
              <a:rPr lang="en" sz="1000">
                <a:solidFill>
                  <a:schemeClr val="dk2"/>
                </a:solidFill>
              </a:rPr>
              <a:t>:  “ 2026-02-19T20:31:25Z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rPr lang="en" sz="1000">
                <a:solidFill>
                  <a:schemeClr val="dk2"/>
                </a:solidFill>
              </a:rPr>
              <a:t>:  “ MGRS ”,</a:t>
            </a:r>
            <a:endParaRPr sz="1000">
              <a:solidFill>
                <a:schemeClr val="dk2"/>
              </a:solidFill>
            </a:endParaRPr>
          </a:p>
          <a:p>
            <a:pPr indent="0" lvl="0" marL="0" rtl="0" algn="l">
              <a:spcBef>
                <a:spcPts val="0"/>
              </a:spcBef>
              <a:spcAft>
                <a:spcPts val="0"/>
              </a:spcAft>
              <a:buNone/>
            </a:pPr>
            <a:r>
              <a:rPr lang="en" sz="1000">
                <a:solidFill>
                  <a:schemeClr val="dk2"/>
                </a:solidFill>
              </a:rPr>
              <a:t>:  “ 17T NE 8961 7759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rPr lang="en" sz="1000">
                <a:solidFill>
                  <a:schemeClr val="dk2"/>
                </a:solidFill>
              </a:rPr>
              <a:t>:  “ PDA ”,</a:t>
            </a:r>
            <a:endParaRPr sz="1000">
              <a:solidFill>
                <a:schemeClr val="dk2"/>
              </a:solidFill>
            </a:endParaRPr>
          </a:p>
          <a:p>
            <a:pPr indent="0" lvl="0" marL="0" rtl="0" algn="l">
              <a:spcBef>
                <a:spcPts val="0"/>
              </a:spcBef>
              <a:spcAft>
                <a:spcPts val="0"/>
              </a:spcAft>
              <a:buNone/>
            </a:pPr>
            <a:r>
              <a:rPr lang="en" sz="1000">
                <a:solidFill>
                  <a:schemeClr val="dk2"/>
                </a:solidFill>
              </a:rPr>
              <a:t>:  “ bda-svc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rPr lang="en" sz="1000">
                <a:solidFill>
                  <a:schemeClr val="dk2"/>
                </a:solidFill>
              </a:rPr>
              <a:t>                    :  " military_equipment ",</a:t>
            </a:r>
            <a:endParaRPr sz="1000">
              <a:solidFill>
                <a:schemeClr val="dk2"/>
              </a:solidFill>
            </a:endParaRPr>
          </a:p>
          <a:p>
            <a:pPr indent="0" lvl="0" marL="0" rtl="0" algn="l">
              <a:spcBef>
                <a:spcPts val="0"/>
              </a:spcBef>
              <a:spcAft>
                <a:spcPts val="0"/>
              </a:spcAft>
              <a:buNone/>
            </a:pPr>
            <a:r>
              <a:rPr lang="en" sz="1000">
                <a:solidFill>
                  <a:schemeClr val="dk2"/>
                </a:solidFill>
              </a:rPr>
              <a:t>                    :  " DESTROYED ",</a:t>
            </a:r>
            <a:endParaRPr sz="1000">
              <a:solidFill>
                <a:schemeClr val="dk2"/>
              </a:solidFill>
            </a:endParaRPr>
          </a:p>
          <a:p>
            <a:pPr indent="0" lvl="0" marL="0" rtl="0" algn="l">
              <a:spcBef>
                <a:spcPts val="0"/>
              </a:spcBef>
              <a:spcAft>
                <a:spcPts val="0"/>
              </a:spcAft>
              <a:buNone/>
            </a:pPr>
            <a:r>
              <a:rPr lang="en" sz="1000">
                <a:solidFill>
                  <a:schemeClr val="dk2"/>
                </a:solidFill>
              </a:rPr>
              <a:t>                    :  " PROBABLE ",</a:t>
            </a:r>
            <a:endParaRPr sz="1000">
              <a:solidFill>
                <a:schemeClr val="dk2"/>
              </a:solidFill>
            </a:endParaRPr>
          </a:p>
          <a:p>
            <a:pPr indent="0" lvl="0" marL="0" rtl="0" algn="l">
              <a:spcBef>
                <a:spcPts val="0"/>
              </a:spcBef>
              <a:spcAft>
                <a:spcPts val="0"/>
              </a:spcAft>
              <a:buNone/>
            </a:pPr>
            <a:r>
              <a:rPr lang="en" sz="1000">
                <a:solidFill>
                  <a:schemeClr val="dk2"/>
                </a:solidFill>
              </a:rPr>
              <a:t>                    :  " Damaged hull, smoke … "</a:t>
            </a:r>
            <a:endParaRPr sz="10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4"/>
          <p:cNvSpPr/>
          <p:nvPr/>
        </p:nvSpPr>
        <p:spPr>
          <a:xfrm>
            <a:off x="705750" y="3005850"/>
            <a:ext cx="7732500" cy="284700"/>
          </a:xfrm>
          <a:prstGeom prst="rect">
            <a:avLst/>
          </a:prstGeom>
          <a:solidFill>
            <a:srgbClr val="ECFDF5"/>
          </a:solidFill>
          <a:ln cap="flat" cmpd="sng" w="8500">
            <a:solidFill>
              <a:srgbClr val="E5E7EB"/>
            </a:solidFill>
            <a:prstDash val="solid"/>
            <a:round/>
            <a:headEnd len="sm" w="sm" type="none"/>
            <a:tailEnd len="sm" w="sm" type="none"/>
          </a:ln>
        </p:spPr>
        <p:txBody>
          <a:bodyPr anchorCtr="0" anchor="t" bIns="30650" lIns="61300" spcFirstLastPara="1" rIns="61300" wrap="square" tIns="30650">
            <a:noAutofit/>
          </a:bodyPr>
          <a:lstStyle/>
          <a:p>
            <a:pPr indent="0" lvl="0" marL="0" marR="0" rtl="0" algn="ctr">
              <a:spcBef>
                <a:spcPts val="0"/>
              </a:spcBef>
              <a:spcAft>
                <a:spcPts val="0"/>
              </a:spcAft>
              <a:buNone/>
            </a:pPr>
            <a:r>
              <a:rPr lang="en" sz="1207"/>
              <a:t>Docker Runtime</a:t>
            </a:r>
            <a:endParaRPr sz="1207">
              <a:solidFill>
                <a:srgbClr val="000000"/>
              </a:solidFill>
              <a:latin typeface="Arial"/>
              <a:ea typeface="Arial"/>
              <a:cs typeface="Arial"/>
              <a:sym typeface="Arial"/>
            </a:endParaRPr>
          </a:p>
        </p:txBody>
      </p:sp>
      <p:sp>
        <p:nvSpPr>
          <p:cNvPr id="183" name="Google Shape;183;p24"/>
          <p:cNvSpPr txBox="1"/>
          <p:nvPr>
            <p:ph idx="12" type="sldNum"/>
          </p:nvPr>
        </p:nvSpPr>
        <p:spPr>
          <a:xfrm>
            <a:off x="8595301" y="4776204"/>
            <a:ext cx="548700" cy="330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184" name="Google Shape;184;p24"/>
          <p:cNvSpPr/>
          <p:nvPr/>
        </p:nvSpPr>
        <p:spPr>
          <a:xfrm>
            <a:off x="705750" y="1104880"/>
            <a:ext cx="7732500" cy="1867200"/>
          </a:xfrm>
          <a:prstGeom prst="rect">
            <a:avLst/>
          </a:prstGeom>
          <a:solidFill>
            <a:srgbClr val="ECFDF5"/>
          </a:solidFill>
          <a:ln cap="flat" cmpd="sng" w="8500">
            <a:solidFill>
              <a:srgbClr val="E5E7EB"/>
            </a:solidFill>
            <a:prstDash val="solid"/>
            <a:round/>
            <a:headEnd len="sm" w="sm" type="none"/>
            <a:tailEnd len="sm" w="sm" type="none"/>
          </a:ln>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185" name="Google Shape;185;p24"/>
          <p:cNvSpPr/>
          <p:nvPr/>
        </p:nvSpPr>
        <p:spPr>
          <a:xfrm>
            <a:off x="705750" y="1104925"/>
            <a:ext cx="1379400" cy="1867200"/>
          </a:xfrm>
          <a:prstGeom prst="rect">
            <a:avLst/>
          </a:prstGeom>
          <a:solidFill>
            <a:srgbClr val="B6D7A8"/>
          </a:solidFill>
          <a:ln cap="flat" cmpd="sng" w="8500">
            <a:solidFill>
              <a:srgbClr val="E5E7EB"/>
            </a:solidFill>
            <a:prstDash val="solid"/>
            <a:round/>
            <a:headEnd len="sm" w="sm" type="none"/>
            <a:tailEnd len="sm" w="sm" type="none"/>
          </a:ln>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186" name="Google Shape;186;p24"/>
          <p:cNvSpPr/>
          <p:nvPr/>
        </p:nvSpPr>
        <p:spPr>
          <a:xfrm>
            <a:off x="2207654" y="1576577"/>
            <a:ext cx="1113900" cy="582300"/>
          </a:xfrm>
          <a:prstGeom prst="rect">
            <a:avLst/>
          </a:prstGeom>
          <a:solidFill>
            <a:srgbClr val="FFFFFF"/>
          </a:solidFill>
          <a:ln cap="flat" cmpd="sng" w="8500">
            <a:solidFill>
              <a:srgbClr val="CBD5E1"/>
            </a:solidFill>
            <a:prstDash val="solid"/>
            <a:round/>
            <a:headEnd len="sm" w="sm" type="none"/>
            <a:tailEnd len="sm" w="sm" type="none"/>
          </a:ln>
          <a:effectLst>
            <a:outerShdw blurRad="17028" rotWithShape="0" algn="bl" dir="2700000" dist="8514">
              <a:srgbClr val="000000">
                <a:alpha val="11760"/>
              </a:srgbClr>
            </a:outerShdw>
          </a:effectLst>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187" name="Google Shape;187;p24"/>
          <p:cNvSpPr/>
          <p:nvPr/>
        </p:nvSpPr>
        <p:spPr>
          <a:xfrm>
            <a:off x="2115625" y="1625625"/>
            <a:ext cx="1297800" cy="484200"/>
          </a:xfrm>
          <a:prstGeom prst="rect">
            <a:avLst/>
          </a:prstGeom>
          <a:noFill/>
          <a:ln>
            <a:noFill/>
          </a:ln>
        </p:spPr>
        <p:txBody>
          <a:bodyPr anchorCtr="0" anchor="ctr" bIns="30650" lIns="61300" spcFirstLastPara="1" rIns="61300" wrap="square" tIns="30650">
            <a:noAutofit/>
          </a:bodyPr>
          <a:lstStyle/>
          <a:p>
            <a:pPr indent="0" lvl="0" marL="0" marR="0" rtl="0" algn="ctr">
              <a:spcBef>
                <a:spcPts val="0"/>
              </a:spcBef>
              <a:spcAft>
                <a:spcPts val="0"/>
              </a:spcAft>
              <a:buClr>
                <a:srgbClr val="1F2937"/>
              </a:buClr>
              <a:buSzPts val="804"/>
              <a:buFont typeface="Calibri"/>
              <a:buNone/>
            </a:pPr>
            <a:r>
              <a:rPr b="1" lang="en" sz="1204">
                <a:solidFill>
                  <a:srgbClr val="1F2937"/>
                </a:solidFill>
              </a:rPr>
              <a:t>Executable</a:t>
            </a:r>
            <a:endParaRPr sz="1204">
              <a:solidFill>
                <a:srgbClr val="000000"/>
              </a:solidFill>
            </a:endParaRPr>
          </a:p>
        </p:txBody>
      </p:sp>
      <p:sp>
        <p:nvSpPr>
          <p:cNvPr id="188" name="Google Shape;188;p24"/>
          <p:cNvSpPr/>
          <p:nvPr/>
        </p:nvSpPr>
        <p:spPr>
          <a:xfrm>
            <a:off x="2115625" y="2207438"/>
            <a:ext cx="1297800" cy="700800"/>
          </a:xfrm>
          <a:prstGeom prst="rect">
            <a:avLst/>
          </a:prstGeom>
          <a:noFill/>
          <a:ln>
            <a:noFill/>
          </a:ln>
        </p:spPr>
        <p:txBody>
          <a:bodyPr anchorCtr="0" anchor="t" bIns="30650" lIns="61300" spcFirstLastPara="1" rIns="61300" wrap="square" tIns="30650">
            <a:noAutofit/>
          </a:bodyPr>
          <a:lstStyle/>
          <a:p>
            <a:pPr indent="0" lvl="0" marL="0" marR="0" rtl="0" algn="ctr">
              <a:spcBef>
                <a:spcPts val="0"/>
              </a:spcBef>
              <a:spcAft>
                <a:spcPts val="0"/>
              </a:spcAft>
              <a:buClr>
                <a:srgbClr val="4B5563"/>
              </a:buClr>
              <a:buSzPts val="603"/>
              <a:buFont typeface="Calibri"/>
              <a:buNone/>
            </a:pPr>
            <a:r>
              <a:rPr lang="en" sz="1003">
                <a:solidFill>
                  <a:srgbClr val="4B5563"/>
                </a:solidFill>
              </a:rPr>
              <a:t>Self-contained software and model</a:t>
            </a:r>
            <a:endParaRPr sz="1003">
              <a:solidFill>
                <a:srgbClr val="000000"/>
              </a:solidFill>
            </a:endParaRPr>
          </a:p>
        </p:txBody>
      </p:sp>
      <p:sp>
        <p:nvSpPr>
          <p:cNvPr id="189" name="Google Shape;189;p24"/>
          <p:cNvSpPr/>
          <p:nvPr/>
        </p:nvSpPr>
        <p:spPr>
          <a:xfrm>
            <a:off x="3443875" y="1576577"/>
            <a:ext cx="1113900" cy="582300"/>
          </a:xfrm>
          <a:prstGeom prst="rect">
            <a:avLst/>
          </a:prstGeom>
          <a:solidFill>
            <a:srgbClr val="FFFFFF"/>
          </a:solidFill>
          <a:ln cap="flat" cmpd="sng" w="8500">
            <a:solidFill>
              <a:srgbClr val="CBD5E1"/>
            </a:solidFill>
            <a:prstDash val="solid"/>
            <a:round/>
            <a:headEnd len="sm" w="sm" type="none"/>
            <a:tailEnd len="sm" w="sm" type="none"/>
          </a:ln>
          <a:effectLst>
            <a:outerShdw blurRad="17028" rotWithShape="0" algn="bl" dir="2700000" dist="8514">
              <a:srgbClr val="000000">
                <a:alpha val="11760"/>
              </a:srgbClr>
            </a:outerShdw>
          </a:effectLst>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190" name="Google Shape;190;p24"/>
          <p:cNvSpPr/>
          <p:nvPr/>
        </p:nvSpPr>
        <p:spPr>
          <a:xfrm>
            <a:off x="3517438" y="1625619"/>
            <a:ext cx="966600" cy="484200"/>
          </a:xfrm>
          <a:prstGeom prst="rect">
            <a:avLst/>
          </a:prstGeom>
          <a:noFill/>
          <a:ln>
            <a:noFill/>
          </a:ln>
        </p:spPr>
        <p:txBody>
          <a:bodyPr anchorCtr="0" anchor="ctr" bIns="30650" lIns="61300" spcFirstLastPara="1" rIns="61300" wrap="square" tIns="30650">
            <a:noAutofit/>
          </a:bodyPr>
          <a:lstStyle/>
          <a:p>
            <a:pPr indent="0" lvl="0" marL="0" marR="0" rtl="0" algn="ctr">
              <a:spcBef>
                <a:spcPts val="0"/>
              </a:spcBef>
              <a:spcAft>
                <a:spcPts val="0"/>
              </a:spcAft>
              <a:buClr>
                <a:srgbClr val="1F2937"/>
              </a:buClr>
              <a:buSzPts val="804"/>
              <a:buFont typeface="Calibri"/>
              <a:buNone/>
            </a:pPr>
            <a:r>
              <a:rPr b="1" lang="en" sz="1204">
                <a:solidFill>
                  <a:srgbClr val="1F2937"/>
                </a:solidFill>
              </a:rPr>
              <a:t>Validate</a:t>
            </a:r>
            <a:endParaRPr sz="1204">
              <a:solidFill>
                <a:srgbClr val="000000"/>
              </a:solidFill>
            </a:endParaRPr>
          </a:p>
        </p:txBody>
      </p:sp>
      <p:sp>
        <p:nvSpPr>
          <p:cNvPr id="191" name="Google Shape;191;p24"/>
          <p:cNvSpPr/>
          <p:nvPr/>
        </p:nvSpPr>
        <p:spPr>
          <a:xfrm>
            <a:off x="3262150" y="2200313"/>
            <a:ext cx="1477200" cy="764100"/>
          </a:xfrm>
          <a:prstGeom prst="rect">
            <a:avLst/>
          </a:prstGeom>
          <a:noFill/>
          <a:ln>
            <a:noFill/>
          </a:ln>
        </p:spPr>
        <p:txBody>
          <a:bodyPr anchorCtr="0" anchor="t" bIns="30650" lIns="61300" spcFirstLastPara="1" rIns="61300" wrap="square" tIns="30650">
            <a:noAutofit/>
          </a:bodyPr>
          <a:lstStyle/>
          <a:p>
            <a:pPr indent="0" lvl="0" marL="0" marR="0" rtl="0" algn="ctr">
              <a:spcBef>
                <a:spcPts val="0"/>
              </a:spcBef>
              <a:spcAft>
                <a:spcPts val="0"/>
              </a:spcAft>
              <a:buClr>
                <a:srgbClr val="4B5563"/>
              </a:buClr>
              <a:buSzPts val="603"/>
              <a:buFont typeface="Calibri"/>
              <a:buNone/>
            </a:pPr>
            <a:r>
              <a:rPr lang="en" sz="1003">
                <a:solidFill>
                  <a:srgbClr val="4B5563"/>
                </a:solidFill>
              </a:rPr>
              <a:t>Read input folder</a:t>
            </a:r>
            <a:endParaRPr sz="1003">
              <a:solidFill>
                <a:srgbClr val="000000"/>
              </a:solidFill>
            </a:endParaRPr>
          </a:p>
          <a:p>
            <a:pPr indent="0" lvl="0" marL="0" marR="0" rtl="0" algn="ctr">
              <a:spcBef>
                <a:spcPts val="0"/>
              </a:spcBef>
              <a:spcAft>
                <a:spcPts val="0"/>
              </a:spcAft>
              <a:buClr>
                <a:srgbClr val="4B5563"/>
              </a:buClr>
              <a:buSzPts val="603"/>
              <a:buFont typeface="Calibri"/>
              <a:buNone/>
            </a:pPr>
            <a:r>
              <a:rPr lang="en" sz="1003">
                <a:solidFill>
                  <a:srgbClr val="4B5563"/>
                </a:solidFill>
              </a:rPr>
              <a:t>Write output folder</a:t>
            </a:r>
            <a:endParaRPr sz="1003">
              <a:solidFill>
                <a:srgbClr val="000000"/>
              </a:solidFill>
            </a:endParaRPr>
          </a:p>
        </p:txBody>
      </p:sp>
      <p:sp>
        <p:nvSpPr>
          <p:cNvPr id="192" name="Google Shape;192;p24"/>
          <p:cNvSpPr/>
          <p:nvPr/>
        </p:nvSpPr>
        <p:spPr>
          <a:xfrm>
            <a:off x="4680096" y="1576577"/>
            <a:ext cx="1113900" cy="582300"/>
          </a:xfrm>
          <a:prstGeom prst="rect">
            <a:avLst/>
          </a:prstGeom>
          <a:solidFill>
            <a:srgbClr val="FFFFFF"/>
          </a:solidFill>
          <a:ln cap="flat" cmpd="sng" w="8500">
            <a:solidFill>
              <a:srgbClr val="CBD5E1"/>
            </a:solidFill>
            <a:prstDash val="solid"/>
            <a:round/>
            <a:headEnd len="sm" w="sm" type="none"/>
            <a:tailEnd len="sm" w="sm" type="none"/>
          </a:ln>
          <a:effectLst>
            <a:outerShdw blurRad="17028" rotWithShape="0" algn="bl" dir="2700000" dist="8514">
              <a:srgbClr val="000000">
                <a:alpha val="11760"/>
              </a:srgbClr>
            </a:outerShdw>
          </a:effectLst>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193" name="Google Shape;193;p24"/>
          <p:cNvSpPr/>
          <p:nvPr/>
        </p:nvSpPr>
        <p:spPr>
          <a:xfrm>
            <a:off x="4753658" y="1625619"/>
            <a:ext cx="966600" cy="484200"/>
          </a:xfrm>
          <a:prstGeom prst="rect">
            <a:avLst/>
          </a:prstGeom>
          <a:noFill/>
          <a:ln>
            <a:noFill/>
          </a:ln>
        </p:spPr>
        <p:txBody>
          <a:bodyPr anchorCtr="0" anchor="ctr" bIns="30650" lIns="61300" spcFirstLastPara="1" rIns="61300" wrap="square" tIns="30650">
            <a:noAutofit/>
          </a:bodyPr>
          <a:lstStyle/>
          <a:p>
            <a:pPr indent="0" lvl="0" marL="0" marR="0" rtl="0" algn="ctr">
              <a:spcBef>
                <a:spcPts val="0"/>
              </a:spcBef>
              <a:spcAft>
                <a:spcPts val="0"/>
              </a:spcAft>
              <a:buClr>
                <a:srgbClr val="1F2937"/>
              </a:buClr>
              <a:buSzPts val="804"/>
              <a:buFont typeface="Calibri"/>
              <a:buNone/>
            </a:pPr>
            <a:r>
              <a:rPr b="1" lang="en" sz="1204">
                <a:solidFill>
                  <a:srgbClr val="1F2937"/>
                </a:solidFill>
              </a:rPr>
              <a:t>Preprocess</a:t>
            </a:r>
            <a:endParaRPr sz="1204">
              <a:solidFill>
                <a:srgbClr val="000000"/>
              </a:solidFill>
            </a:endParaRPr>
          </a:p>
        </p:txBody>
      </p:sp>
      <p:sp>
        <p:nvSpPr>
          <p:cNvPr id="194" name="Google Shape;194;p24"/>
          <p:cNvSpPr/>
          <p:nvPr/>
        </p:nvSpPr>
        <p:spPr>
          <a:xfrm>
            <a:off x="5916316" y="1576577"/>
            <a:ext cx="1113900" cy="582300"/>
          </a:xfrm>
          <a:prstGeom prst="rect">
            <a:avLst/>
          </a:prstGeom>
          <a:solidFill>
            <a:srgbClr val="FFFFFF"/>
          </a:solidFill>
          <a:ln cap="flat" cmpd="sng" w="8500">
            <a:solidFill>
              <a:srgbClr val="CBD5E1"/>
            </a:solidFill>
            <a:prstDash val="solid"/>
            <a:round/>
            <a:headEnd len="sm" w="sm" type="none"/>
            <a:tailEnd len="sm" w="sm" type="none"/>
          </a:ln>
          <a:effectLst>
            <a:outerShdw blurRad="17028" rotWithShape="0" algn="bl" dir="2700000" dist="8514">
              <a:srgbClr val="000000">
                <a:alpha val="11760"/>
              </a:srgbClr>
            </a:outerShdw>
          </a:effectLst>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195" name="Google Shape;195;p24"/>
          <p:cNvSpPr/>
          <p:nvPr/>
        </p:nvSpPr>
        <p:spPr>
          <a:xfrm>
            <a:off x="5989879" y="1625619"/>
            <a:ext cx="966600" cy="484200"/>
          </a:xfrm>
          <a:prstGeom prst="rect">
            <a:avLst/>
          </a:prstGeom>
          <a:noFill/>
          <a:ln>
            <a:noFill/>
          </a:ln>
        </p:spPr>
        <p:txBody>
          <a:bodyPr anchorCtr="0" anchor="ctr" bIns="30650" lIns="61300" spcFirstLastPara="1" rIns="61300" wrap="square" tIns="30650">
            <a:noAutofit/>
          </a:bodyPr>
          <a:lstStyle/>
          <a:p>
            <a:pPr indent="0" lvl="0" marL="0" marR="0" rtl="0" algn="ctr">
              <a:spcBef>
                <a:spcPts val="0"/>
              </a:spcBef>
              <a:spcAft>
                <a:spcPts val="0"/>
              </a:spcAft>
              <a:buClr>
                <a:srgbClr val="1F2937"/>
              </a:buClr>
              <a:buSzPts val="804"/>
              <a:buFont typeface="Calibri"/>
              <a:buNone/>
            </a:pPr>
            <a:r>
              <a:rPr b="1" lang="en" sz="1204">
                <a:solidFill>
                  <a:srgbClr val="1F2937"/>
                </a:solidFill>
              </a:rPr>
              <a:t>Output</a:t>
            </a:r>
            <a:endParaRPr sz="1204">
              <a:solidFill>
                <a:srgbClr val="000000"/>
              </a:solidFill>
            </a:endParaRPr>
          </a:p>
        </p:txBody>
      </p:sp>
      <p:sp>
        <p:nvSpPr>
          <p:cNvPr id="196" name="Google Shape;196;p24"/>
          <p:cNvSpPr/>
          <p:nvPr/>
        </p:nvSpPr>
        <p:spPr>
          <a:xfrm>
            <a:off x="5953098" y="2236854"/>
            <a:ext cx="1040100" cy="318600"/>
          </a:xfrm>
          <a:prstGeom prst="rect">
            <a:avLst/>
          </a:prstGeom>
          <a:noFill/>
          <a:ln>
            <a:noFill/>
          </a:ln>
        </p:spPr>
        <p:txBody>
          <a:bodyPr anchorCtr="0" anchor="t" bIns="30650" lIns="61300" spcFirstLastPara="1" rIns="61300" wrap="square" tIns="30650">
            <a:noAutofit/>
          </a:bodyPr>
          <a:lstStyle/>
          <a:p>
            <a:pPr indent="0" lvl="0" marL="0" marR="0" rtl="0" algn="ctr">
              <a:spcBef>
                <a:spcPts val="0"/>
              </a:spcBef>
              <a:spcAft>
                <a:spcPts val="0"/>
              </a:spcAft>
              <a:buClr>
                <a:srgbClr val="4B5563"/>
              </a:buClr>
              <a:buSzPts val="603"/>
              <a:buFont typeface="Calibri"/>
              <a:buNone/>
            </a:pPr>
            <a:r>
              <a:rPr lang="en" sz="1003">
                <a:solidFill>
                  <a:srgbClr val="4B5563"/>
                </a:solidFill>
              </a:rPr>
              <a:t>BDA Analysis</a:t>
            </a:r>
            <a:endParaRPr sz="1003">
              <a:solidFill>
                <a:srgbClr val="000000"/>
              </a:solidFill>
            </a:endParaRPr>
          </a:p>
        </p:txBody>
      </p:sp>
      <p:sp>
        <p:nvSpPr>
          <p:cNvPr id="197" name="Google Shape;197;p24"/>
          <p:cNvSpPr/>
          <p:nvPr/>
        </p:nvSpPr>
        <p:spPr>
          <a:xfrm>
            <a:off x="7152537" y="1576577"/>
            <a:ext cx="1113900" cy="582300"/>
          </a:xfrm>
          <a:prstGeom prst="rect">
            <a:avLst/>
          </a:prstGeom>
          <a:solidFill>
            <a:srgbClr val="FFFFFF"/>
          </a:solidFill>
          <a:ln cap="flat" cmpd="sng" w="8500">
            <a:solidFill>
              <a:srgbClr val="CBD5E1"/>
            </a:solidFill>
            <a:prstDash val="solid"/>
            <a:round/>
            <a:headEnd len="sm" w="sm" type="none"/>
            <a:tailEnd len="sm" w="sm" type="none"/>
          </a:ln>
          <a:effectLst>
            <a:outerShdw blurRad="17028" rotWithShape="0" algn="bl" dir="2700000" dist="8514">
              <a:srgbClr val="000000">
                <a:alpha val="11760"/>
              </a:srgbClr>
            </a:outerShdw>
          </a:effectLst>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198" name="Google Shape;198;p24"/>
          <p:cNvSpPr/>
          <p:nvPr/>
        </p:nvSpPr>
        <p:spPr>
          <a:xfrm>
            <a:off x="7226100" y="1625619"/>
            <a:ext cx="966600" cy="484200"/>
          </a:xfrm>
          <a:prstGeom prst="rect">
            <a:avLst/>
          </a:prstGeom>
          <a:noFill/>
          <a:ln>
            <a:noFill/>
          </a:ln>
        </p:spPr>
        <p:txBody>
          <a:bodyPr anchorCtr="0" anchor="ctr" bIns="30650" lIns="61300" spcFirstLastPara="1" rIns="61300" wrap="square" tIns="30650">
            <a:noAutofit/>
          </a:bodyPr>
          <a:lstStyle/>
          <a:p>
            <a:pPr indent="0" lvl="0" marL="0" marR="0" rtl="0" algn="ctr">
              <a:spcBef>
                <a:spcPts val="0"/>
              </a:spcBef>
              <a:spcAft>
                <a:spcPts val="0"/>
              </a:spcAft>
              <a:buClr>
                <a:srgbClr val="1F2937"/>
              </a:buClr>
              <a:buSzPts val="804"/>
              <a:buFont typeface="Calibri"/>
              <a:buNone/>
            </a:pPr>
            <a:r>
              <a:rPr b="1" lang="en" sz="1204">
                <a:solidFill>
                  <a:srgbClr val="1F2937"/>
                </a:solidFill>
              </a:rPr>
              <a:t>Store</a:t>
            </a:r>
            <a:endParaRPr sz="1204">
              <a:solidFill>
                <a:srgbClr val="000000"/>
              </a:solidFill>
            </a:endParaRPr>
          </a:p>
        </p:txBody>
      </p:sp>
      <p:sp>
        <p:nvSpPr>
          <p:cNvPr id="199" name="Google Shape;199;p24"/>
          <p:cNvSpPr/>
          <p:nvPr/>
        </p:nvSpPr>
        <p:spPr>
          <a:xfrm>
            <a:off x="7189318" y="2244070"/>
            <a:ext cx="1040100" cy="318600"/>
          </a:xfrm>
          <a:prstGeom prst="rect">
            <a:avLst/>
          </a:prstGeom>
          <a:noFill/>
          <a:ln>
            <a:noFill/>
          </a:ln>
        </p:spPr>
        <p:txBody>
          <a:bodyPr anchorCtr="0" anchor="t" bIns="30650" lIns="61300" spcFirstLastPara="1" rIns="61300" wrap="square" tIns="30650">
            <a:noAutofit/>
          </a:bodyPr>
          <a:lstStyle/>
          <a:p>
            <a:pPr indent="0" lvl="0" marL="0" marR="0" rtl="0" algn="ctr">
              <a:spcBef>
                <a:spcPts val="0"/>
              </a:spcBef>
              <a:spcAft>
                <a:spcPts val="0"/>
              </a:spcAft>
              <a:buClr>
                <a:srgbClr val="4B5563"/>
              </a:buClr>
              <a:buSzPts val="603"/>
              <a:buFont typeface="Calibri"/>
              <a:buNone/>
            </a:pPr>
            <a:r>
              <a:rPr lang="en" sz="1003">
                <a:solidFill>
                  <a:srgbClr val="4B5563"/>
                </a:solidFill>
              </a:rPr>
              <a:t>JSON Output</a:t>
            </a:r>
            <a:endParaRPr sz="1003">
              <a:solidFill>
                <a:srgbClr val="000000"/>
              </a:solidFill>
            </a:endParaRPr>
          </a:p>
        </p:txBody>
      </p:sp>
      <p:sp>
        <p:nvSpPr>
          <p:cNvPr id="200" name="Google Shape;200;p24"/>
          <p:cNvSpPr txBox="1"/>
          <p:nvPr/>
        </p:nvSpPr>
        <p:spPr>
          <a:xfrm>
            <a:off x="705750" y="1127275"/>
            <a:ext cx="7732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Robotic Platform</a:t>
            </a:r>
            <a:endParaRPr>
              <a:solidFill>
                <a:schemeClr val="dk2"/>
              </a:solidFill>
            </a:endParaRPr>
          </a:p>
        </p:txBody>
      </p:sp>
      <p:sp>
        <p:nvSpPr>
          <p:cNvPr id="201" name="Google Shape;201;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Software Deliverable</a:t>
            </a:r>
            <a:endParaRPr/>
          </a:p>
        </p:txBody>
      </p:sp>
      <p:pic>
        <p:nvPicPr>
          <p:cNvPr id="202" name="Google Shape;202;p24"/>
          <p:cNvPicPr preferRelativeResize="0"/>
          <p:nvPr/>
        </p:nvPicPr>
        <p:blipFill>
          <a:blip r:embed="rId3">
            <a:alphaModFix/>
          </a:blip>
          <a:stretch>
            <a:fillRect/>
          </a:stretch>
        </p:blipFill>
        <p:spPr>
          <a:xfrm>
            <a:off x="6050888" y="3029804"/>
            <a:ext cx="905576" cy="235775"/>
          </a:xfrm>
          <a:prstGeom prst="rect">
            <a:avLst/>
          </a:prstGeom>
          <a:noFill/>
          <a:ln>
            <a:noFill/>
          </a:ln>
        </p:spPr>
      </p:pic>
      <p:sp>
        <p:nvSpPr>
          <p:cNvPr id="203" name="Google Shape;203;p24"/>
          <p:cNvSpPr/>
          <p:nvPr/>
        </p:nvSpPr>
        <p:spPr>
          <a:xfrm>
            <a:off x="705750" y="3324325"/>
            <a:ext cx="7732500" cy="714300"/>
          </a:xfrm>
          <a:prstGeom prst="rect">
            <a:avLst/>
          </a:prstGeom>
          <a:solidFill>
            <a:srgbClr val="ECFDF5"/>
          </a:solidFill>
          <a:ln cap="flat" cmpd="sng" w="8500">
            <a:solidFill>
              <a:srgbClr val="E5E7EB"/>
            </a:solidFill>
            <a:prstDash val="solid"/>
            <a:round/>
            <a:headEnd len="sm" w="sm" type="none"/>
            <a:tailEnd len="sm" w="sm" type="none"/>
          </a:ln>
        </p:spPr>
        <p:txBody>
          <a:bodyPr anchorCtr="0" anchor="ctr" bIns="30650" lIns="61300" spcFirstLastPara="1" rIns="61300" wrap="square" tIns="30650">
            <a:noAutofit/>
          </a:bodyPr>
          <a:lstStyle/>
          <a:p>
            <a:pPr indent="0" lvl="0" marL="0" marR="0" rtl="0" algn="ctr">
              <a:spcBef>
                <a:spcPts val="0"/>
              </a:spcBef>
              <a:spcAft>
                <a:spcPts val="0"/>
              </a:spcAft>
              <a:buNone/>
            </a:pPr>
            <a:r>
              <a:rPr lang="en" sz="1207"/>
              <a:t>NVIDIA Jetson</a:t>
            </a:r>
            <a:endParaRPr sz="1207">
              <a:solidFill>
                <a:srgbClr val="000000"/>
              </a:solidFill>
              <a:latin typeface="Arial"/>
              <a:ea typeface="Arial"/>
              <a:cs typeface="Arial"/>
              <a:sym typeface="Arial"/>
            </a:endParaRPr>
          </a:p>
        </p:txBody>
      </p:sp>
      <p:pic>
        <p:nvPicPr>
          <p:cNvPr id="204" name="Google Shape;204;p24"/>
          <p:cNvPicPr preferRelativeResize="0"/>
          <p:nvPr/>
        </p:nvPicPr>
        <p:blipFill>
          <a:blip r:embed="rId4">
            <a:alphaModFix/>
          </a:blip>
          <a:stretch>
            <a:fillRect/>
          </a:stretch>
        </p:blipFill>
        <p:spPr>
          <a:xfrm>
            <a:off x="1089325" y="1688125"/>
            <a:ext cx="612247" cy="700800"/>
          </a:xfrm>
          <a:prstGeom prst="rect">
            <a:avLst/>
          </a:prstGeom>
          <a:noFill/>
          <a:ln>
            <a:noFill/>
          </a:ln>
        </p:spPr>
      </p:pic>
      <p:pic>
        <p:nvPicPr>
          <p:cNvPr id="205" name="Google Shape;205;p24"/>
          <p:cNvPicPr preferRelativeResize="0"/>
          <p:nvPr/>
        </p:nvPicPr>
        <p:blipFill>
          <a:blip r:embed="rId5">
            <a:alphaModFix/>
          </a:blip>
          <a:stretch>
            <a:fillRect/>
          </a:stretch>
        </p:blipFill>
        <p:spPr>
          <a:xfrm>
            <a:off x="6229338" y="3381325"/>
            <a:ext cx="548700" cy="577278"/>
          </a:xfrm>
          <a:prstGeom prst="rect">
            <a:avLst/>
          </a:prstGeom>
          <a:noFill/>
          <a:ln>
            <a:noFill/>
          </a:ln>
        </p:spPr>
      </p:pic>
      <p:sp>
        <p:nvSpPr>
          <p:cNvPr id="206" name="Google Shape;206;p24"/>
          <p:cNvSpPr/>
          <p:nvPr/>
        </p:nvSpPr>
        <p:spPr>
          <a:xfrm>
            <a:off x="4716873" y="2222402"/>
            <a:ext cx="1040100" cy="318600"/>
          </a:xfrm>
          <a:prstGeom prst="rect">
            <a:avLst/>
          </a:prstGeom>
          <a:noFill/>
          <a:ln>
            <a:noFill/>
          </a:ln>
        </p:spPr>
        <p:txBody>
          <a:bodyPr anchorCtr="0" anchor="t" bIns="30650" lIns="61300" spcFirstLastPara="1" rIns="61300" wrap="square" tIns="30650">
            <a:noAutofit/>
          </a:bodyPr>
          <a:lstStyle/>
          <a:p>
            <a:pPr indent="0" lvl="0" marL="0" marR="0" rtl="0" algn="ctr">
              <a:spcBef>
                <a:spcPts val="0"/>
              </a:spcBef>
              <a:spcAft>
                <a:spcPts val="0"/>
              </a:spcAft>
              <a:buClr>
                <a:srgbClr val="4B5563"/>
              </a:buClr>
              <a:buSzPts val="603"/>
              <a:buFont typeface="Calibri"/>
              <a:buNone/>
            </a:pPr>
            <a:r>
              <a:rPr lang="en" sz="1003">
                <a:solidFill>
                  <a:srgbClr val="4B5563"/>
                </a:solidFill>
              </a:rPr>
              <a:t>Prompt input</a:t>
            </a:r>
            <a:endParaRPr sz="1003">
              <a:solidFill>
                <a:srgbClr val="000000"/>
              </a:solidFill>
            </a:endParaRPr>
          </a:p>
        </p:txBody>
      </p:sp>
      <p:cxnSp>
        <p:nvCxnSpPr>
          <p:cNvPr id="207" name="Google Shape;207;p24"/>
          <p:cNvCxnSpPr/>
          <p:nvPr/>
        </p:nvCxnSpPr>
        <p:spPr>
          <a:xfrm>
            <a:off x="3318058" y="1867719"/>
            <a:ext cx="208800" cy="0"/>
          </a:xfrm>
          <a:prstGeom prst="straightConnector1">
            <a:avLst/>
          </a:prstGeom>
          <a:noFill/>
          <a:ln cap="flat" cmpd="sng" w="17025">
            <a:solidFill>
              <a:srgbClr val="6B7280"/>
            </a:solidFill>
            <a:prstDash val="solid"/>
            <a:round/>
            <a:headEnd len="sm" w="sm" type="none"/>
            <a:tailEnd len="med" w="med" type="triangle"/>
          </a:ln>
        </p:spPr>
      </p:cxnSp>
      <p:cxnSp>
        <p:nvCxnSpPr>
          <p:cNvPr id="208" name="Google Shape;208;p24"/>
          <p:cNvCxnSpPr/>
          <p:nvPr/>
        </p:nvCxnSpPr>
        <p:spPr>
          <a:xfrm>
            <a:off x="4568821" y="1867719"/>
            <a:ext cx="183900" cy="0"/>
          </a:xfrm>
          <a:prstGeom prst="straightConnector1">
            <a:avLst/>
          </a:prstGeom>
          <a:noFill/>
          <a:ln cap="flat" cmpd="sng" w="17025">
            <a:solidFill>
              <a:srgbClr val="6B7280"/>
            </a:solidFill>
            <a:prstDash val="solid"/>
            <a:round/>
            <a:headEnd len="sm" w="sm" type="none"/>
            <a:tailEnd len="med" w="med" type="triangle"/>
          </a:ln>
        </p:spPr>
      </p:cxnSp>
      <p:cxnSp>
        <p:nvCxnSpPr>
          <p:cNvPr id="209" name="Google Shape;209;p24"/>
          <p:cNvCxnSpPr/>
          <p:nvPr/>
        </p:nvCxnSpPr>
        <p:spPr>
          <a:xfrm>
            <a:off x="5795621" y="1867719"/>
            <a:ext cx="183900" cy="0"/>
          </a:xfrm>
          <a:prstGeom prst="straightConnector1">
            <a:avLst/>
          </a:prstGeom>
          <a:noFill/>
          <a:ln cap="flat" cmpd="sng" w="17025">
            <a:solidFill>
              <a:srgbClr val="6B7280"/>
            </a:solidFill>
            <a:prstDash val="solid"/>
            <a:round/>
            <a:headEnd len="sm" w="sm" type="none"/>
            <a:tailEnd len="med" w="med" type="triangle"/>
          </a:ln>
        </p:spPr>
      </p:cxnSp>
      <p:cxnSp>
        <p:nvCxnSpPr>
          <p:cNvPr id="210" name="Google Shape;210;p24"/>
          <p:cNvCxnSpPr/>
          <p:nvPr/>
        </p:nvCxnSpPr>
        <p:spPr>
          <a:xfrm>
            <a:off x="7031842" y="1867719"/>
            <a:ext cx="183900" cy="0"/>
          </a:xfrm>
          <a:prstGeom prst="straightConnector1">
            <a:avLst/>
          </a:prstGeom>
          <a:noFill/>
          <a:ln cap="flat" cmpd="sng" w="17025">
            <a:solidFill>
              <a:srgbClr val="6B7280"/>
            </a:solidFill>
            <a:prstDash val="solid"/>
            <a:round/>
            <a:headEnd len="sm" w="sm"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a:t>
            </a:r>
            <a:endParaRPr/>
          </a:p>
        </p:txBody>
      </p:sp>
      <p:sp>
        <p:nvSpPr>
          <p:cNvPr id="216" name="Google Shape;216;p25"/>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fld id="{00000000-1234-1234-1234-123412341234}" type="slidenum">
              <a:rPr lang="en"/>
              <a:t>‹#›</a:t>
            </a:fld>
            <a:endParaRPr/>
          </a:p>
        </p:txBody>
      </p:sp>
      <p:pic>
        <p:nvPicPr>
          <p:cNvPr id="217" name="Google Shape;217;p25" title="Blank diagram (6).png"/>
          <p:cNvPicPr preferRelativeResize="0"/>
          <p:nvPr/>
        </p:nvPicPr>
        <p:blipFill>
          <a:blip r:embed="rId3">
            <a:alphaModFix/>
          </a:blip>
          <a:stretch>
            <a:fillRect/>
          </a:stretch>
        </p:blipFill>
        <p:spPr>
          <a:xfrm>
            <a:off x="0" y="1048738"/>
            <a:ext cx="9144003" cy="342453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id="222" name="Google Shape;222;p26" title="EDA CHART 1 Powerpoint.jpg"/>
          <p:cNvPicPr preferRelativeResize="0"/>
          <p:nvPr/>
        </p:nvPicPr>
        <p:blipFill>
          <a:blip r:embed="rId3">
            <a:alphaModFix/>
          </a:blip>
          <a:stretch>
            <a:fillRect/>
          </a:stretch>
        </p:blipFill>
        <p:spPr>
          <a:xfrm>
            <a:off x="1521388" y="1017725"/>
            <a:ext cx="6101226" cy="3547876"/>
          </a:xfrm>
          <a:prstGeom prst="rect">
            <a:avLst/>
          </a:prstGeom>
          <a:noFill/>
          <a:ln>
            <a:noFill/>
          </a:ln>
        </p:spPr>
      </p:pic>
      <p:sp>
        <p:nvSpPr>
          <p:cNvPr id="223" name="Google Shape;223;p26"/>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fld id="{00000000-1234-1234-1234-123412341234}" type="slidenum">
              <a:rPr lang="en"/>
              <a:t>‹#›</a:t>
            </a:fld>
            <a:endParaRPr/>
          </a:p>
        </p:txBody>
      </p:sp>
      <p:sp>
        <p:nvSpPr>
          <p:cNvPr id="224" name="Google Shape;224;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Data Composition (Major Categories)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pic>
        <p:nvPicPr>
          <p:cNvPr id="229" name="Google Shape;229;p27" title="Target Type by View Angle.jpg"/>
          <p:cNvPicPr preferRelativeResize="0"/>
          <p:nvPr/>
        </p:nvPicPr>
        <p:blipFill>
          <a:blip r:embed="rId3">
            <a:alphaModFix/>
          </a:blip>
          <a:stretch>
            <a:fillRect/>
          </a:stretch>
        </p:blipFill>
        <p:spPr>
          <a:xfrm>
            <a:off x="2061624" y="1017725"/>
            <a:ext cx="5020740" cy="3551001"/>
          </a:xfrm>
          <a:prstGeom prst="rect">
            <a:avLst/>
          </a:prstGeom>
          <a:noFill/>
          <a:ln>
            <a:noFill/>
          </a:ln>
        </p:spPr>
      </p:pic>
      <p:sp>
        <p:nvSpPr>
          <p:cNvPr id="230" name="Google Shape;230;p27"/>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fld id="{00000000-1234-1234-1234-123412341234}" type="slidenum">
              <a:rPr lang="en"/>
              <a:t>‹#›</a:t>
            </a:fld>
            <a:endParaRPr/>
          </a:p>
        </p:txBody>
      </p:sp>
      <p:sp>
        <p:nvSpPr>
          <p:cNvPr id="231" name="Google Shape;231;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Data Composition (Look Angle)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Modeling</a:t>
            </a:r>
            <a:endParaRPr/>
          </a:p>
        </p:txBody>
      </p:sp>
      <p:sp>
        <p:nvSpPr>
          <p:cNvPr id="237" name="Google Shape;237;p28"/>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pic>
        <p:nvPicPr>
          <p:cNvPr id="238" name="Google Shape;238;p28" title="Model Design (2).jpg"/>
          <p:cNvPicPr preferRelativeResize="0"/>
          <p:nvPr/>
        </p:nvPicPr>
        <p:blipFill>
          <a:blip r:embed="rId3">
            <a:alphaModFix/>
          </a:blip>
          <a:stretch>
            <a:fillRect/>
          </a:stretch>
        </p:blipFill>
        <p:spPr>
          <a:xfrm>
            <a:off x="426750" y="1017725"/>
            <a:ext cx="8290509" cy="365543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9"/>
          <p:cNvSpPr txBox="1"/>
          <p:nvPr>
            <p:ph type="title"/>
          </p:nvPr>
        </p:nvSpPr>
        <p:spPr>
          <a:xfrm>
            <a:off x="351025"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Evaluation</a:t>
            </a:r>
            <a:endParaRPr/>
          </a:p>
        </p:txBody>
      </p:sp>
      <p:sp>
        <p:nvSpPr>
          <p:cNvPr id="244" name="Google Shape;244;p29"/>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grpSp>
        <p:nvGrpSpPr>
          <p:cNvPr id="245" name="Google Shape;245;p29"/>
          <p:cNvGrpSpPr/>
          <p:nvPr/>
        </p:nvGrpSpPr>
        <p:grpSpPr>
          <a:xfrm>
            <a:off x="647390" y="3489858"/>
            <a:ext cx="7927738" cy="809780"/>
            <a:chOff x="2283025" y="2322568"/>
            <a:chExt cx="5267950" cy="643500"/>
          </a:xfrm>
        </p:grpSpPr>
        <p:sp>
          <p:nvSpPr>
            <p:cNvPr id="246" name="Google Shape;246;p29"/>
            <p:cNvSpPr/>
            <p:nvPr/>
          </p:nvSpPr>
          <p:spPr>
            <a:xfrm>
              <a:off x="3728375" y="2322568"/>
              <a:ext cx="3822600" cy="643500"/>
            </a:xfrm>
            <a:prstGeom prst="rect">
              <a:avLst/>
            </a:prstGeom>
            <a:solidFill>
              <a:srgbClr val="EEEEEE"/>
            </a:solidFill>
            <a:ln>
              <a:noFill/>
            </a:ln>
          </p:spPr>
          <p:txBody>
            <a:bodyPr anchorCtr="0" anchor="ctr" bIns="115050" lIns="115050" spcFirstLastPara="1" rIns="115050" wrap="square" tIns="115050">
              <a:noAutofit/>
            </a:bodyPr>
            <a:lstStyle/>
            <a:p>
              <a:pPr indent="0" lvl="0" marL="0" rtl="0" algn="l">
                <a:spcBef>
                  <a:spcPts val="0"/>
                </a:spcBef>
                <a:spcAft>
                  <a:spcPts val="0"/>
                </a:spcAft>
                <a:buNone/>
              </a:pPr>
              <a:r>
                <a:t/>
              </a:r>
              <a:endParaRPr/>
            </a:p>
          </p:txBody>
        </p:sp>
        <p:sp>
          <p:nvSpPr>
            <p:cNvPr id="247" name="Google Shape;247;p29"/>
            <p:cNvSpPr/>
            <p:nvPr/>
          </p:nvSpPr>
          <p:spPr>
            <a:xfrm flipH="1">
              <a:off x="2283025" y="2322575"/>
              <a:ext cx="1844400" cy="642600"/>
            </a:xfrm>
            <a:prstGeom prst="rect">
              <a:avLst/>
            </a:prstGeom>
            <a:solidFill>
              <a:srgbClr val="A7291E"/>
            </a:solidFill>
            <a:ln>
              <a:noFill/>
            </a:ln>
          </p:spPr>
          <p:txBody>
            <a:bodyPr anchorCtr="0" anchor="ctr" bIns="115050" lIns="115050" spcFirstLastPara="1" rIns="115050" wrap="square" tIns="115050">
              <a:noAutofit/>
            </a:bodyPr>
            <a:lstStyle/>
            <a:p>
              <a:pPr indent="0" lvl="0" marL="0" rtl="0" algn="l">
                <a:spcBef>
                  <a:spcPts val="0"/>
                </a:spcBef>
                <a:spcAft>
                  <a:spcPts val="0"/>
                </a:spcAft>
                <a:buNone/>
              </a:pPr>
              <a:r>
                <a:t/>
              </a:r>
              <a:endParaRPr/>
            </a:p>
          </p:txBody>
        </p:sp>
        <p:sp>
          <p:nvSpPr>
            <p:cNvPr id="248" name="Google Shape;248;p29"/>
            <p:cNvSpPr/>
            <p:nvPr/>
          </p:nvSpPr>
          <p:spPr>
            <a:xfrm rot="-5400000">
              <a:off x="3501574" y="1934671"/>
              <a:ext cx="643356" cy="1419149"/>
            </a:xfrm>
            <a:prstGeom prst="flowChartOffpageConnector">
              <a:avLst/>
            </a:prstGeom>
            <a:solidFill>
              <a:srgbClr val="A7291E"/>
            </a:solidFill>
            <a:ln>
              <a:noFill/>
            </a:ln>
          </p:spPr>
          <p:txBody>
            <a:bodyPr anchorCtr="0" anchor="ctr" bIns="115050" lIns="115050" spcFirstLastPara="1" rIns="115050" wrap="square" tIns="115050">
              <a:noAutofit/>
            </a:bodyPr>
            <a:lstStyle/>
            <a:p>
              <a:pPr indent="0" lvl="0" marL="0" rtl="0" algn="l">
                <a:spcBef>
                  <a:spcPts val="0"/>
                </a:spcBef>
                <a:spcAft>
                  <a:spcPts val="0"/>
                </a:spcAft>
                <a:buNone/>
              </a:pPr>
              <a:r>
                <a:t/>
              </a:r>
              <a:endParaRPr/>
            </a:p>
          </p:txBody>
        </p:sp>
        <p:sp>
          <p:nvSpPr>
            <p:cNvPr id="249" name="Google Shape;249;p29"/>
            <p:cNvSpPr/>
            <p:nvPr/>
          </p:nvSpPr>
          <p:spPr>
            <a:xfrm>
              <a:off x="2342625" y="2399951"/>
              <a:ext cx="1940700" cy="495900"/>
            </a:xfrm>
            <a:prstGeom prst="rect">
              <a:avLst/>
            </a:prstGeom>
            <a:noFill/>
            <a:ln>
              <a:noFill/>
            </a:ln>
          </p:spPr>
          <p:txBody>
            <a:bodyPr anchorCtr="0" anchor="ctr" bIns="115050" lIns="115050" spcFirstLastPara="1" rIns="115050" wrap="square" tIns="115050">
              <a:noAutofit/>
            </a:bodyPr>
            <a:lstStyle/>
            <a:p>
              <a:pPr indent="0" lvl="0" marL="0" rtl="0" algn="l">
                <a:lnSpc>
                  <a:spcPct val="115000"/>
                </a:lnSpc>
                <a:spcBef>
                  <a:spcPts val="0"/>
                </a:spcBef>
                <a:spcAft>
                  <a:spcPts val="0"/>
                </a:spcAft>
                <a:buNone/>
              </a:pPr>
              <a:r>
                <a:rPr lang="en" sz="1600">
                  <a:solidFill>
                    <a:srgbClr val="FFFFFF"/>
                  </a:solidFill>
                </a:rPr>
                <a:t>Scene Score</a:t>
              </a:r>
              <a:endParaRPr sz="1600">
                <a:solidFill>
                  <a:srgbClr val="FFFFFF"/>
                </a:solidFill>
              </a:endParaRPr>
            </a:p>
          </p:txBody>
        </p:sp>
        <p:sp>
          <p:nvSpPr>
            <p:cNvPr id="250" name="Google Shape;250;p29"/>
            <p:cNvSpPr/>
            <p:nvPr/>
          </p:nvSpPr>
          <p:spPr>
            <a:xfrm>
              <a:off x="4387850" y="2323750"/>
              <a:ext cx="2971200" cy="642300"/>
            </a:xfrm>
            <a:prstGeom prst="rect">
              <a:avLst/>
            </a:prstGeom>
            <a:noFill/>
            <a:ln>
              <a:noFill/>
            </a:ln>
          </p:spPr>
          <p:txBody>
            <a:bodyPr anchorCtr="0" anchor="ctr" bIns="115050" lIns="115050" spcFirstLastPara="1" rIns="115050" wrap="square" tIns="115050">
              <a:noAutofit/>
            </a:bodyPr>
            <a:lstStyle/>
            <a:p>
              <a:pPr indent="-366254" lvl="0" marL="575306" rtl="0" algn="l">
                <a:lnSpc>
                  <a:spcPct val="115000"/>
                </a:lnSpc>
                <a:spcBef>
                  <a:spcPts val="0"/>
                </a:spcBef>
                <a:spcAft>
                  <a:spcPts val="0"/>
                </a:spcAft>
                <a:buClr>
                  <a:srgbClr val="A7291E"/>
                </a:buClr>
                <a:buSzPts val="1238"/>
                <a:buChar char="●"/>
              </a:pPr>
              <a:r>
                <a:rPr lang="en" sz="1238">
                  <a:solidFill>
                    <a:srgbClr val="A7291E"/>
                  </a:solidFill>
                </a:rPr>
                <a:t>Aggregate / Normalize target scores</a:t>
              </a:r>
              <a:endParaRPr sz="1238">
                <a:solidFill>
                  <a:srgbClr val="A7291E"/>
                </a:solidFill>
              </a:endParaRPr>
            </a:p>
            <a:p>
              <a:pPr indent="-366254" lvl="0" marL="575306" rtl="0" algn="l">
                <a:lnSpc>
                  <a:spcPct val="115000"/>
                </a:lnSpc>
                <a:spcBef>
                  <a:spcPts val="0"/>
                </a:spcBef>
                <a:spcAft>
                  <a:spcPts val="0"/>
                </a:spcAft>
                <a:buClr>
                  <a:srgbClr val="A7291E"/>
                </a:buClr>
                <a:buSzPts val="1238"/>
                <a:buChar char="●"/>
              </a:pPr>
              <a:r>
                <a:rPr lang="en" sz="1238">
                  <a:solidFill>
                    <a:srgbClr val="A7291E"/>
                  </a:solidFill>
                </a:rPr>
                <a:t>Penalize FP / FN</a:t>
              </a:r>
              <a:endParaRPr sz="1238">
                <a:solidFill>
                  <a:srgbClr val="A7291E"/>
                </a:solidFill>
              </a:endParaRPr>
            </a:p>
          </p:txBody>
        </p:sp>
      </p:grpSp>
      <p:grpSp>
        <p:nvGrpSpPr>
          <p:cNvPr id="251" name="Google Shape;251;p29"/>
          <p:cNvGrpSpPr/>
          <p:nvPr/>
        </p:nvGrpSpPr>
        <p:grpSpPr>
          <a:xfrm>
            <a:off x="647525" y="1841765"/>
            <a:ext cx="7927738" cy="809780"/>
            <a:chOff x="2283025" y="2322568"/>
            <a:chExt cx="5267950" cy="643500"/>
          </a:xfrm>
        </p:grpSpPr>
        <p:sp>
          <p:nvSpPr>
            <p:cNvPr id="252" name="Google Shape;252;p29"/>
            <p:cNvSpPr/>
            <p:nvPr/>
          </p:nvSpPr>
          <p:spPr>
            <a:xfrm>
              <a:off x="3728375" y="2322568"/>
              <a:ext cx="3822600" cy="643500"/>
            </a:xfrm>
            <a:prstGeom prst="rect">
              <a:avLst/>
            </a:prstGeom>
            <a:solidFill>
              <a:srgbClr val="EEEEEE"/>
            </a:solidFill>
            <a:ln>
              <a:noFill/>
            </a:ln>
          </p:spPr>
          <p:txBody>
            <a:bodyPr anchorCtr="0" anchor="ctr" bIns="115050" lIns="115050" spcFirstLastPara="1" rIns="115050" wrap="square" tIns="115050">
              <a:noAutofit/>
            </a:bodyPr>
            <a:lstStyle/>
            <a:p>
              <a:pPr indent="0" lvl="0" marL="0" rtl="0" algn="l">
                <a:spcBef>
                  <a:spcPts val="0"/>
                </a:spcBef>
                <a:spcAft>
                  <a:spcPts val="0"/>
                </a:spcAft>
                <a:buNone/>
              </a:pPr>
              <a:r>
                <a:t/>
              </a:r>
              <a:endParaRPr/>
            </a:p>
          </p:txBody>
        </p:sp>
        <p:sp>
          <p:nvSpPr>
            <p:cNvPr id="253" name="Google Shape;253;p29"/>
            <p:cNvSpPr/>
            <p:nvPr/>
          </p:nvSpPr>
          <p:spPr>
            <a:xfrm flipH="1">
              <a:off x="2283025" y="2322575"/>
              <a:ext cx="1844400" cy="642600"/>
            </a:xfrm>
            <a:prstGeom prst="rect">
              <a:avLst/>
            </a:prstGeom>
            <a:solidFill>
              <a:srgbClr val="A7291E"/>
            </a:solidFill>
            <a:ln>
              <a:noFill/>
            </a:ln>
          </p:spPr>
          <p:txBody>
            <a:bodyPr anchorCtr="0" anchor="ctr" bIns="115050" lIns="115050" spcFirstLastPara="1" rIns="115050" wrap="square" tIns="115050">
              <a:noAutofit/>
            </a:bodyPr>
            <a:lstStyle/>
            <a:p>
              <a:pPr indent="0" lvl="0" marL="0" rtl="0" algn="l">
                <a:spcBef>
                  <a:spcPts val="0"/>
                </a:spcBef>
                <a:spcAft>
                  <a:spcPts val="0"/>
                </a:spcAft>
                <a:buNone/>
              </a:pPr>
              <a:r>
                <a:t/>
              </a:r>
              <a:endParaRPr/>
            </a:p>
          </p:txBody>
        </p:sp>
        <p:sp>
          <p:nvSpPr>
            <p:cNvPr id="254" name="Google Shape;254;p29"/>
            <p:cNvSpPr/>
            <p:nvPr/>
          </p:nvSpPr>
          <p:spPr>
            <a:xfrm rot="-5400000">
              <a:off x="3501574" y="1934671"/>
              <a:ext cx="643356" cy="1419149"/>
            </a:xfrm>
            <a:prstGeom prst="flowChartOffpageConnector">
              <a:avLst/>
            </a:prstGeom>
            <a:solidFill>
              <a:srgbClr val="A7291E"/>
            </a:solidFill>
            <a:ln>
              <a:noFill/>
            </a:ln>
          </p:spPr>
          <p:txBody>
            <a:bodyPr anchorCtr="0" anchor="ctr" bIns="115050" lIns="115050" spcFirstLastPara="1" rIns="115050" wrap="square" tIns="115050">
              <a:noAutofit/>
            </a:bodyPr>
            <a:lstStyle/>
            <a:p>
              <a:pPr indent="0" lvl="0" marL="0" rtl="0" algn="l">
                <a:spcBef>
                  <a:spcPts val="0"/>
                </a:spcBef>
                <a:spcAft>
                  <a:spcPts val="0"/>
                </a:spcAft>
                <a:buNone/>
              </a:pPr>
              <a:r>
                <a:t/>
              </a:r>
              <a:endParaRPr/>
            </a:p>
          </p:txBody>
        </p:sp>
        <p:sp>
          <p:nvSpPr>
            <p:cNvPr id="255" name="Google Shape;255;p29"/>
            <p:cNvSpPr/>
            <p:nvPr/>
          </p:nvSpPr>
          <p:spPr>
            <a:xfrm>
              <a:off x="2342625" y="2399951"/>
              <a:ext cx="1940700" cy="495900"/>
            </a:xfrm>
            <a:prstGeom prst="rect">
              <a:avLst/>
            </a:prstGeom>
            <a:noFill/>
            <a:ln>
              <a:noFill/>
            </a:ln>
          </p:spPr>
          <p:txBody>
            <a:bodyPr anchorCtr="0" anchor="ctr" bIns="115050" lIns="115050" spcFirstLastPara="1" rIns="115050" wrap="square" tIns="115050">
              <a:noAutofit/>
            </a:bodyPr>
            <a:lstStyle/>
            <a:p>
              <a:pPr indent="0" lvl="0" marL="0" rtl="0" algn="l">
                <a:lnSpc>
                  <a:spcPct val="115000"/>
                </a:lnSpc>
                <a:spcBef>
                  <a:spcPts val="0"/>
                </a:spcBef>
                <a:spcAft>
                  <a:spcPts val="0"/>
                </a:spcAft>
                <a:buNone/>
              </a:pPr>
              <a:r>
                <a:rPr lang="en" sz="1600">
                  <a:solidFill>
                    <a:srgbClr val="FFFFFF"/>
                  </a:solidFill>
                </a:rPr>
                <a:t>Structured Attribute Score</a:t>
              </a:r>
              <a:endParaRPr sz="1600">
                <a:solidFill>
                  <a:srgbClr val="FFFFFF"/>
                </a:solidFill>
              </a:endParaRPr>
            </a:p>
          </p:txBody>
        </p:sp>
        <p:sp>
          <p:nvSpPr>
            <p:cNvPr id="256" name="Google Shape;256;p29"/>
            <p:cNvSpPr/>
            <p:nvPr/>
          </p:nvSpPr>
          <p:spPr>
            <a:xfrm>
              <a:off x="4387850" y="2323750"/>
              <a:ext cx="2971200" cy="642300"/>
            </a:xfrm>
            <a:prstGeom prst="rect">
              <a:avLst/>
            </a:prstGeom>
            <a:noFill/>
            <a:ln>
              <a:noFill/>
            </a:ln>
          </p:spPr>
          <p:txBody>
            <a:bodyPr anchorCtr="0" anchor="ctr" bIns="115050" lIns="115050" spcFirstLastPara="1" rIns="115050" wrap="square" tIns="115050">
              <a:noAutofit/>
            </a:bodyPr>
            <a:lstStyle/>
            <a:p>
              <a:pPr indent="-366254" lvl="0" marL="575306" rtl="0" algn="l">
                <a:lnSpc>
                  <a:spcPct val="115000"/>
                </a:lnSpc>
                <a:spcBef>
                  <a:spcPts val="0"/>
                </a:spcBef>
                <a:spcAft>
                  <a:spcPts val="0"/>
                </a:spcAft>
                <a:buClr>
                  <a:srgbClr val="A7291E"/>
                </a:buClr>
                <a:buSzPts val="1238"/>
                <a:buChar char="●"/>
              </a:pPr>
              <a:r>
                <a:rPr lang="en" sz="1238">
                  <a:solidFill>
                    <a:srgbClr val="A7291E"/>
                  </a:solidFill>
                </a:rPr>
                <a:t>Target category</a:t>
              </a:r>
              <a:endParaRPr sz="1238">
                <a:solidFill>
                  <a:srgbClr val="A7291E"/>
                </a:solidFill>
              </a:endParaRPr>
            </a:p>
            <a:p>
              <a:pPr indent="-366254" lvl="0" marL="575306" rtl="0" algn="l">
                <a:lnSpc>
                  <a:spcPct val="115000"/>
                </a:lnSpc>
                <a:spcBef>
                  <a:spcPts val="0"/>
                </a:spcBef>
                <a:spcAft>
                  <a:spcPts val="0"/>
                </a:spcAft>
                <a:buClr>
                  <a:srgbClr val="A7291E"/>
                </a:buClr>
                <a:buSzPts val="1238"/>
                <a:buChar char="●"/>
              </a:pPr>
              <a:r>
                <a:rPr lang="en" sz="1238">
                  <a:solidFill>
                    <a:srgbClr val="A7291E"/>
                  </a:solidFill>
                </a:rPr>
                <a:t>Damage level</a:t>
              </a:r>
              <a:endParaRPr sz="1238">
                <a:solidFill>
                  <a:srgbClr val="A7291E"/>
                </a:solidFill>
              </a:endParaRPr>
            </a:p>
            <a:p>
              <a:pPr indent="-366254" lvl="0" marL="575306" rtl="0" algn="l">
                <a:lnSpc>
                  <a:spcPct val="115000"/>
                </a:lnSpc>
                <a:spcBef>
                  <a:spcPts val="0"/>
                </a:spcBef>
                <a:spcAft>
                  <a:spcPts val="0"/>
                </a:spcAft>
                <a:buClr>
                  <a:srgbClr val="A7291E"/>
                </a:buClr>
                <a:buSzPts val="1238"/>
                <a:buChar char="●"/>
              </a:pPr>
              <a:r>
                <a:rPr lang="en" sz="1238">
                  <a:solidFill>
                    <a:srgbClr val="A7291E"/>
                  </a:solidFill>
                </a:rPr>
                <a:t>Confidence level </a:t>
              </a:r>
              <a:endParaRPr sz="1238">
                <a:solidFill>
                  <a:srgbClr val="A7291E"/>
                </a:solidFill>
              </a:endParaRPr>
            </a:p>
          </p:txBody>
        </p:sp>
      </p:grpSp>
      <p:grpSp>
        <p:nvGrpSpPr>
          <p:cNvPr id="257" name="Google Shape;257;p29"/>
          <p:cNvGrpSpPr/>
          <p:nvPr/>
        </p:nvGrpSpPr>
        <p:grpSpPr>
          <a:xfrm>
            <a:off x="647390" y="1017719"/>
            <a:ext cx="7927738" cy="809780"/>
            <a:chOff x="2283025" y="2322568"/>
            <a:chExt cx="5267950" cy="643500"/>
          </a:xfrm>
        </p:grpSpPr>
        <p:sp>
          <p:nvSpPr>
            <p:cNvPr id="258" name="Google Shape;258;p29"/>
            <p:cNvSpPr/>
            <p:nvPr/>
          </p:nvSpPr>
          <p:spPr>
            <a:xfrm>
              <a:off x="3728375" y="2322568"/>
              <a:ext cx="3822600" cy="643500"/>
            </a:xfrm>
            <a:prstGeom prst="rect">
              <a:avLst/>
            </a:prstGeom>
            <a:solidFill>
              <a:srgbClr val="EEEEEE"/>
            </a:solidFill>
            <a:ln>
              <a:noFill/>
            </a:ln>
          </p:spPr>
          <p:txBody>
            <a:bodyPr anchorCtr="0" anchor="ctr" bIns="115050" lIns="115050" spcFirstLastPara="1" rIns="115050" wrap="square" tIns="115050">
              <a:noAutofit/>
            </a:bodyPr>
            <a:lstStyle/>
            <a:p>
              <a:pPr indent="0" lvl="0" marL="0" rtl="0" algn="l">
                <a:spcBef>
                  <a:spcPts val="0"/>
                </a:spcBef>
                <a:spcAft>
                  <a:spcPts val="0"/>
                </a:spcAft>
                <a:buNone/>
              </a:pPr>
              <a:r>
                <a:t/>
              </a:r>
              <a:endParaRPr/>
            </a:p>
          </p:txBody>
        </p:sp>
        <p:sp>
          <p:nvSpPr>
            <p:cNvPr id="259" name="Google Shape;259;p29"/>
            <p:cNvSpPr/>
            <p:nvPr/>
          </p:nvSpPr>
          <p:spPr>
            <a:xfrm flipH="1">
              <a:off x="2283025" y="2322575"/>
              <a:ext cx="1844400" cy="642600"/>
            </a:xfrm>
            <a:prstGeom prst="rect">
              <a:avLst/>
            </a:prstGeom>
            <a:solidFill>
              <a:srgbClr val="A7291E"/>
            </a:solidFill>
            <a:ln>
              <a:noFill/>
            </a:ln>
          </p:spPr>
          <p:txBody>
            <a:bodyPr anchorCtr="0" anchor="ctr" bIns="115050" lIns="115050" spcFirstLastPara="1" rIns="115050" wrap="square" tIns="115050">
              <a:noAutofit/>
            </a:bodyPr>
            <a:lstStyle/>
            <a:p>
              <a:pPr indent="0" lvl="0" marL="0" rtl="0" algn="l">
                <a:spcBef>
                  <a:spcPts val="0"/>
                </a:spcBef>
                <a:spcAft>
                  <a:spcPts val="0"/>
                </a:spcAft>
                <a:buNone/>
              </a:pPr>
              <a:r>
                <a:t/>
              </a:r>
              <a:endParaRPr/>
            </a:p>
          </p:txBody>
        </p:sp>
        <p:sp>
          <p:nvSpPr>
            <p:cNvPr id="260" name="Google Shape;260;p29"/>
            <p:cNvSpPr/>
            <p:nvPr/>
          </p:nvSpPr>
          <p:spPr>
            <a:xfrm rot="-5400000">
              <a:off x="3501574" y="1934671"/>
              <a:ext cx="643356" cy="1419149"/>
            </a:xfrm>
            <a:prstGeom prst="flowChartOffpageConnector">
              <a:avLst/>
            </a:prstGeom>
            <a:solidFill>
              <a:srgbClr val="A7291E"/>
            </a:solidFill>
            <a:ln>
              <a:noFill/>
            </a:ln>
          </p:spPr>
          <p:txBody>
            <a:bodyPr anchorCtr="0" anchor="ctr" bIns="115050" lIns="115050" spcFirstLastPara="1" rIns="115050" wrap="square" tIns="115050">
              <a:noAutofit/>
            </a:bodyPr>
            <a:lstStyle/>
            <a:p>
              <a:pPr indent="0" lvl="0" marL="0" rtl="0" algn="l">
                <a:spcBef>
                  <a:spcPts val="0"/>
                </a:spcBef>
                <a:spcAft>
                  <a:spcPts val="0"/>
                </a:spcAft>
                <a:buNone/>
              </a:pPr>
              <a:r>
                <a:t/>
              </a:r>
              <a:endParaRPr/>
            </a:p>
          </p:txBody>
        </p:sp>
        <p:sp>
          <p:nvSpPr>
            <p:cNvPr id="261" name="Google Shape;261;p29"/>
            <p:cNvSpPr/>
            <p:nvPr/>
          </p:nvSpPr>
          <p:spPr>
            <a:xfrm>
              <a:off x="2342625" y="2399951"/>
              <a:ext cx="1940700" cy="495900"/>
            </a:xfrm>
            <a:prstGeom prst="rect">
              <a:avLst/>
            </a:prstGeom>
            <a:noFill/>
            <a:ln>
              <a:noFill/>
            </a:ln>
          </p:spPr>
          <p:txBody>
            <a:bodyPr anchorCtr="0" anchor="ctr" bIns="115050" lIns="115050" spcFirstLastPara="1" rIns="115050" wrap="square" tIns="115050">
              <a:noAutofit/>
            </a:bodyPr>
            <a:lstStyle/>
            <a:p>
              <a:pPr indent="0" lvl="0" marL="0" rtl="0" algn="l">
                <a:lnSpc>
                  <a:spcPct val="115000"/>
                </a:lnSpc>
                <a:spcBef>
                  <a:spcPts val="0"/>
                </a:spcBef>
                <a:spcAft>
                  <a:spcPts val="0"/>
                </a:spcAft>
                <a:buNone/>
              </a:pPr>
              <a:r>
                <a:rPr lang="en" sz="1600">
                  <a:solidFill>
                    <a:srgbClr val="FFFFFF"/>
                  </a:solidFill>
                </a:rPr>
                <a:t>Match Targets</a:t>
              </a:r>
              <a:endParaRPr sz="1600">
                <a:solidFill>
                  <a:srgbClr val="FFFFFF"/>
                </a:solidFill>
              </a:endParaRPr>
            </a:p>
          </p:txBody>
        </p:sp>
        <p:sp>
          <p:nvSpPr>
            <p:cNvPr id="262" name="Google Shape;262;p29"/>
            <p:cNvSpPr/>
            <p:nvPr/>
          </p:nvSpPr>
          <p:spPr>
            <a:xfrm>
              <a:off x="4387850" y="2323750"/>
              <a:ext cx="2971200" cy="642300"/>
            </a:xfrm>
            <a:prstGeom prst="rect">
              <a:avLst/>
            </a:prstGeom>
            <a:noFill/>
            <a:ln>
              <a:noFill/>
            </a:ln>
          </p:spPr>
          <p:txBody>
            <a:bodyPr anchorCtr="0" anchor="ctr" bIns="115050" lIns="115050" spcFirstLastPara="1" rIns="115050" wrap="square" tIns="115050">
              <a:noAutofit/>
            </a:bodyPr>
            <a:lstStyle/>
            <a:p>
              <a:pPr indent="-366254" lvl="0" marL="575306" rtl="0" algn="l">
                <a:lnSpc>
                  <a:spcPct val="115000"/>
                </a:lnSpc>
                <a:spcBef>
                  <a:spcPts val="0"/>
                </a:spcBef>
                <a:spcAft>
                  <a:spcPts val="0"/>
                </a:spcAft>
                <a:buClr>
                  <a:srgbClr val="A7291E"/>
                </a:buClr>
                <a:buSzPts val="1238"/>
                <a:buChar char="●"/>
              </a:pPr>
              <a:r>
                <a:rPr lang="en" sz="1238">
                  <a:solidFill>
                    <a:srgbClr val="A7291E"/>
                  </a:solidFill>
                </a:rPr>
                <a:t>Compare prediction vs. reference targets</a:t>
              </a:r>
              <a:endParaRPr sz="1238">
                <a:solidFill>
                  <a:srgbClr val="A7291E"/>
                </a:solidFill>
              </a:endParaRPr>
            </a:p>
            <a:p>
              <a:pPr indent="-366254" lvl="0" marL="575306" rtl="0" algn="l">
                <a:lnSpc>
                  <a:spcPct val="115000"/>
                </a:lnSpc>
                <a:spcBef>
                  <a:spcPts val="0"/>
                </a:spcBef>
                <a:spcAft>
                  <a:spcPts val="0"/>
                </a:spcAft>
                <a:buClr>
                  <a:srgbClr val="A7291E"/>
                </a:buClr>
                <a:buSzPts val="1238"/>
                <a:buChar char="●"/>
              </a:pPr>
              <a:r>
                <a:rPr lang="en" sz="1238">
                  <a:solidFill>
                    <a:srgbClr val="A7291E"/>
                  </a:solidFill>
                </a:rPr>
                <a:t>Match targets using IoU overlap</a:t>
              </a:r>
              <a:endParaRPr sz="1238">
                <a:solidFill>
                  <a:srgbClr val="A7291E"/>
                </a:solidFill>
              </a:endParaRPr>
            </a:p>
          </p:txBody>
        </p:sp>
      </p:grpSp>
      <p:grpSp>
        <p:nvGrpSpPr>
          <p:cNvPr id="263" name="Google Shape;263;p29"/>
          <p:cNvGrpSpPr/>
          <p:nvPr/>
        </p:nvGrpSpPr>
        <p:grpSpPr>
          <a:xfrm>
            <a:off x="647390" y="2665811"/>
            <a:ext cx="7927738" cy="809780"/>
            <a:chOff x="2283025" y="2322568"/>
            <a:chExt cx="5267950" cy="643500"/>
          </a:xfrm>
        </p:grpSpPr>
        <p:sp>
          <p:nvSpPr>
            <p:cNvPr id="264" name="Google Shape;264;p29"/>
            <p:cNvSpPr/>
            <p:nvPr/>
          </p:nvSpPr>
          <p:spPr>
            <a:xfrm>
              <a:off x="3728375" y="2322568"/>
              <a:ext cx="3822600" cy="643500"/>
            </a:xfrm>
            <a:prstGeom prst="rect">
              <a:avLst/>
            </a:prstGeom>
            <a:solidFill>
              <a:srgbClr val="EEEEEE"/>
            </a:solidFill>
            <a:ln>
              <a:noFill/>
            </a:ln>
          </p:spPr>
          <p:txBody>
            <a:bodyPr anchorCtr="0" anchor="ctr" bIns="115050" lIns="115050" spcFirstLastPara="1" rIns="115050" wrap="square" tIns="115050">
              <a:noAutofit/>
            </a:bodyPr>
            <a:lstStyle/>
            <a:p>
              <a:pPr indent="0" lvl="0" marL="0" rtl="0" algn="l">
                <a:spcBef>
                  <a:spcPts val="0"/>
                </a:spcBef>
                <a:spcAft>
                  <a:spcPts val="0"/>
                </a:spcAft>
                <a:buNone/>
              </a:pPr>
              <a:r>
                <a:t/>
              </a:r>
              <a:endParaRPr/>
            </a:p>
          </p:txBody>
        </p:sp>
        <p:sp>
          <p:nvSpPr>
            <p:cNvPr id="265" name="Google Shape;265;p29"/>
            <p:cNvSpPr/>
            <p:nvPr/>
          </p:nvSpPr>
          <p:spPr>
            <a:xfrm flipH="1">
              <a:off x="2283025" y="2322575"/>
              <a:ext cx="1844400" cy="642600"/>
            </a:xfrm>
            <a:prstGeom prst="rect">
              <a:avLst/>
            </a:prstGeom>
            <a:solidFill>
              <a:srgbClr val="A7291E"/>
            </a:solidFill>
            <a:ln>
              <a:noFill/>
            </a:ln>
          </p:spPr>
          <p:txBody>
            <a:bodyPr anchorCtr="0" anchor="ctr" bIns="115050" lIns="115050" spcFirstLastPara="1" rIns="115050" wrap="square" tIns="115050">
              <a:noAutofit/>
            </a:bodyPr>
            <a:lstStyle/>
            <a:p>
              <a:pPr indent="0" lvl="0" marL="0" rtl="0" algn="l">
                <a:spcBef>
                  <a:spcPts val="0"/>
                </a:spcBef>
                <a:spcAft>
                  <a:spcPts val="0"/>
                </a:spcAft>
                <a:buNone/>
              </a:pPr>
              <a:r>
                <a:t/>
              </a:r>
              <a:endParaRPr/>
            </a:p>
          </p:txBody>
        </p:sp>
        <p:sp>
          <p:nvSpPr>
            <p:cNvPr id="266" name="Google Shape;266;p29"/>
            <p:cNvSpPr/>
            <p:nvPr/>
          </p:nvSpPr>
          <p:spPr>
            <a:xfrm rot="-5400000">
              <a:off x="3501574" y="1934671"/>
              <a:ext cx="643356" cy="1419149"/>
            </a:xfrm>
            <a:prstGeom prst="flowChartOffpageConnector">
              <a:avLst/>
            </a:prstGeom>
            <a:solidFill>
              <a:srgbClr val="A7291E"/>
            </a:solidFill>
            <a:ln>
              <a:noFill/>
            </a:ln>
          </p:spPr>
          <p:txBody>
            <a:bodyPr anchorCtr="0" anchor="ctr" bIns="115050" lIns="115050" spcFirstLastPara="1" rIns="115050" wrap="square" tIns="115050">
              <a:noAutofit/>
            </a:bodyPr>
            <a:lstStyle/>
            <a:p>
              <a:pPr indent="0" lvl="0" marL="0" rtl="0" algn="l">
                <a:spcBef>
                  <a:spcPts val="0"/>
                </a:spcBef>
                <a:spcAft>
                  <a:spcPts val="0"/>
                </a:spcAft>
                <a:buNone/>
              </a:pPr>
              <a:r>
                <a:t/>
              </a:r>
              <a:endParaRPr/>
            </a:p>
          </p:txBody>
        </p:sp>
        <p:sp>
          <p:nvSpPr>
            <p:cNvPr id="267" name="Google Shape;267;p29"/>
            <p:cNvSpPr/>
            <p:nvPr/>
          </p:nvSpPr>
          <p:spPr>
            <a:xfrm>
              <a:off x="4387850" y="2323750"/>
              <a:ext cx="2971200" cy="642300"/>
            </a:xfrm>
            <a:prstGeom prst="rect">
              <a:avLst/>
            </a:prstGeom>
            <a:noFill/>
            <a:ln>
              <a:noFill/>
            </a:ln>
          </p:spPr>
          <p:txBody>
            <a:bodyPr anchorCtr="0" anchor="ctr" bIns="115050" lIns="115050" spcFirstLastPara="1" rIns="115050" wrap="square" tIns="115050">
              <a:noAutofit/>
            </a:bodyPr>
            <a:lstStyle/>
            <a:p>
              <a:pPr indent="-366254" lvl="0" marL="575306" rtl="0" algn="l">
                <a:lnSpc>
                  <a:spcPct val="115000"/>
                </a:lnSpc>
                <a:spcBef>
                  <a:spcPts val="0"/>
                </a:spcBef>
                <a:spcAft>
                  <a:spcPts val="0"/>
                </a:spcAft>
                <a:buClr>
                  <a:srgbClr val="A7291E"/>
                </a:buClr>
                <a:buSzPts val="1238"/>
                <a:buChar char="●"/>
              </a:pPr>
              <a:r>
                <a:rPr lang="en" sz="1238">
                  <a:solidFill>
                    <a:srgbClr val="A7291E"/>
                  </a:solidFill>
                </a:rPr>
                <a:t>LLM as a judge</a:t>
              </a:r>
              <a:endParaRPr sz="1238">
                <a:solidFill>
                  <a:srgbClr val="A7291E"/>
                </a:solidFill>
              </a:endParaRPr>
            </a:p>
            <a:p>
              <a:pPr indent="-366254" lvl="0" marL="575306" rtl="0" algn="l">
                <a:lnSpc>
                  <a:spcPct val="115000"/>
                </a:lnSpc>
                <a:spcBef>
                  <a:spcPts val="0"/>
                </a:spcBef>
                <a:spcAft>
                  <a:spcPts val="0"/>
                </a:spcAft>
                <a:buClr>
                  <a:srgbClr val="A7291E"/>
                </a:buClr>
                <a:buSzPts val="1238"/>
                <a:buChar char="●"/>
              </a:pPr>
              <a:r>
                <a:rPr lang="en" sz="1238">
                  <a:solidFill>
                    <a:srgbClr val="A7291E"/>
                  </a:solidFill>
                </a:rPr>
                <a:t>Score logic on 0-2 scale</a:t>
              </a:r>
              <a:endParaRPr sz="1238">
                <a:solidFill>
                  <a:srgbClr val="A7291E"/>
                </a:solidFill>
              </a:endParaRPr>
            </a:p>
          </p:txBody>
        </p:sp>
        <p:sp>
          <p:nvSpPr>
            <p:cNvPr id="268" name="Google Shape;268;p29"/>
            <p:cNvSpPr/>
            <p:nvPr/>
          </p:nvSpPr>
          <p:spPr>
            <a:xfrm>
              <a:off x="2342625" y="2399951"/>
              <a:ext cx="1940700" cy="495900"/>
            </a:xfrm>
            <a:prstGeom prst="rect">
              <a:avLst/>
            </a:prstGeom>
            <a:noFill/>
            <a:ln>
              <a:noFill/>
            </a:ln>
          </p:spPr>
          <p:txBody>
            <a:bodyPr anchorCtr="0" anchor="ctr" bIns="115050" lIns="115050" spcFirstLastPara="1" rIns="115050" wrap="square" tIns="115050">
              <a:noAutofit/>
            </a:bodyPr>
            <a:lstStyle/>
            <a:p>
              <a:pPr indent="0" lvl="0" marL="0" rtl="0" algn="l">
                <a:lnSpc>
                  <a:spcPct val="115000"/>
                </a:lnSpc>
                <a:spcBef>
                  <a:spcPts val="0"/>
                </a:spcBef>
                <a:spcAft>
                  <a:spcPts val="0"/>
                </a:spcAft>
                <a:buNone/>
              </a:pPr>
              <a:r>
                <a:rPr lang="en" sz="1600">
                  <a:solidFill>
                    <a:srgbClr val="FFFFFF"/>
                  </a:solidFill>
                </a:rPr>
                <a:t>Logic Quality Score</a:t>
              </a:r>
              <a:endParaRPr sz="1600">
                <a:solidFill>
                  <a:srgbClr val="FFFFFF"/>
                </a:solidFill>
              </a:endParaRPr>
            </a:p>
          </p:txBody>
        </p:sp>
      </p:grpSp>
      <p:sp>
        <p:nvSpPr>
          <p:cNvPr id="269" name="Google Shape;269;p29"/>
          <p:cNvSpPr/>
          <p:nvPr/>
        </p:nvSpPr>
        <p:spPr>
          <a:xfrm>
            <a:off x="237325" y="1324850"/>
            <a:ext cx="418500" cy="809700"/>
          </a:xfrm>
          <a:prstGeom prst="curvedRight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Sans"/>
              <a:ea typeface="Fira Sans"/>
              <a:cs typeface="Fira Sans"/>
              <a:sym typeface="Fira Sans"/>
            </a:endParaRPr>
          </a:p>
        </p:txBody>
      </p:sp>
      <p:sp>
        <p:nvSpPr>
          <p:cNvPr id="270" name="Google Shape;270;p29"/>
          <p:cNvSpPr/>
          <p:nvPr/>
        </p:nvSpPr>
        <p:spPr>
          <a:xfrm>
            <a:off x="237325" y="2238538"/>
            <a:ext cx="418500" cy="809700"/>
          </a:xfrm>
          <a:prstGeom prst="curvedRight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Sans"/>
              <a:ea typeface="Fira Sans"/>
              <a:cs typeface="Fira Sans"/>
              <a:sym typeface="Fira Sans"/>
            </a:endParaRPr>
          </a:p>
        </p:txBody>
      </p:sp>
      <p:sp>
        <p:nvSpPr>
          <p:cNvPr id="271" name="Google Shape;271;p29"/>
          <p:cNvSpPr/>
          <p:nvPr/>
        </p:nvSpPr>
        <p:spPr>
          <a:xfrm>
            <a:off x="228900" y="3152225"/>
            <a:ext cx="418500" cy="809700"/>
          </a:xfrm>
          <a:prstGeom prst="curvedRight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Sans"/>
              <a:ea typeface="Fira Sans"/>
              <a:cs typeface="Fira Sans"/>
              <a:sym typeface="Fira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0"/>
          <p:cNvSpPr txBox="1"/>
          <p:nvPr>
            <p:ph idx="12" type="sldNum"/>
          </p:nvPr>
        </p:nvSpPr>
        <p:spPr>
          <a:xfrm>
            <a:off x="8595301" y="4474754"/>
            <a:ext cx="548700" cy="330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277" name="Google Shape;277;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Plan</a:t>
            </a:r>
            <a:endParaRPr/>
          </a:p>
        </p:txBody>
      </p:sp>
      <p:grpSp>
        <p:nvGrpSpPr>
          <p:cNvPr id="278" name="Google Shape;278;p30"/>
          <p:cNvGrpSpPr/>
          <p:nvPr/>
        </p:nvGrpSpPr>
        <p:grpSpPr>
          <a:xfrm>
            <a:off x="385450" y="1272574"/>
            <a:ext cx="2038500" cy="3068551"/>
            <a:chOff x="385450" y="1574025"/>
            <a:chExt cx="2038500" cy="3068551"/>
          </a:xfrm>
        </p:grpSpPr>
        <p:grpSp>
          <p:nvGrpSpPr>
            <p:cNvPr id="279" name="Google Shape;279;p30"/>
            <p:cNvGrpSpPr/>
            <p:nvPr/>
          </p:nvGrpSpPr>
          <p:grpSpPr>
            <a:xfrm>
              <a:off x="796138" y="1695421"/>
              <a:ext cx="1606073" cy="908429"/>
              <a:chOff x="796138" y="1695421"/>
              <a:chExt cx="1606073" cy="908429"/>
            </a:xfrm>
          </p:grpSpPr>
          <p:cxnSp>
            <p:nvCxnSpPr>
              <p:cNvPr id="280" name="Google Shape;280;p30"/>
              <p:cNvCxnSpPr/>
              <p:nvPr/>
            </p:nvCxnSpPr>
            <p:spPr>
              <a:xfrm>
                <a:off x="1664415" y="1695421"/>
                <a:ext cx="718500" cy="741900"/>
              </a:xfrm>
              <a:prstGeom prst="straightConnector1">
                <a:avLst/>
              </a:prstGeom>
              <a:noFill/>
              <a:ln cap="flat" cmpd="sng" w="9525">
                <a:solidFill>
                  <a:srgbClr val="0B7743"/>
                </a:solidFill>
                <a:prstDash val="solid"/>
                <a:round/>
                <a:headEnd len="sm" w="sm" type="none"/>
                <a:tailEnd len="sm" w="sm" type="none"/>
              </a:ln>
            </p:spPr>
          </p:cxnSp>
          <p:sp>
            <p:nvSpPr>
              <p:cNvPr id="281" name="Google Shape;281;p30"/>
              <p:cNvSpPr/>
              <p:nvPr/>
            </p:nvSpPr>
            <p:spPr>
              <a:xfrm flipH="1">
                <a:off x="796138" y="2306625"/>
                <a:ext cx="1605900" cy="143400"/>
              </a:xfrm>
              <a:prstGeom prst="parallelogram">
                <a:avLst>
                  <a:gd fmla="val 96952" name="adj"/>
                </a:avLst>
              </a:prstGeom>
              <a:solidFill>
                <a:srgbClr val="0B77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282" name="Google Shape;282;p30"/>
              <p:cNvSpPr/>
              <p:nvPr/>
            </p:nvSpPr>
            <p:spPr>
              <a:xfrm>
                <a:off x="796311" y="2460450"/>
                <a:ext cx="1605900" cy="143400"/>
              </a:xfrm>
              <a:prstGeom prst="parallelogram">
                <a:avLst>
                  <a:gd fmla="val 96952" name="adj"/>
                </a:avLst>
              </a:prstGeom>
              <a:solidFill>
                <a:srgbClr val="0856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3" name="Google Shape;283;p30"/>
            <p:cNvSpPr txBox="1"/>
            <p:nvPr/>
          </p:nvSpPr>
          <p:spPr>
            <a:xfrm>
              <a:off x="915823" y="2695025"/>
              <a:ext cx="1324200" cy="446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1100">
                  <a:solidFill>
                    <a:srgbClr val="0B713F"/>
                  </a:solidFill>
                </a:rPr>
                <a:t>Requirements, Design, Planning</a:t>
              </a:r>
              <a:endParaRPr b="1" sz="1100">
                <a:solidFill>
                  <a:srgbClr val="0B713F"/>
                </a:solidFill>
              </a:endParaRPr>
            </a:p>
          </p:txBody>
        </p:sp>
        <p:sp>
          <p:nvSpPr>
            <p:cNvPr id="284" name="Google Shape;284;p30"/>
            <p:cNvSpPr txBox="1"/>
            <p:nvPr/>
          </p:nvSpPr>
          <p:spPr>
            <a:xfrm>
              <a:off x="940150" y="3226576"/>
              <a:ext cx="14838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rgbClr val="0B713F"/>
                  </a:solidFill>
                </a:rPr>
                <a:t>- Problem Statement</a:t>
              </a:r>
              <a:endParaRPr b="1" sz="1000">
                <a:solidFill>
                  <a:srgbClr val="0B713F"/>
                </a:solidFill>
              </a:endParaRPr>
            </a:p>
            <a:p>
              <a:pPr indent="0" lvl="0" marL="0" rtl="0" algn="l">
                <a:spcBef>
                  <a:spcPts val="1600"/>
                </a:spcBef>
                <a:spcAft>
                  <a:spcPts val="0"/>
                </a:spcAft>
                <a:buNone/>
              </a:pPr>
              <a:r>
                <a:rPr b="1" lang="en" sz="1000">
                  <a:solidFill>
                    <a:srgbClr val="0B713F"/>
                  </a:solidFill>
                </a:rPr>
                <a:t>- Requirements</a:t>
              </a:r>
              <a:endParaRPr b="1" sz="1000">
                <a:solidFill>
                  <a:srgbClr val="0B713F"/>
                </a:solidFill>
              </a:endParaRPr>
            </a:p>
            <a:p>
              <a:pPr indent="0" lvl="0" marL="0" rtl="0" algn="l">
                <a:spcBef>
                  <a:spcPts val="1600"/>
                </a:spcBef>
                <a:spcAft>
                  <a:spcPts val="0"/>
                </a:spcAft>
                <a:buNone/>
              </a:pPr>
              <a:r>
                <a:rPr b="1" lang="en" sz="1000">
                  <a:solidFill>
                    <a:srgbClr val="0B713F"/>
                  </a:solidFill>
                </a:rPr>
                <a:t>- Design Plan</a:t>
              </a:r>
              <a:endParaRPr b="1" sz="1000">
                <a:solidFill>
                  <a:srgbClr val="0B713F"/>
                </a:solidFill>
              </a:endParaRPr>
            </a:p>
            <a:p>
              <a:pPr indent="0" lvl="0" marL="0" rtl="0" algn="l">
                <a:spcBef>
                  <a:spcPts val="1600"/>
                </a:spcBef>
                <a:spcAft>
                  <a:spcPts val="1600"/>
                </a:spcAft>
                <a:buNone/>
              </a:pPr>
              <a:r>
                <a:rPr b="1" lang="en" sz="1000">
                  <a:solidFill>
                    <a:srgbClr val="0B713F"/>
                  </a:solidFill>
                </a:rPr>
                <a:t>- Phase 1 Documents</a:t>
              </a:r>
              <a:endParaRPr b="1" sz="1000">
                <a:solidFill>
                  <a:srgbClr val="0B713F"/>
                </a:solidFill>
              </a:endParaRPr>
            </a:p>
          </p:txBody>
        </p:sp>
        <p:sp>
          <p:nvSpPr>
            <p:cNvPr id="285" name="Google Shape;285;p30"/>
            <p:cNvSpPr txBox="1"/>
            <p:nvPr/>
          </p:nvSpPr>
          <p:spPr>
            <a:xfrm>
              <a:off x="385450" y="1574025"/>
              <a:ext cx="1324200" cy="5817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0"/>
                </a:spcBef>
                <a:spcAft>
                  <a:spcPts val="1600"/>
                </a:spcAft>
                <a:buNone/>
              </a:pPr>
              <a:r>
                <a:rPr b="1" lang="en" sz="1200">
                  <a:solidFill>
                    <a:srgbClr val="0B713F"/>
                  </a:solidFill>
                </a:rPr>
                <a:t>Milestone</a:t>
              </a:r>
              <a:r>
                <a:rPr b="1" lang="en" sz="1200">
                  <a:solidFill>
                    <a:srgbClr val="0B713F"/>
                  </a:solidFill>
                </a:rPr>
                <a:t> 1 08FEB26</a:t>
              </a:r>
              <a:endParaRPr b="1" sz="1200">
                <a:solidFill>
                  <a:srgbClr val="0B713F"/>
                </a:solidFill>
              </a:endParaRPr>
            </a:p>
          </p:txBody>
        </p:sp>
      </p:grpSp>
      <p:grpSp>
        <p:nvGrpSpPr>
          <p:cNvPr id="286" name="Google Shape;286;p30"/>
          <p:cNvGrpSpPr/>
          <p:nvPr/>
        </p:nvGrpSpPr>
        <p:grpSpPr>
          <a:xfrm>
            <a:off x="1874574" y="1272574"/>
            <a:ext cx="1995912" cy="1568138"/>
            <a:chOff x="1874574" y="1574025"/>
            <a:chExt cx="1995912" cy="1568138"/>
          </a:xfrm>
        </p:grpSpPr>
        <p:cxnSp>
          <p:nvCxnSpPr>
            <p:cNvPr id="287" name="Google Shape;287;p30"/>
            <p:cNvCxnSpPr/>
            <p:nvPr/>
          </p:nvCxnSpPr>
          <p:spPr>
            <a:xfrm>
              <a:off x="3151986" y="1695421"/>
              <a:ext cx="718500" cy="741900"/>
            </a:xfrm>
            <a:prstGeom prst="straightConnector1">
              <a:avLst/>
            </a:prstGeom>
            <a:noFill/>
            <a:ln cap="flat" cmpd="sng" w="9525">
              <a:solidFill>
                <a:srgbClr val="0B7743"/>
              </a:solidFill>
              <a:prstDash val="solid"/>
              <a:round/>
              <a:headEnd len="sm" w="sm" type="none"/>
              <a:tailEnd len="sm" w="sm" type="none"/>
            </a:ln>
          </p:spPr>
        </p:cxnSp>
        <p:sp>
          <p:nvSpPr>
            <p:cNvPr id="288" name="Google Shape;288;p30"/>
            <p:cNvSpPr/>
            <p:nvPr/>
          </p:nvSpPr>
          <p:spPr>
            <a:xfrm flipH="1">
              <a:off x="2291575" y="2306626"/>
              <a:ext cx="1572900" cy="143400"/>
            </a:xfrm>
            <a:prstGeom prst="parallelogram">
              <a:avLst>
                <a:gd fmla="val 96952" name="adj"/>
              </a:avLst>
            </a:prstGeom>
            <a:solidFill>
              <a:srgbClr val="0B77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289" name="Google Shape;289;p30"/>
            <p:cNvSpPr/>
            <p:nvPr/>
          </p:nvSpPr>
          <p:spPr>
            <a:xfrm>
              <a:off x="2291900" y="2460451"/>
              <a:ext cx="1572900" cy="143400"/>
            </a:xfrm>
            <a:prstGeom prst="parallelogram">
              <a:avLst>
                <a:gd fmla="val 96952" name="adj"/>
              </a:avLst>
            </a:prstGeom>
            <a:solidFill>
              <a:srgbClr val="0856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30"/>
            <p:cNvSpPr txBox="1"/>
            <p:nvPr/>
          </p:nvSpPr>
          <p:spPr>
            <a:xfrm>
              <a:off x="2342749" y="2695763"/>
              <a:ext cx="1471200" cy="446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1100">
                  <a:solidFill>
                    <a:srgbClr val="0B713F"/>
                  </a:solidFill>
                </a:rPr>
                <a:t>Dataset Labeling, Model Design</a:t>
              </a:r>
              <a:endParaRPr b="1" sz="1100">
                <a:solidFill>
                  <a:srgbClr val="0B713F"/>
                </a:solidFill>
              </a:endParaRPr>
            </a:p>
          </p:txBody>
        </p:sp>
        <p:sp>
          <p:nvSpPr>
            <p:cNvPr id="291" name="Google Shape;291;p30"/>
            <p:cNvSpPr txBox="1"/>
            <p:nvPr/>
          </p:nvSpPr>
          <p:spPr>
            <a:xfrm>
              <a:off x="1874574" y="1574025"/>
              <a:ext cx="1324200" cy="5817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0"/>
                </a:spcBef>
                <a:spcAft>
                  <a:spcPts val="1600"/>
                </a:spcAft>
                <a:buNone/>
              </a:pPr>
              <a:r>
                <a:rPr b="1" lang="en" sz="1200">
                  <a:solidFill>
                    <a:srgbClr val="0B713F"/>
                  </a:solidFill>
                </a:rPr>
                <a:t>Milestone 2 15MAR26</a:t>
              </a:r>
              <a:endParaRPr b="1" sz="1200">
                <a:solidFill>
                  <a:srgbClr val="0B713F"/>
                </a:solidFill>
              </a:endParaRPr>
            </a:p>
          </p:txBody>
        </p:sp>
      </p:grpSp>
      <p:grpSp>
        <p:nvGrpSpPr>
          <p:cNvPr id="292" name="Google Shape;292;p30"/>
          <p:cNvGrpSpPr/>
          <p:nvPr/>
        </p:nvGrpSpPr>
        <p:grpSpPr>
          <a:xfrm>
            <a:off x="3359651" y="1272574"/>
            <a:ext cx="2046674" cy="1578096"/>
            <a:chOff x="3359651" y="1574025"/>
            <a:chExt cx="2046674" cy="1578096"/>
          </a:xfrm>
        </p:grpSpPr>
        <p:cxnSp>
          <p:nvCxnSpPr>
            <p:cNvPr id="293" name="Google Shape;293;p30"/>
            <p:cNvCxnSpPr/>
            <p:nvPr/>
          </p:nvCxnSpPr>
          <p:spPr>
            <a:xfrm>
              <a:off x="4637135" y="1695421"/>
              <a:ext cx="718500" cy="741900"/>
            </a:xfrm>
            <a:prstGeom prst="straightConnector1">
              <a:avLst/>
            </a:prstGeom>
            <a:noFill/>
            <a:ln cap="flat" cmpd="sng" w="9525">
              <a:solidFill>
                <a:srgbClr val="C2C2C2"/>
              </a:solidFill>
              <a:prstDash val="solid"/>
              <a:round/>
              <a:headEnd len="sm" w="sm" type="none"/>
              <a:tailEnd len="sm" w="sm" type="none"/>
            </a:ln>
          </p:spPr>
        </p:cxnSp>
        <p:sp>
          <p:nvSpPr>
            <p:cNvPr id="294" name="Google Shape;294;p30"/>
            <p:cNvSpPr/>
            <p:nvPr/>
          </p:nvSpPr>
          <p:spPr>
            <a:xfrm flipH="1">
              <a:off x="3768859" y="2306625"/>
              <a:ext cx="1605900" cy="143400"/>
            </a:xfrm>
            <a:prstGeom prst="parallelogram">
              <a:avLst>
                <a:gd fmla="val 96952" name="adj"/>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295" name="Google Shape;295;p30"/>
            <p:cNvSpPr/>
            <p:nvPr/>
          </p:nvSpPr>
          <p:spPr>
            <a:xfrm>
              <a:off x="3769032" y="2460450"/>
              <a:ext cx="1605900" cy="143400"/>
            </a:xfrm>
            <a:prstGeom prst="parallelogram">
              <a:avLst>
                <a:gd fmla="val 96952" name="adj"/>
              </a:avLst>
            </a:prstGeom>
            <a:solidFill>
              <a:srgbClr val="8585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0"/>
            <p:cNvSpPr txBox="1"/>
            <p:nvPr/>
          </p:nvSpPr>
          <p:spPr>
            <a:xfrm>
              <a:off x="3800425" y="2613621"/>
              <a:ext cx="1605900" cy="5385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1100">
                  <a:solidFill>
                    <a:srgbClr val="858585"/>
                  </a:solidFill>
                </a:rPr>
                <a:t>Pipeline Validations, Containerization</a:t>
              </a:r>
              <a:endParaRPr b="1" sz="1100">
                <a:solidFill>
                  <a:srgbClr val="858585"/>
                </a:solidFill>
              </a:endParaRPr>
            </a:p>
          </p:txBody>
        </p:sp>
        <p:sp>
          <p:nvSpPr>
            <p:cNvPr id="297" name="Google Shape;297;p30"/>
            <p:cNvSpPr txBox="1"/>
            <p:nvPr/>
          </p:nvSpPr>
          <p:spPr>
            <a:xfrm>
              <a:off x="3359651" y="1574025"/>
              <a:ext cx="1324200" cy="5817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0"/>
                </a:spcBef>
                <a:spcAft>
                  <a:spcPts val="1600"/>
                </a:spcAft>
                <a:buNone/>
              </a:pPr>
              <a:r>
                <a:rPr b="1" lang="en" sz="1200">
                  <a:solidFill>
                    <a:srgbClr val="858585"/>
                  </a:solidFill>
                </a:rPr>
                <a:t>Milestone 3 12APR26</a:t>
              </a:r>
              <a:endParaRPr b="1" sz="1200">
                <a:solidFill>
                  <a:srgbClr val="858585"/>
                </a:solidFill>
              </a:endParaRPr>
            </a:p>
          </p:txBody>
        </p:sp>
      </p:grpSp>
      <p:grpSp>
        <p:nvGrpSpPr>
          <p:cNvPr id="298" name="Google Shape;298;p30"/>
          <p:cNvGrpSpPr/>
          <p:nvPr/>
        </p:nvGrpSpPr>
        <p:grpSpPr>
          <a:xfrm>
            <a:off x="4847424" y="1272574"/>
            <a:ext cx="2015289" cy="1571604"/>
            <a:chOff x="4847424" y="1574025"/>
            <a:chExt cx="2015289" cy="1571604"/>
          </a:xfrm>
        </p:grpSpPr>
        <p:cxnSp>
          <p:nvCxnSpPr>
            <p:cNvPr id="299" name="Google Shape;299;p30"/>
            <p:cNvCxnSpPr/>
            <p:nvPr/>
          </p:nvCxnSpPr>
          <p:spPr>
            <a:xfrm>
              <a:off x="6124917" y="1695421"/>
              <a:ext cx="718500" cy="741900"/>
            </a:xfrm>
            <a:prstGeom prst="straightConnector1">
              <a:avLst/>
            </a:prstGeom>
            <a:noFill/>
            <a:ln cap="flat" cmpd="sng" w="9525">
              <a:solidFill>
                <a:srgbClr val="C2C2C2"/>
              </a:solidFill>
              <a:prstDash val="solid"/>
              <a:round/>
              <a:headEnd len="sm" w="sm" type="none"/>
              <a:tailEnd len="sm" w="sm" type="none"/>
            </a:ln>
          </p:spPr>
        </p:cxnSp>
        <p:sp>
          <p:nvSpPr>
            <p:cNvPr id="300" name="Google Shape;300;p30"/>
            <p:cNvSpPr/>
            <p:nvPr/>
          </p:nvSpPr>
          <p:spPr>
            <a:xfrm flipH="1">
              <a:off x="5256641" y="2306625"/>
              <a:ext cx="1605900" cy="143400"/>
            </a:xfrm>
            <a:prstGeom prst="parallelogram">
              <a:avLst>
                <a:gd fmla="val 96952" name="adj"/>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301" name="Google Shape;301;p30"/>
            <p:cNvSpPr/>
            <p:nvPr/>
          </p:nvSpPr>
          <p:spPr>
            <a:xfrm>
              <a:off x="5256813" y="2460450"/>
              <a:ext cx="1605900" cy="143400"/>
            </a:xfrm>
            <a:prstGeom prst="parallelogram">
              <a:avLst>
                <a:gd fmla="val 96952" name="adj"/>
              </a:avLst>
            </a:prstGeom>
            <a:solidFill>
              <a:srgbClr val="8585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0"/>
            <p:cNvSpPr txBox="1"/>
            <p:nvPr/>
          </p:nvSpPr>
          <p:spPr>
            <a:xfrm>
              <a:off x="5350425" y="2699229"/>
              <a:ext cx="1418700" cy="446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1100">
                  <a:solidFill>
                    <a:srgbClr val="858585"/>
                  </a:solidFill>
                </a:rPr>
                <a:t>Model Evaluation, Robotic Testing</a:t>
              </a:r>
              <a:endParaRPr b="1" sz="1100">
                <a:solidFill>
                  <a:srgbClr val="858585"/>
                </a:solidFill>
              </a:endParaRPr>
            </a:p>
          </p:txBody>
        </p:sp>
        <p:sp>
          <p:nvSpPr>
            <p:cNvPr id="303" name="Google Shape;303;p30"/>
            <p:cNvSpPr txBox="1"/>
            <p:nvPr/>
          </p:nvSpPr>
          <p:spPr>
            <a:xfrm>
              <a:off x="4847424" y="1574025"/>
              <a:ext cx="1324200" cy="5817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0"/>
                </a:spcBef>
                <a:spcAft>
                  <a:spcPts val="1600"/>
                </a:spcAft>
                <a:buNone/>
              </a:pPr>
              <a:r>
                <a:rPr b="1" lang="en" sz="1200">
                  <a:solidFill>
                    <a:srgbClr val="858585"/>
                  </a:solidFill>
                </a:rPr>
                <a:t>Milestone 4 05MAY26</a:t>
              </a:r>
              <a:endParaRPr b="1" sz="1200">
                <a:solidFill>
                  <a:srgbClr val="858585"/>
                </a:solidFill>
              </a:endParaRPr>
            </a:p>
          </p:txBody>
        </p:sp>
      </p:grpSp>
      <p:grpSp>
        <p:nvGrpSpPr>
          <p:cNvPr id="304" name="Google Shape;304;p30"/>
          <p:cNvGrpSpPr/>
          <p:nvPr/>
        </p:nvGrpSpPr>
        <p:grpSpPr>
          <a:xfrm>
            <a:off x="6425526" y="1272574"/>
            <a:ext cx="2013074" cy="2379476"/>
            <a:chOff x="6425526" y="1574025"/>
            <a:chExt cx="2013074" cy="2379476"/>
          </a:xfrm>
        </p:grpSpPr>
        <p:cxnSp>
          <p:nvCxnSpPr>
            <p:cNvPr id="305" name="Google Shape;305;p30"/>
            <p:cNvCxnSpPr/>
            <p:nvPr/>
          </p:nvCxnSpPr>
          <p:spPr>
            <a:xfrm>
              <a:off x="7610066" y="1695421"/>
              <a:ext cx="718500" cy="741900"/>
            </a:xfrm>
            <a:prstGeom prst="straightConnector1">
              <a:avLst/>
            </a:prstGeom>
            <a:noFill/>
            <a:ln cap="flat" cmpd="sng" w="9525">
              <a:solidFill>
                <a:srgbClr val="C2C2C2"/>
              </a:solidFill>
              <a:prstDash val="solid"/>
              <a:round/>
              <a:headEnd len="sm" w="sm" type="none"/>
              <a:tailEnd len="sm" w="sm" type="none"/>
            </a:ln>
          </p:spPr>
        </p:cxnSp>
        <p:sp>
          <p:nvSpPr>
            <p:cNvPr id="306" name="Google Shape;306;p30"/>
            <p:cNvSpPr/>
            <p:nvPr/>
          </p:nvSpPr>
          <p:spPr>
            <a:xfrm flipH="1">
              <a:off x="6741789" y="2306625"/>
              <a:ext cx="1605900" cy="143400"/>
            </a:xfrm>
            <a:prstGeom prst="parallelogram">
              <a:avLst>
                <a:gd fmla="val 96952" name="adj"/>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307" name="Google Shape;307;p30"/>
            <p:cNvSpPr/>
            <p:nvPr/>
          </p:nvSpPr>
          <p:spPr>
            <a:xfrm>
              <a:off x="6741962" y="2460450"/>
              <a:ext cx="1605900" cy="143400"/>
            </a:xfrm>
            <a:prstGeom prst="parallelogram">
              <a:avLst>
                <a:gd fmla="val 96952" name="adj"/>
              </a:avLst>
            </a:prstGeom>
            <a:solidFill>
              <a:srgbClr val="8585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30"/>
            <p:cNvSpPr txBox="1"/>
            <p:nvPr/>
          </p:nvSpPr>
          <p:spPr>
            <a:xfrm>
              <a:off x="6865689" y="2695025"/>
              <a:ext cx="1324200" cy="446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1100">
                  <a:solidFill>
                    <a:srgbClr val="858585"/>
                  </a:solidFill>
                </a:rPr>
                <a:t>Project Presentation</a:t>
              </a:r>
              <a:endParaRPr b="1" sz="1100">
                <a:solidFill>
                  <a:srgbClr val="858585"/>
                </a:solidFill>
              </a:endParaRPr>
            </a:p>
          </p:txBody>
        </p:sp>
        <p:sp>
          <p:nvSpPr>
            <p:cNvPr id="309" name="Google Shape;309;p30"/>
            <p:cNvSpPr txBox="1"/>
            <p:nvPr/>
          </p:nvSpPr>
          <p:spPr>
            <a:xfrm>
              <a:off x="6865700" y="3232601"/>
              <a:ext cx="1572900" cy="720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000">
                  <a:solidFill>
                    <a:srgbClr val="858585"/>
                  </a:solidFill>
                </a:rPr>
                <a:t>- Final Presentation</a:t>
              </a:r>
              <a:endParaRPr b="1" sz="1000">
                <a:solidFill>
                  <a:srgbClr val="858585"/>
                </a:solidFill>
              </a:endParaRPr>
            </a:p>
            <a:p>
              <a:pPr indent="0" lvl="0" marL="0" rtl="0" algn="l">
                <a:lnSpc>
                  <a:spcPct val="115000"/>
                </a:lnSpc>
                <a:spcBef>
                  <a:spcPts val="1600"/>
                </a:spcBef>
                <a:spcAft>
                  <a:spcPts val="1600"/>
                </a:spcAft>
                <a:buNone/>
              </a:pPr>
              <a:r>
                <a:rPr b="1" lang="en" sz="1000">
                  <a:solidFill>
                    <a:srgbClr val="858585"/>
                  </a:solidFill>
                </a:rPr>
                <a:t>- Artifact Submissions</a:t>
              </a:r>
              <a:endParaRPr b="1" sz="1000">
                <a:solidFill>
                  <a:srgbClr val="858585"/>
                </a:solidFill>
              </a:endParaRPr>
            </a:p>
          </p:txBody>
        </p:sp>
        <p:sp>
          <p:nvSpPr>
            <p:cNvPr id="310" name="Google Shape;310;p30"/>
            <p:cNvSpPr txBox="1"/>
            <p:nvPr/>
          </p:nvSpPr>
          <p:spPr>
            <a:xfrm>
              <a:off x="6425526" y="1574025"/>
              <a:ext cx="1234200" cy="2412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600"/>
                </a:spcAft>
                <a:buNone/>
              </a:pPr>
              <a:r>
                <a:rPr b="1" lang="en" sz="1200">
                  <a:solidFill>
                    <a:srgbClr val="858585"/>
                  </a:solidFill>
                </a:rPr>
                <a:t>Milestone 5 11MAY26</a:t>
              </a:r>
              <a:endParaRPr b="1" sz="1200">
                <a:solidFill>
                  <a:srgbClr val="858585"/>
                </a:solidFill>
              </a:endParaRPr>
            </a:p>
          </p:txBody>
        </p:sp>
      </p:grpSp>
      <p:sp>
        <p:nvSpPr>
          <p:cNvPr id="311" name="Google Shape;311;p30"/>
          <p:cNvSpPr txBox="1"/>
          <p:nvPr/>
        </p:nvSpPr>
        <p:spPr>
          <a:xfrm>
            <a:off x="2423950" y="2925125"/>
            <a:ext cx="1702500" cy="1416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1000">
                <a:solidFill>
                  <a:srgbClr val="0B713F"/>
                </a:solidFill>
              </a:rPr>
              <a:t>- </a:t>
            </a:r>
            <a:r>
              <a:rPr b="1" lang="en" sz="1000">
                <a:solidFill>
                  <a:srgbClr val="0B713F"/>
                </a:solidFill>
              </a:rPr>
              <a:t>Dataset Identification</a:t>
            </a:r>
            <a:endParaRPr b="1" sz="1000">
              <a:solidFill>
                <a:srgbClr val="0B713F"/>
              </a:solidFill>
            </a:endParaRPr>
          </a:p>
          <a:p>
            <a:pPr indent="0" lvl="0" marL="0" rtl="0" algn="l">
              <a:lnSpc>
                <a:spcPct val="100000"/>
              </a:lnSpc>
              <a:spcBef>
                <a:spcPts val="1600"/>
              </a:spcBef>
              <a:spcAft>
                <a:spcPts val="0"/>
              </a:spcAft>
              <a:buNone/>
            </a:pPr>
            <a:r>
              <a:rPr b="1" lang="en" sz="1000">
                <a:solidFill>
                  <a:srgbClr val="0B713F"/>
                </a:solidFill>
              </a:rPr>
              <a:t>- Data Labeling</a:t>
            </a:r>
            <a:endParaRPr b="1" sz="1000">
              <a:solidFill>
                <a:srgbClr val="0B713F"/>
              </a:solidFill>
            </a:endParaRPr>
          </a:p>
          <a:p>
            <a:pPr indent="0" lvl="0" marL="0" rtl="0" algn="l">
              <a:lnSpc>
                <a:spcPct val="100000"/>
              </a:lnSpc>
              <a:spcBef>
                <a:spcPts val="1600"/>
              </a:spcBef>
              <a:spcAft>
                <a:spcPts val="0"/>
              </a:spcAft>
              <a:buNone/>
            </a:pPr>
            <a:r>
              <a:rPr b="1" lang="en" sz="1000">
                <a:solidFill>
                  <a:srgbClr val="0B713F"/>
                </a:solidFill>
              </a:rPr>
              <a:t>- Pipeline/Model  Dev</a:t>
            </a:r>
            <a:endParaRPr b="1" sz="1000">
              <a:solidFill>
                <a:srgbClr val="0B713F"/>
              </a:solidFill>
            </a:endParaRPr>
          </a:p>
          <a:p>
            <a:pPr indent="0" lvl="0" marL="0" rtl="0" algn="l">
              <a:lnSpc>
                <a:spcPct val="100000"/>
              </a:lnSpc>
              <a:spcBef>
                <a:spcPts val="1600"/>
              </a:spcBef>
              <a:spcAft>
                <a:spcPts val="1600"/>
              </a:spcAft>
              <a:buNone/>
            </a:pPr>
            <a:r>
              <a:rPr b="1" lang="en" sz="1000">
                <a:solidFill>
                  <a:srgbClr val="0B713F"/>
                </a:solidFill>
              </a:rPr>
              <a:t>- Phase 2 Documents</a:t>
            </a:r>
            <a:endParaRPr b="1" sz="1000">
              <a:solidFill>
                <a:srgbClr val="0B713F"/>
              </a:solidFill>
            </a:endParaRPr>
          </a:p>
        </p:txBody>
      </p:sp>
      <p:sp>
        <p:nvSpPr>
          <p:cNvPr id="312" name="Google Shape;312;p30"/>
          <p:cNvSpPr txBox="1"/>
          <p:nvPr/>
        </p:nvSpPr>
        <p:spPr>
          <a:xfrm>
            <a:off x="3909902" y="2925125"/>
            <a:ext cx="1572900" cy="1416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1000">
                <a:solidFill>
                  <a:srgbClr val="858585"/>
                </a:solidFill>
              </a:rPr>
              <a:t>- </a:t>
            </a:r>
            <a:r>
              <a:rPr b="1" lang="en" sz="1000">
                <a:solidFill>
                  <a:srgbClr val="858585"/>
                </a:solidFill>
              </a:rPr>
              <a:t>Prompt Finalization</a:t>
            </a:r>
            <a:endParaRPr b="1" sz="1000">
              <a:solidFill>
                <a:srgbClr val="858585"/>
              </a:solidFill>
            </a:endParaRPr>
          </a:p>
          <a:p>
            <a:pPr indent="0" lvl="0" marL="0" rtl="0" algn="l">
              <a:lnSpc>
                <a:spcPct val="100000"/>
              </a:lnSpc>
              <a:spcBef>
                <a:spcPts val="1600"/>
              </a:spcBef>
              <a:spcAft>
                <a:spcPts val="0"/>
              </a:spcAft>
              <a:buNone/>
            </a:pPr>
            <a:r>
              <a:rPr b="1" lang="en" sz="1000">
                <a:solidFill>
                  <a:srgbClr val="858585"/>
                </a:solidFill>
              </a:rPr>
              <a:t>- Pipeline Validation</a:t>
            </a:r>
            <a:endParaRPr b="1" sz="1000">
              <a:solidFill>
                <a:srgbClr val="858585"/>
              </a:solidFill>
            </a:endParaRPr>
          </a:p>
          <a:p>
            <a:pPr indent="0" lvl="0" marL="0" rtl="0" algn="l">
              <a:lnSpc>
                <a:spcPct val="100000"/>
              </a:lnSpc>
              <a:spcBef>
                <a:spcPts val="1600"/>
              </a:spcBef>
              <a:spcAft>
                <a:spcPts val="0"/>
              </a:spcAft>
              <a:buNone/>
            </a:pPr>
            <a:r>
              <a:rPr b="1" lang="en" sz="1000">
                <a:solidFill>
                  <a:srgbClr val="858585"/>
                </a:solidFill>
              </a:rPr>
              <a:t>- Container Dev</a:t>
            </a:r>
            <a:endParaRPr b="1" sz="1000">
              <a:solidFill>
                <a:srgbClr val="858585"/>
              </a:solidFill>
            </a:endParaRPr>
          </a:p>
          <a:p>
            <a:pPr indent="0" lvl="0" marL="0" rtl="0" algn="l">
              <a:lnSpc>
                <a:spcPct val="100000"/>
              </a:lnSpc>
              <a:spcBef>
                <a:spcPts val="1600"/>
              </a:spcBef>
              <a:spcAft>
                <a:spcPts val="1600"/>
              </a:spcAft>
              <a:buNone/>
            </a:pPr>
            <a:r>
              <a:rPr b="1" lang="en" sz="1000">
                <a:solidFill>
                  <a:srgbClr val="858585"/>
                </a:solidFill>
              </a:rPr>
              <a:t>- Phase 3 Documents</a:t>
            </a:r>
            <a:endParaRPr b="1" sz="1000">
              <a:solidFill>
                <a:srgbClr val="858585"/>
              </a:solidFill>
            </a:endParaRPr>
          </a:p>
        </p:txBody>
      </p:sp>
      <p:sp>
        <p:nvSpPr>
          <p:cNvPr id="313" name="Google Shape;313;p30"/>
          <p:cNvSpPr txBox="1"/>
          <p:nvPr/>
        </p:nvSpPr>
        <p:spPr>
          <a:xfrm>
            <a:off x="5406325" y="2925125"/>
            <a:ext cx="1620900" cy="1416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1000">
                <a:solidFill>
                  <a:srgbClr val="858585"/>
                </a:solidFill>
              </a:rPr>
              <a:t>- </a:t>
            </a:r>
            <a:r>
              <a:rPr b="1" lang="en" sz="1000">
                <a:solidFill>
                  <a:srgbClr val="858585"/>
                </a:solidFill>
              </a:rPr>
              <a:t>Evaluation Execution</a:t>
            </a:r>
            <a:endParaRPr b="1" sz="1000">
              <a:solidFill>
                <a:srgbClr val="858585"/>
              </a:solidFill>
            </a:endParaRPr>
          </a:p>
          <a:p>
            <a:pPr indent="0" lvl="0" marL="0" rtl="0" algn="l">
              <a:lnSpc>
                <a:spcPct val="100000"/>
              </a:lnSpc>
              <a:spcBef>
                <a:spcPts val="1600"/>
              </a:spcBef>
              <a:spcAft>
                <a:spcPts val="0"/>
              </a:spcAft>
              <a:buNone/>
            </a:pPr>
            <a:r>
              <a:rPr b="1" lang="en" sz="1000">
                <a:solidFill>
                  <a:srgbClr val="858585"/>
                </a:solidFill>
              </a:rPr>
              <a:t>- Results Analysis</a:t>
            </a:r>
            <a:endParaRPr b="1" sz="1000">
              <a:solidFill>
                <a:srgbClr val="858585"/>
              </a:solidFill>
            </a:endParaRPr>
          </a:p>
          <a:p>
            <a:pPr indent="0" lvl="0" marL="0" rtl="0" algn="l">
              <a:lnSpc>
                <a:spcPct val="100000"/>
              </a:lnSpc>
              <a:spcBef>
                <a:spcPts val="1600"/>
              </a:spcBef>
              <a:spcAft>
                <a:spcPts val="0"/>
              </a:spcAft>
              <a:buNone/>
            </a:pPr>
            <a:r>
              <a:rPr b="1" lang="en" sz="1000">
                <a:solidFill>
                  <a:srgbClr val="858585"/>
                </a:solidFill>
              </a:rPr>
              <a:t>- Robotic Deployment</a:t>
            </a:r>
            <a:endParaRPr b="1" sz="1000">
              <a:solidFill>
                <a:srgbClr val="858585"/>
              </a:solidFill>
            </a:endParaRPr>
          </a:p>
          <a:p>
            <a:pPr indent="0" lvl="0" marL="0" rtl="0" algn="l">
              <a:lnSpc>
                <a:spcPct val="100000"/>
              </a:lnSpc>
              <a:spcBef>
                <a:spcPts val="1600"/>
              </a:spcBef>
              <a:spcAft>
                <a:spcPts val="1600"/>
              </a:spcAft>
              <a:buNone/>
            </a:pPr>
            <a:r>
              <a:rPr b="1" lang="en" sz="1000">
                <a:solidFill>
                  <a:srgbClr val="858585"/>
                </a:solidFill>
              </a:rPr>
              <a:t>- Phase 4 Documents</a:t>
            </a:r>
            <a:endParaRPr b="1" sz="1000">
              <a:solidFill>
                <a:srgbClr val="858585"/>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1"/>
          <p:cNvSpPr txBox="1"/>
          <p:nvPr>
            <p:ph type="title"/>
          </p:nvPr>
        </p:nvSpPr>
        <p:spPr>
          <a:xfrm>
            <a:off x="185875" y="199905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
              <a:t>Questions?</a:t>
            </a:r>
            <a:endParaRPr/>
          </a:p>
        </p:txBody>
      </p:sp>
      <p:sp>
        <p:nvSpPr>
          <p:cNvPr id="319" name="Google Shape;319;p31"/>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3" name="Shape 323"/>
        <p:cNvGrpSpPr/>
        <p:nvPr/>
      </p:nvGrpSpPr>
      <p:grpSpPr>
        <a:xfrm>
          <a:off x="0" y="0"/>
          <a:ext cx="0" cy="0"/>
          <a:chOff x="0" y="0"/>
          <a:chExt cx="0" cy="0"/>
        </a:xfrm>
      </p:grpSpPr>
      <p:sp>
        <p:nvSpPr>
          <p:cNvPr id="324" name="Google Shape;324;p32"/>
          <p:cNvSpPr txBox="1"/>
          <p:nvPr>
            <p:ph type="title"/>
          </p:nvPr>
        </p:nvSpPr>
        <p:spPr>
          <a:xfrm>
            <a:off x="311700" y="1901550"/>
            <a:ext cx="8520600" cy="13404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a:t>Hidden Slides</a:t>
            </a:r>
            <a:endParaRPr/>
          </a:p>
        </p:txBody>
      </p:sp>
      <p:sp>
        <p:nvSpPr>
          <p:cNvPr id="325" name="Google Shape;325;p32"/>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9" name="Shape 329"/>
        <p:cNvGrpSpPr/>
        <p:nvPr/>
      </p:nvGrpSpPr>
      <p:grpSpPr>
        <a:xfrm>
          <a:off x="0" y="0"/>
          <a:ext cx="0" cy="0"/>
          <a:chOff x="0" y="0"/>
          <a:chExt cx="0" cy="0"/>
        </a:xfrm>
      </p:grpSpPr>
      <p:sp>
        <p:nvSpPr>
          <p:cNvPr id="330" name="Google Shape;330;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Background - Current </a:t>
            </a:r>
            <a:r>
              <a:rPr lang="en"/>
              <a:t>Methodology</a:t>
            </a:r>
            <a:endParaRPr/>
          </a:p>
        </p:txBody>
      </p:sp>
      <p:sp>
        <p:nvSpPr>
          <p:cNvPr id="331" name="Google Shape;331;p33"/>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pic>
        <p:nvPicPr>
          <p:cNvPr id="332" name="Google Shape;332;p33" title="Model Design.jpg"/>
          <p:cNvPicPr preferRelativeResize="0"/>
          <p:nvPr/>
        </p:nvPicPr>
        <p:blipFill>
          <a:blip r:embed="rId3">
            <a:alphaModFix/>
          </a:blip>
          <a:stretch>
            <a:fillRect/>
          </a:stretch>
        </p:blipFill>
        <p:spPr>
          <a:xfrm>
            <a:off x="311700" y="1635525"/>
            <a:ext cx="5380803" cy="2046674"/>
          </a:xfrm>
          <a:prstGeom prst="rect">
            <a:avLst/>
          </a:prstGeom>
          <a:noFill/>
          <a:ln>
            <a:noFill/>
          </a:ln>
        </p:spPr>
      </p:pic>
      <p:graphicFrame>
        <p:nvGraphicFramePr>
          <p:cNvPr id="333" name="Google Shape;333;p33"/>
          <p:cNvGraphicFramePr/>
          <p:nvPr/>
        </p:nvGraphicFramePr>
        <p:xfrm>
          <a:off x="5842888" y="1698214"/>
          <a:ext cx="3000000" cy="3000000"/>
        </p:xfrm>
        <a:graphic>
          <a:graphicData uri="http://schemas.openxmlformats.org/drawingml/2006/table">
            <a:tbl>
              <a:tblPr>
                <a:noFill/>
                <a:tableStyleId>{4153CF57-9A6A-4F1F-82F6-7318DA0594B7}</a:tableStyleId>
              </a:tblPr>
              <a:tblGrid>
                <a:gridCol w="382850"/>
                <a:gridCol w="2773500"/>
              </a:tblGrid>
              <a:tr h="381000">
                <a:tc gridSpan="2">
                  <a:txBody>
                    <a:bodyPr/>
                    <a:lstStyle/>
                    <a:p>
                      <a:pPr indent="0" lvl="0" marL="0" rtl="0" algn="ctr">
                        <a:spcBef>
                          <a:spcPts val="0"/>
                        </a:spcBef>
                        <a:spcAft>
                          <a:spcPts val="0"/>
                        </a:spcAft>
                        <a:buNone/>
                      </a:pPr>
                      <a:r>
                        <a:rPr lang="en"/>
                        <a:t>PROBLEMS</a:t>
                      </a:r>
                      <a:endParaRPr/>
                    </a:p>
                  </a:txBody>
                  <a:tcPr marT="91425" marB="91425" marR="91425" marL="91425"/>
                </a:tc>
                <a:tc hMerge="1"/>
              </a:tr>
              <a:tr h="381000">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Vague doctrinal adherence</a:t>
                      </a:r>
                      <a:endParaRPr/>
                    </a:p>
                  </a:txBody>
                  <a:tcPr marT="91425" marB="91425" marR="91425" marL="91425"/>
                </a:tc>
              </a:tr>
              <a:tr h="381000">
                <a:tc>
                  <a:txBody>
                    <a:bodyPr/>
                    <a:lstStyle/>
                    <a:p>
                      <a:pPr indent="0" lvl="0" marL="0" rtl="0" algn="ctr">
                        <a:spcBef>
                          <a:spcPts val="0"/>
                        </a:spcBef>
                        <a:spcAft>
                          <a:spcPts val="0"/>
                        </a:spcAft>
                        <a:buNone/>
                      </a:pPr>
                      <a:r>
                        <a:rPr lang="en"/>
                        <a:t>2</a:t>
                      </a:r>
                      <a:endParaRPr/>
                    </a:p>
                  </a:txBody>
                  <a:tcPr marT="91425" marB="91425" marR="91425" marL="91425"/>
                </a:tc>
                <a:tc>
                  <a:txBody>
                    <a:bodyPr/>
                    <a:lstStyle/>
                    <a:p>
                      <a:pPr indent="0" lvl="0" marL="0" rtl="0" algn="l">
                        <a:spcBef>
                          <a:spcPts val="0"/>
                        </a:spcBef>
                        <a:spcAft>
                          <a:spcPts val="0"/>
                        </a:spcAft>
                        <a:buNone/>
                      </a:pPr>
                      <a:r>
                        <a:rPr lang="en"/>
                        <a:t>Lack of objective evaluation</a:t>
                      </a:r>
                      <a:endParaRPr/>
                    </a:p>
                  </a:txBody>
                  <a:tcPr marT="91425" marB="91425" marR="91425" marL="91425"/>
                </a:tc>
              </a:tr>
              <a:tr h="381000">
                <a:tc>
                  <a:txBody>
                    <a:bodyPr/>
                    <a:lstStyle/>
                    <a:p>
                      <a:pPr indent="0" lvl="0" marL="0" rtl="0" algn="ctr">
                        <a:spcBef>
                          <a:spcPts val="0"/>
                        </a:spcBef>
                        <a:spcAft>
                          <a:spcPts val="0"/>
                        </a:spcAft>
                        <a:buNone/>
                      </a:pPr>
                      <a:r>
                        <a:rPr lang="en"/>
                        <a:t>3</a:t>
                      </a:r>
                      <a:endParaRPr/>
                    </a:p>
                  </a:txBody>
                  <a:tcPr marT="91425" marB="91425" marR="91425" marL="91425"/>
                </a:tc>
                <a:tc>
                  <a:txBody>
                    <a:bodyPr/>
                    <a:lstStyle/>
                    <a:p>
                      <a:pPr indent="0" lvl="0" marL="0" rtl="0" algn="l">
                        <a:spcBef>
                          <a:spcPts val="0"/>
                        </a:spcBef>
                        <a:spcAft>
                          <a:spcPts val="0"/>
                        </a:spcAft>
                        <a:buNone/>
                      </a:pPr>
                      <a:r>
                        <a:rPr lang="en"/>
                        <a:t>Software in early development</a:t>
                      </a:r>
                      <a:endParaRPr/>
                    </a:p>
                  </a:txBody>
                  <a:tcPr marT="91425" marB="91425" marR="91425" marL="91425"/>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7" name="Shape 337"/>
        <p:cNvGrpSpPr/>
        <p:nvPr/>
      </p:nvGrpSpPr>
      <p:grpSpPr>
        <a:xfrm>
          <a:off x="0" y="0"/>
          <a:ext cx="0" cy="0"/>
          <a:chOff x="0" y="0"/>
          <a:chExt cx="0" cy="0"/>
        </a:xfrm>
      </p:grpSpPr>
      <p:sp>
        <p:nvSpPr>
          <p:cNvPr id="338" name="Google Shape;338;p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Data Requirements For BDA</a:t>
            </a:r>
            <a:endParaRPr/>
          </a:p>
        </p:txBody>
      </p:sp>
      <p:sp>
        <p:nvSpPr>
          <p:cNvPr id="339" name="Google Shape;339;p34"/>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pic>
        <p:nvPicPr>
          <p:cNvPr id="340" name="Google Shape;340;p34" title="image_png.png"/>
          <p:cNvPicPr preferRelativeResize="0"/>
          <p:nvPr/>
        </p:nvPicPr>
        <p:blipFill>
          <a:blip r:embed="rId3">
            <a:alphaModFix/>
          </a:blip>
          <a:stretch>
            <a:fillRect/>
          </a:stretch>
        </p:blipFill>
        <p:spPr>
          <a:xfrm>
            <a:off x="311700" y="1017725"/>
            <a:ext cx="4774850" cy="3576199"/>
          </a:xfrm>
          <a:prstGeom prst="rect">
            <a:avLst/>
          </a:prstGeom>
          <a:noFill/>
          <a:ln>
            <a:noFill/>
          </a:ln>
        </p:spPr>
      </p:pic>
      <p:sp>
        <p:nvSpPr>
          <p:cNvPr id="341" name="Google Shape;341;p34"/>
          <p:cNvSpPr/>
          <p:nvPr/>
        </p:nvSpPr>
        <p:spPr>
          <a:xfrm>
            <a:off x="6100425" y="1017725"/>
            <a:ext cx="2794800" cy="1121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spcBef>
                <a:spcPts val="0"/>
              </a:spcBef>
              <a:spcAft>
                <a:spcPts val="0"/>
              </a:spcAft>
              <a:buClr>
                <a:schemeClr val="accent6"/>
              </a:buClr>
              <a:buSzPts val="1400"/>
              <a:buFont typeface="Fira Sans"/>
              <a:buChar char="●"/>
            </a:pPr>
            <a:r>
              <a:rPr lang="en">
                <a:solidFill>
                  <a:schemeClr val="accent6"/>
                </a:solidFill>
                <a:latin typeface="Fira Sans"/>
                <a:ea typeface="Fira Sans"/>
                <a:cs typeface="Fira Sans"/>
                <a:sym typeface="Fira Sans"/>
              </a:rPr>
              <a:t>Recuperation Time</a:t>
            </a:r>
            <a:endParaRPr>
              <a:solidFill>
                <a:schemeClr val="accent6"/>
              </a:solidFill>
              <a:latin typeface="Fira Sans"/>
              <a:ea typeface="Fira Sans"/>
              <a:cs typeface="Fira Sans"/>
              <a:sym typeface="Fira Sans"/>
            </a:endParaRPr>
          </a:p>
          <a:p>
            <a:pPr indent="-317500" lvl="0" marL="457200" rtl="0" algn="l">
              <a:spcBef>
                <a:spcPts val="0"/>
              </a:spcBef>
              <a:spcAft>
                <a:spcPts val="0"/>
              </a:spcAft>
              <a:buClr>
                <a:schemeClr val="accent6"/>
              </a:buClr>
              <a:buSzPts val="1400"/>
              <a:buFont typeface="Fira Sans"/>
              <a:buChar char="●"/>
            </a:pPr>
            <a:r>
              <a:rPr lang="en">
                <a:solidFill>
                  <a:schemeClr val="accent6"/>
                </a:solidFill>
                <a:latin typeface="Fira Sans"/>
                <a:ea typeface="Fira Sans"/>
                <a:cs typeface="Fira Sans"/>
                <a:sym typeface="Fira Sans"/>
              </a:rPr>
              <a:t>Re-Attack Rec.</a:t>
            </a:r>
            <a:endParaRPr>
              <a:solidFill>
                <a:schemeClr val="accent6"/>
              </a:solidFill>
              <a:latin typeface="Fira Sans"/>
              <a:ea typeface="Fira Sans"/>
              <a:cs typeface="Fira Sans"/>
              <a:sym typeface="Fira Sans"/>
            </a:endParaRPr>
          </a:p>
          <a:p>
            <a:pPr indent="-317500" lvl="0" marL="457200" rtl="0" algn="l">
              <a:spcBef>
                <a:spcPts val="0"/>
              </a:spcBef>
              <a:spcAft>
                <a:spcPts val="0"/>
              </a:spcAft>
              <a:buClr>
                <a:schemeClr val="accent6"/>
              </a:buClr>
              <a:buSzPts val="1400"/>
              <a:buFont typeface="Fira Sans"/>
              <a:buChar char="●"/>
            </a:pPr>
            <a:r>
              <a:rPr lang="en">
                <a:solidFill>
                  <a:schemeClr val="accent6"/>
                </a:solidFill>
                <a:latin typeface="Fira Sans"/>
                <a:ea typeface="Fira Sans"/>
                <a:cs typeface="Fira Sans"/>
                <a:sym typeface="Fira Sans"/>
              </a:rPr>
              <a:t>Task Assessment</a:t>
            </a:r>
            <a:endParaRPr>
              <a:solidFill>
                <a:schemeClr val="accent6"/>
              </a:solidFill>
              <a:latin typeface="Fira Sans"/>
              <a:ea typeface="Fira Sans"/>
              <a:cs typeface="Fira Sans"/>
              <a:sym typeface="Fira Sans"/>
            </a:endParaRPr>
          </a:p>
        </p:txBody>
      </p:sp>
      <p:sp>
        <p:nvSpPr>
          <p:cNvPr id="342" name="Google Shape;342;p34"/>
          <p:cNvSpPr/>
          <p:nvPr/>
        </p:nvSpPr>
        <p:spPr>
          <a:xfrm rot="2290852">
            <a:off x="5450624" y="1545208"/>
            <a:ext cx="285855" cy="1278132"/>
          </a:xfrm>
          <a:prstGeom prst="up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Sans"/>
              <a:ea typeface="Fira Sans"/>
              <a:cs typeface="Fira Sans"/>
              <a:sym typeface="Fira Sans"/>
            </a:endParaRPr>
          </a:p>
        </p:txBody>
      </p:sp>
      <p:sp>
        <p:nvSpPr>
          <p:cNvPr id="343" name="Google Shape;343;p34"/>
          <p:cNvSpPr txBox="1"/>
          <p:nvPr/>
        </p:nvSpPr>
        <p:spPr>
          <a:xfrm>
            <a:off x="5763000" y="3223450"/>
            <a:ext cx="33810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i="1" lang="en">
                <a:solidFill>
                  <a:schemeClr val="dk1"/>
                </a:solidFill>
              </a:rPr>
              <a:t>Requires Mission Context (OPORD)</a:t>
            </a:r>
            <a:endParaRPr i="1">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7" name="Shape 347"/>
        <p:cNvGrpSpPr/>
        <p:nvPr/>
      </p:nvGrpSpPr>
      <p:grpSpPr>
        <a:xfrm>
          <a:off x="0" y="0"/>
          <a:ext cx="0" cy="0"/>
          <a:chOff x="0" y="0"/>
          <a:chExt cx="0" cy="0"/>
        </a:xfrm>
      </p:grpSpPr>
      <p:sp>
        <p:nvSpPr>
          <p:cNvPr id="348" name="Google Shape;348;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BDA Pipeline - Process Flow Diagram</a:t>
            </a:r>
            <a:endParaRPr/>
          </a:p>
        </p:txBody>
      </p:sp>
      <p:sp>
        <p:nvSpPr>
          <p:cNvPr id="349" name="Google Shape;349;p35"/>
          <p:cNvSpPr txBox="1"/>
          <p:nvPr>
            <p:ph idx="12" type="sldNum"/>
          </p:nvPr>
        </p:nvSpPr>
        <p:spPr>
          <a:xfrm>
            <a:off x="8595301" y="4589304"/>
            <a:ext cx="548700" cy="330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350" name="Google Shape;350;p35"/>
          <p:cNvSpPr/>
          <p:nvPr/>
        </p:nvSpPr>
        <p:spPr>
          <a:xfrm>
            <a:off x="506050" y="1009659"/>
            <a:ext cx="7732500" cy="1317900"/>
          </a:xfrm>
          <a:prstGeom prst="rect">
            <a:avLst/>
          </a:prstGeom>
          <a:solidFill>
            <a:srgbClr val="EFEFEF"/>
          </a:solidFill>
          <a:ln>
            <a:noFill/>
          </a:ln>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351" name="Google Shape;351;p35"/>
          <p:cNvSpPr/>
          <p:nvPr/>
        </p:nvSpPr>
        <p:spPr>
          <a:xfrm>
            <a:off x="506050" y="1009659"/>
            <a:ext cx="1379400" cy="1317900"/>
          </a:xfrm>
          <a:prstGeom prst="rect">
            <a:avLst/>
          </a:prstGeom>
          <a:solidFill>
            <a:srgbClr val="F9CB9C"/>
          </a:solidFill>
          <a:ln cap="flat" cmpd="sng" w="8500">
            <a:solidFill>
              <a:srgbClr val="E5E7EB"/>
            </a:solidFill>
            <a:prstDash val="solid"/>
            <a:round/>
            <a:headEnd len="sm" w="sm" type="none"/>
            <a:tailEnd len="sm" w="sm" type="none"/>
          </a:ln>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352" name="Google Shape;352;p35"/>
          <p:cNvSpPr/>
          <p:nvPr/>
        </p:nvSpPr>
        <p:spPr>
          <a:xfrm>
            <a:off x="598003" y="1162915"/>
            <a:ext cx="1195200" cy="337200"/>
          </a:xfrm>
          <a:prstGeom prst="rect">
            <a:avLst/>
          </a:prstGeom>
          <a:noFill/>
          <a:ln>
            <a:noFill/>
          </a:ln>
        </p:spPr>
        <p:txBody>
          <a:bodyPr anchorCtr="0" anchor="t" bIns="30650" lIns="61300" spcFirstLastPara="1" rIns="61300" wrap="square" tIns="30650">
            <a:noAutofit/>
          </a:bodyPr>
          <a:lstStyle/>
          <a:p>
            <a:pPr indent="0" lvl="0" marL="0" marR="0" rtl="0" algn="l">
              <a:spcBef>
                <a:spcPts val="0"/>
              </a:spcBef>
              <a:spcAft>
                <a:spcPts val="0"/>
              </a:spcAft>
              <a:buClr>
                <a:srgbClr val="111827"/>
              </a:buClr>
              <a:buSzPts val="1073"/>
              <a:buFont typeface="Calibri"/>
              <a:buNone/>
            </a:pPr>
            <a:r>
              <a:rPr b="1" lang="en" sz="1073">
                <a:solidFill>
                  <a:srgbClr val="111827"/>
                </a:solidFill>
                <a:latin typeface="Calibri"/>
                <a:ea typeface="Calibri"/>
                <a:cs typeface="Calibri"/>
                <a:sym typeface="Calibri"/>
              </a:rPr>
              <a:t>Research / Testing</a:t>
            </a:r>
            <a:endParaRPr sz="1073">
              <a:solidFill>
                <a:srgbClr val="000000"/>
              </a:solidFill>
              <a:latin typeface="Arial"/>
              <a:ea typeface="Arial"/>
              <a:cs typeface="Arial"/>
              <a:sym typeface="Arial"/>
            </a:endParaRPr>
          </a:p>
        </p:txBody>
      </p:sp>
      <p:sp>
        <p:nvSpPr>
          <p:cNvPr id="353" name="Google Shape;353;p35"/>
          <p:cNvSpPr/>
          <p:nvPr/>
        </p:nvSpPr>
        <p:spPr>
          <a:xfrm>
            <a:off x="598003" y="1411859"/>
            <a:ext cx="1195200" cy="705000"/>
          </a:xfrm>
          <a:prstGeom prst="rect">
            <a:avLst/>
          </a:prstGeom>
          <a:noFill/>
          <a:ln>
            <a:noFill/>
          </a:ln>
        </p:spPr>
        <p:txBody>
          <a:bodyPr anchorCtr="0" anchor="t" bIns="30650" lIns="61300" spcFirstLastPara="1" rIns="61300" wrap="square" tIns="30650">
            <a:noAutofit/>
          </a:bodyPr>
          <a:lstStyle/>
          <a:p>
            <a:pPr indent="0" lvl="0" marL="0" marR="0" rtl="0" algn="l">
              <a:spcBef>
                <a:spcPts val="0"/>
              </a:spcBef>
              <a:spcAft>
                <a:spcPts val="0"/>
              </a:spcAft>
              <a:buClr>
                <a:srgbClr val="374151"/>
              </a:buClr>
              <a:buSzPts val="737"/>
              <a:buFont typeface="Calibri"/>
              <a:buNone/>
            </a:pPr>
            <a:r>
              <a:rPr b="1" lang="en" sz="737">
                <a:solidFill>
                  <a:srgbClr val="374151"/>
                </a:solidFill>
                <a:latin typeface="Calibri"/>
                <a:ea typeface="Calibri"/>
                <a:cs typeface="Calibri"/>
                <a:sym typeface="Calibri"/>
              </a:rPr>
              <a:t>Iterate to validate</a:t>
            </a:r>
            <a:endParaRPr b="1" sz="737">
              <a:solidFill>
                <a:srgbClr val="000000"/>
              </a:solidFill>
            </a:endParaRPr>
          </a:p>
          <a:p>
            <a:pPr indent="0" lvl="0" marL="0" marR="0" rtl="0" algn="l">
              <a:spcBef>
                <a:spcPts val="0"/>
              </a:spcBef>
              <a:spcAft>
                <a:spcPts val="0"/>
              </a:spcAft>
              <a:buClr>
                <a:srgbClr val="374151"/>
              </a:buClr>
              <a:buSzPts val="737"/>
              <a:buFont typeface="Calibri"/>
              <a:buNone/>
            </a:pPr>
            <a:r>
              <a:rPr b="1" lang="en" sz="737">
                <a:solidFill>
                  <a:srgbClr val="374151"/>
                </a:solidFill>
                <a:latin typeface="Calibri"/>
                <a:ea typeface="Calibri"/>
                <a:cs typeface="Calibri"/>
                <a:sym typeface="Calibri"/>
              </a:rPr>
              <a:t>end-to-end behavior</a:t>
            </a:r>
            <a:endParaRPr b="1" sz="737">
              <a:solidFill>
                <a:srgbClr val="374151"/>
              </a:solidFill>
              <a:latin typeface="Calibri"/>
              <a:ea typeface="Calibri"/>
              <a:cs typeface="Calibri"/>
              <a:sym typeface="Calibri"/>
            </a:endParaRPr>
          </a:p>
          <a:p>
            <a:pPr indent="0" lvl="0" marL="0" marR="0" rtl="0" algn="l">
              <a:spcBef>
                <a:spcPts val="0"/>
              </a:spcBef>
              <a:spcAft>
                <a:spcPts val="0"/>
              </a:spcAft>
              <a:buClr>
                <a:srgbClr val="374151"/>
              </a:buClr>
              <a:buSzPts val="737"/>
              <a:buFont typeface="Calibri"/>
              <a:buNone/>
            </a:pPr>
            <a:r>
              <a:t/>
            </a:r>
            <a:endParaRPr b="1" sz="737">
              <a:solidFill>
                <a:srgbClr val="374151"/>
              </a:solidFill>
              <a:latin typeface="Calibri"/>
              <a:ea typeface="Calibri"/>
              <a:cs typeface="Calibri"/>
              <a:sym typeface="Calibri"/>
            </a:endParaRPr>
          </a:p>
          <a:p>
            <a:pPr indent="0" lvl="0" marL="0" marR="0" rtl="0" algn="l">
              <a:spcBef>
                <a:spcPts val="0"/>
              </a:spcBef>
              <a:spcAft>
                <a:spcPts val="0"/>
              </a:spcAft>
              <a:buClr>
                <a:srgbClr val="374151"/>
              </a:buClr>
              <a:buSzPts val="737"/>
              <a:buFont typeface="Calibri"/>
              <a:buNone/>
            </a:pPr>
            <a:r>
              <a:rPr lang="en" sz="737">
                <a:solidFill>
                  <a:srgbClr val="374151"/>
                </a:solidFill>
                <a:latin typeface="Calibri"/>
                <a:ea typeface="Calibri"/>
                <a:cs typeface="Calibri"/>
                <a:sym typeface="Calibri"/>
              </a:rPr>
              <a:t>• Start VLM-only baseline</a:t>
            </a:r>
            <a:endParaRPr sz="737">
              <a:solidFill>
                <a:srgbClr val="000000"/>
              </a:solidFill>
              <a:latin typeface="Arial"/>
              <a:ea typeface="Arial"/>
              <a:cs typeface="Arial"/>
              <a:sym typeface="Arial"/>
            </a:endParaRPr>
          </a:p>
          <a:p>
            <a:pPr indent="0" lvl="0" marL="0" marR="0" rtl="0" algn="l">
              <a:spcBef>
                <a:spcPts val="0"/>
              </a:spcBef>
              <a:spcAft>
                <a:spcPts val="0"/>
              </a:spcAft>
              <a:buClr>
                <a:srgbClr val="374151"/>
              </a:buClr>
              <a:buSzPts val="737"/>
              <a:buFont typeface="Calibri"/>
              <a:buNone/>
            </a:pPr>
            <a:r>
              <a:rPr lang="en" sz="737">
                <a:solidFill>
                  <a:srgbClr val="374151"/>
                </a:solidFill>
                <a:latin typeface="Calibri"/>
                <a:ea typeface="Calibri"/>
                <a:cs typeface="Calibri"/>
                <a:sym typeface="Calibri"/>
              </a:rPr>
              <a:t>• Then add object detection</a:t>
            </a:r>
            <a:endParaRPr sz="737">
              <a:solidFill>
                <a:srgbClr val="000000"/>
              </a:solidFill>
              <a:latin typeface="Arial"/>
              <a:ea typeface="Arial"/>
              <a:cs typeface="Arial"/>
              <a:sym typeface="Arial"/>
            </a:endParaRPr>
          </a:p>
          <a:p>
            <a:pPr indent="0" lvl="0" marL="0" marR="0" rtl="0" algn="l">
              <a:spcBef>
                <a:spcPts val="0"/>
              </a:spcBef>
              <a:spcAft>
                <a:spcPts val="0"/>
              </a:spcAft>
              <a:buClr>
                <a:srgbClr val="374151"/>
              </a:buClr>
              <a:buSzPts val="737"/>
              <a:buFont typeface="Calibri"/>
              <a:buNone/>
            </a:pPr>
            <a:r>
              <a:rPr lang="en" sz="737">
                <a:solidFill>
                  <a:srgbClr val="374151"/>
                </a:solidFill>
                <a:latin typeface="Calibri"/>
                <a:ea typeface="Calibri"/>
                <a:cs typeface="Calibri"/>
                <a:sym typeface="Calibri"/>
              </a:rPr>
              <a:t>• Refine prompts/templates</a:t>
            </a:r>
            <a:endParaRPr sz="737">
              <a:solidFill>
                <a:srgbClr val="000000"/>
              </a:solidFill>
              <a:latin typeface="Arial"/>
              <a:ea typeface="Arial"/>
              <a:cs typeface="Arial"/>
              <a:sym typeface="Arial"/>
            </a:endParaRPr>
          </a:p>
        </p:txBody>
      </p:sp>
      <p:sp>
        <p:nvSpPr>
          <p:cNvPr id="354" name="Google Shape;354;p35"/>
          <p:cNvSpPr/>
          <p:nvPr/>
        </p:nvSpPr>
        <p:spPr>
          <a:xfrm>
            <a:off x="2007954" y="1224217"/>
            <a:ext cx="1113900" cy="582300"/>
          </a:xfrm>
          <a:prstGeom prst="rect">
            <a:avLst/>
          </a:prstGeom>
          <a:solidFill>
            <a:srgbClr val="FFFFFF"/>
          </a:solidFill>
          <a:ln cap="flat" cmpd="sng" w="8500">
            <a:solidFill>
              <a:srgbClr val="CBD5E1"/>
            </a:solidFill>
            <a:prstDash val="solid"/>
            <a:round/>
            <a:headEnd len="sm" w="sm" type="none"/>
            <a:tailEnd len="sm" w="sm" type="none"/>
          </a:ln>
          <a:effectLst>
            <a:outerShdw blurRad="17028" rotWithShape="0" algn="bl" dir="2700000" dist="8514">
              <a:srgbClr val="000000">
                <a:alpha val="11760"/>
              </a:srgbClr>
            </a:outerShdw>
          </a:effectLst>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355" name="Google Shape;355;p35"/>
          <p:cNvSpPr/>
          <p:nvPr/>
        </p:nvSpPr>
        <p:spPr>
          <a:xfrm>
            <a:off x="2081517" y="1273259"/>
            <a:ext cx="966600" cy="484200"/>
          </a:xfrm>
          <a:prstGeom prst="rect">
            <a:avLst/>
          </a:prstGeom>
          <a:noFill/>
          <a:ln>
            <a:noFill/>
          </a:ln>
        </p:spPr>
        <p:txBody>
          <a:bodyPr anchorCtr="0" anchor="ctr" bIns="30650" lIns="61300" spcFirstLastPara="1" rIns="61300" wrap="square" tIns="30650">
            <a:noAutofit/>
          </a:bodyPr>
          <a:lstStyle/>
          <a:p>
            <a:pPr indent="0" lvl="0" marL="0" marR="0" rtl="0" algn="ctr">
              <a:spcBef>
                <a:spcPts val="0"/>
              </a:spcBef>
              <a:spcAft>
                <a:spcPts val="0"/>
              </a:spcAft>
              <a:buClr>
                <a:srgbClr val="1F2937"/>
              </a:buClr>
              <a:buSzPts val="804"/>
              <a:buFont typeface="Calibri"/>
              <a:buNone/>
            </a:pPr>
            <a:r>
              <a:rPr b="1" lang="en" sz="804">
                <a:solidFill>
                  <a:srgbClr val="1F2937"/>
                </a:solidFill>
                <a:latin typeface="Calibri"/>
                <a:ea typeface="Calibri"/>
                <a:cs typeface="Calibri"/>
                <a:sym typeface="Calibri"/>
              </a:rPr>
              <a:t>CLI + Config</a:t>
            </a:r>
            <a:endParaRPr sz="804">
              <a:solidFill>
                <a:srgbClr val="000000"/>
              </a:solidFill>
              <a:latin typeface="Arial"/>
              <a:ea typeface="Arial"/>
              <a:cs typeface="Arial"/>
              <a:sym typeface="Arial"/>
            </a:endParaRPr>
          </a:p>
        </p:txBody>
      </p:sp>
      <p:sp>
        <p:nvSpPr>
          <p:cNvPr id="356" name="Google Shape;356;p35"/>
          <p:cNvSpPr/>
          <p:nvPr/>
        </p:nvSpPr>
        <p:spPr>
          <a:xfrm>
            <a:off x="2044736" y="1855630"/>
            <a:ext cx="1040100" cy="318600"/>
          </a:xfrm>
          <a:prstGeom prst="rect">
            <a:avLst/>
          </a:prstGeom>
          <a:noFill/>
          <a:ln>
            <a:noFill/>
          </a:ln>
        </p:spPr>
        <p:txBody>
          <a:bodyPr anchorCtr="0" anchor="t" bIns="30650" lIns="61300" spcFirstLastPara="1" rIns="61300" wrap="square" tIns="30650">
            <a:noAutofit/>
          </a:bodyPr>
          <a:lstStyle/>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Select VLM + prompt</a:t>
            </a:r>
            <a:endParaRPr sz="803">
              <a:solidFill>
                <a:srgbClr val="000000"/>
              </a:solidFill>
              <a:latin typeface="Arial"/>
              <a:ea typeface="Arial"/>
              <a:cs typeface="Arial"/>
              <a:sym typeface="Arial"/>
            </a:endParaRPr>
          </a:p>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via text config</a:t>
            </a:r>
            <a:endParaRPr sz="803">
              <a:solidFill>
                <a:srgbClr val="000000"/>
              </a:solidFill>
              <a:latin typeface="Arial"/>
              <a:ea typeface="Arial"/>
              <a:cs typeface="Arial"/>
              <a:sym typeface="Arial"/>
            </a:endParaRPr>
          </a:p>
        </p:txBody>
      </p:sp>
      <p:cxnSp>
        <p:nvCxnSpPr>
          <p:cNvPr id="357" name="Google Shape;357;p35"/>
          <p:cNvCxnSpPr>
            <a:stCxn id="355" idx="3"/>
          </p:cNvCxnSpPr>
          <p:nvPr/>
        </p:nvCxnSpPr>
        <p:spPr>
          <a:xfrm>
            <a:off x="3048117" y="1515359"/>
            <a:ext cx="183900" cy="0"/>
          </a:xfrm>
          <a:prstGeom prst="straightConnector1">
            <a:avLst/>
          </a:prstGeom>
          <a:noFill/>
          <a:ln cap="flat" cmpd="sng" w="17025">
            <a:solidFill>
              <a:srgbClr val="6B7280"/>
            </a:solidFill>
            <a:prstDash val="solid"/>
            <a:round/>
            <a:headEnd len="sm" w="sm" type="none"/>
            <a:tailEnd len="med" w="med" type="triangle"/>
          </a:ln>
        </p:spPr>
      </p:cxnSp>
      <p:sp>
        <p:nvSpPr>
          <p:cNvPr id="358" name="Google Shape;358;p35"/>
          <p:cNvSpPr/>
          <p:nvPr/>
        </p:nvSpPr>
        <p:spPr>
          <a:xfrm>
            <a:off x="3244175" y="1224217"/>
            <a:ext cx="1113900" cy="582300"/>
          </a:xfrm>
          <a:prstGeom prst="rect">
            <a:avLst/>
          </a:prstGeom>
          <a:solidFill>
            <a:srgbClr val="FFFFFF"/>
          </a:solidFill>
          <a:ln cap="flat" cmpd="sng" w="8500">
            <a:solidFill>
              <a:srgbClr val="CBD5E1"/>
            </a:solidFill>
            <a:prstDash val="solid"/>
            <a:round/>
            <a:headEnd len="sm" w="sm" type="none"/>
            <a:tailEnd len="sm" w="sm" type="none"/>
          </a:ln>
          <a:effectLst>
            <a:outerShdw blurRad="17028" rotWithShape="0" algn="bl" dir="2700000" dist="8514">
              <a:srgbClr val="000000">
                <a:alpha val="11760"/>
              </a:srgbClr>
            </a:outerShdw>
          </a:effectLst>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359" name="Google Shape;359;p35"/>
          <p:cNvSpPr/>
          <p:nvPr/>
        </p:nvSpPr>
        <p:spPr>
          <a:xfrm>
            <a:off x="3317738" y="1273259"/>
            <a:ext cx="966600" cy="484200"/>
          </a:xfrm>
          <a:prstGeom prst="rect">
            <a:avLst/>
          </a:prstGeom>
          <a:noFill/>
          <a:ln>
            <a:noFill/>
          </a:ln>
        </p:spPr>
        <p:txBody>
          <a:bodyPr anchorCtr="0" anchor="ctr" bIns="30650" lIns="61300" spcFirstLastPara="1" rIns="61300" wrap="square" tIns="30650">
            <a:noAutofit/>
          </a:bodyPr>
          <a:lstStyle/>
          <a:p>
            <a:pPr indent="0" lvl="0" marL="0" marR="0" rtl="0" algn="ctr">
              <a:spcBef>
                <a:spcPts val="0"/>
              </a:spcBef>
              <a:spcAft>
                <a:spcPts val="0"/>
              </a:spcAft>
              <a:buClr>
                <a:srgbClr val="1F2937"/>
              </a:buClr>
              <a:buSzPts val="804"/>
              <a:buFont typeface="Calibri"/>
              <a:buNone/>
            </a:pPr>
            <a:r>
              <a:rPr b="1" lang="en" sz="804">
                <a:solidFill>
                  <a:srgbClr val="1F2937"/>
                </a:solidFill>
                <a:latin typeface="Calibri"/>
                <a:ea typeface="Calibri"/>
                <a:cs typeface="Calibri"/>
                <a:sym typeface="Calibri"/>
              </a:rPr>
              <a:t>Validate Input</a:t>
            </a:r>
            <a:endParaRPr sz="804">
              <a:solidFill>
                <a:srgbClr val="000000"/>
              </a:solidFill>
              <a:latin typeface="Arial"/>
              <a:ea typeface="Arial"/>
              <a:cs typeface="Arial"/>
              <a:sym typeface="Arial"/>
            </a:endParaRPr>
          </a:p>
        </p:txBody>
      </p:sp>
      <p:sp>
        <p:nvSpPr>
          <p:cNvPr id="360" name="Google Shape;360;p35"/>
          <p:cNvSpPr/>
          <p:nvPr/>
        </p:nvSpPr>
        <p:spPr>
          <a:xfrm>
            <a:off x="3280956" y="1855630"/>
            <a:ext cx="1040100" cy="318600"/>
          </a:xfrm>
          <a:prstGeom prst="rect">
            <a:avLst/>
          </a:prstGeom>
          <a:noFill/>
          <a:ln>
            <a:noFill/>
          </a:ln>
        </p:spPr>
        <p:txBody>
          <a:bodyPr anchorCtr="0" anchor="t" bIns="30650" lIns="61300" spcFirstLastPara="1" rIns="61300" wrap="square" tIns="30650">
            <a:noAutofit/>
          </a:bodyPr>
          <a:lstStyle/>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Folders + usage</a:t>
            </a:r>
            <a:endParaRPr sz="803">
              <a:solidFill>
                <a:srgbClr val="000000"/>
              </a:solidFill>
              <a:latin typeface="Arial"/>
              <a:ea typeface="Arial"/>
              <a:cs typeface="Arial"/>
              <a:sym typeface="Arial"/>
            </a:endParaRPr>
          </a:p>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JPG/PNG/GIF/TIFF</a:t>
            </a:r>
            <a:endParaRPr sz="803">
              <a:solidFill>
                <a:srgbClr val="000000"/>
              </a:solidFill>
              <a:latin typeface="Arial"/>
              <a:ea typeface="Arial"/>
              <a:cs typeface="Arial"/>
              <a:sym typeface="Arial"/>
            </a:endParaRPr>
          </a:p>
        </p:txBody>
      </p:sp>
      <p:cxnSp>
        <p:nvCxnSpPr>
          <p:cNvPr id="361" name="Google Shape;361;p35"/>
          <p:cNvCxnSpPr>
            <a:stCxn id="359" idx="3"/>
          </p:cNvCxnSpPr>
          <p:nvPr/>
        </p:nvCxnSpPr>
        <p:spPr>
          <a:xfrm>
            <a:off x="4284338" y="1515359"/>
            <a:ext cx="183900" cy="0"/>
          </a:xfrm>
          <a:prstGeom prst="straightConnector1">
            <a:avLst/>
          </a:prstGeom>
          <a:noFill/>
          <a:ln cap="flat" cmpd="sng" w="17025">
            <a:solidFill>
              <a:srgbClr val="6B7280"/>
            </a:solidFill>
            <a:prstDash val="solid"/>
            <a:round/>
            <a:headEnd len="sm" w="sm" type="none"/>
            <a:tailEnd len="med" w="med" type="triangle"/>
          </a:ln>
        </p:spPr>
      </p:cxnSp>
      <p:sp>
        <p:nvSpPr>
          <p:cNvPr id="362" name="Google Shape;362;p35"/>
          <p:cNvSpPr/>
          <p:nvPr/>
        </p:nvSpPr>
        <p:spPr>
          <a:xfrm>
            <a:off x="4480396" y="1224217"/>
            <a:ext cx="1113900" cy="582300"/>
          </a:xfrm>
          <a:prstGeom prst="rect">
            <a:avLst/>
          </a:prstGeom>
          <a:solidFill>
            <a:srgbClr val="FFFFFF"/>
          </a:solidFill>
          <a:ln cap="flat" cmpd="sng" w="8500">
            <a:solidFill>
              <a:srgbClr val="CBD5E1"/>
            </a:solidFill>
            <a:prstDash val="solid"/>
            <a:round/>
            <a:headEnd len="sm" w="sm" type="none"/>
            <a:tailEnd len="sm" w="sm" type="none"/>
          </a:ln>
          <a:effectLst>
            <a:outerShdw blurRad="17028" rotWithShape="0" algn="bl" dir="2700000" dist="8514">
              <a:srgbClr val="000000">
                <a:alpha val="11760"/>
              </a:srgbClr>
            </a:outerShdw>
          </a:effectLst>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363" name="Google Shape;363;p35"/>
          <p:cNvSpPr/>
          <p:nvPr/>
        </p:nvSpPr>
        <p:spPr>
          <a:xfrm>
            <a:off x="4553958" y="1273259"/>
            <a:ext cx="966600" cy="484200"/>
          </a:xfrm>
          <a:prstGeom prst="rect">
            <a:avLst/>
          </a:prstGeom>
          <a:noFill/>
          <a:ln>
            <a:noFill/>
          </a:ln>
        </p:spPr>
        <p:txBody>
          <a:bodyPr anchorCtr="0" anchor="ctr" bIns="30650" lIns="61300" spcFirstLastPara="1" rIns="61300" wrap="square" tIns="30650">
            <a:noAutofit/>
          </a:bodyPr>
          <a:lstStyle/>
          <a:p>
            <a:pPr indent="0" lvl="0" marL="0" marR="0" rtl="0" algn="ctr">
              <a:spcBef>
                <a:spcPts val="0"/>
              </a:spcBef>
              <a:spcAft>
                <a:spcPts val="0"/>
              </a:spcAft>
              <a:buClr>
                <a:srgbClr val="1F2937"/>
              </a:buClr>
              <a:buSzPts val="804"/>
              <a:buFont typeface="Calibri"/>
              <a:buNone/>
            </a:pPr>
            <a:r>
              <a:rPr b="1" lang="en" sz="804">
                <a:solidFill>
                  <a:srgbClr val="1F2937"/>
                </a:solidFill>
                <a:latin typeface="Calibri"/>
                <a:ea typeface="Calibri"/>
                <a:cs typeface="Calibri"/>
                <a:sym typeface="Calibri"/>
              </a:rPr>
              <a:t>Preprocess</a:t>
            </a:r>
            <a:endParaRPr sz="804">
              <a:solidFill>
                <a:srgbClr val="000000"/>
              </a:solidFill>
              <a:latin typeface="Arial"/>
              <a:ea typeface="Arial"/>
              <a:cs typeface="Arial"/>
              <a:sym typeface="Arial"/>
            </a:endParaRPr>
          </a:p>
        </p:txBody>
      </p:sp>
      <p:sp>
        <p:nvSpPr>
          <p:cNvPr id="364" name="Google Shape;364;p35"/>
          <p:cNvSpPr/>
          <p:nvPr/>
        </p:nvSpPr>
        <p:spPr>
          <a:xfrm>
            <a:off x="4517177" y="1855630"/>
            <a:ext cx="1040100" cy="318600"/>
          </a:xfrm>
          <a:prstGeom prst="rect">
            <a:avLst/>
          </a:prstGeom>
          <a:noFill/>
          <a:ln>
            <a:noFill/>
          </a:ln>
        </p:spPr>
        <p:txBody>
          <a:bodyPr anchorCtr="0" anchor="t" bIns="30650" lIns="61300" spcFirstLastPara="1" rIns="61300" wrap="square" tIns="30650">
            <a:noAutofit/>
          </a:bodyPr>
          <a:lstStyle/>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Object extraction</a:t>
            </a:r>
            <a:endParaRPr sz="803">
              <a:solidFill>
                <a:srgbClr val="000000"/>
              </a:solidFill>
              <a:latin typeface="Arial"/>
              <a:ea typeface="Arial"/>
              <a:cs typeface="Arial"/>
              <a:sym typeface="Arial"/>
            </a:endParaRPr>
          </a:p>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Quality checks</a:t>
            </a:r>
            <a:endParaRPr sz="803">
              <a:solidFill>
                <a:srgbClr val="000000"/>
              </a:solidFill>
              <a:latin typeface="Arial"/>
              <a:ea typeface="Arial"/>
              <a:cs typeface="Arial"/>
              <a:sym typeface="Arial"/>
            </a:endParaRPr>
          </a:p>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Log &amp; continue</a:t>
            </a:r>
            <a:endParaRPr sz="803">
              <a:solidFill>
                <a:srgbClr val="000000"/>
              </a:solidFill>
              <a:latin typeface="Arial"/>
              <a:ea typeface="Arial"/>
              <a:cs typeface="Arial"/>
              <a:sym typeface="Arial"/>
            </a:endParaRPr>
          </a:p>
        </p:txBody>
      </p:sp>
      <p:cxnSp>
        <p:nvCxnSpPr>
          <p:cNvPr id="365" name="Google Shape;365;p35"/>
          <p:cNvCxnSpPr>
            <a:stCxn id="363" idx="3"/>
          </p:cNvCxnSpPr>
          <p:nvPr/>
        </p:nvCxnSpPr>
        <p:spPr>
          <a:xfrm>
            <a:off x="5520558" y="1515359"/>
            <a:ext cx="183900" cy="0"/>
          </a:xfrm>
          <a:prstGeom prst="straightConnector1">
            <a:avLst/>
          </a:prstGeom>
          <a:noFill/>
          <a:ln cap="flat" cmpd="sng" w="17025">
            <a:solidFill>
              <a:srgbClr val="6B7280"/>
            </a:solidFill>
            <a:prstDash val="solid"/>
            <a:round/>
            <a:headEnd len="sm" w="sm" type="none"/>
            <a:tailEnd len="med" w="med" type="triangle"/>
          </a:ln>
        </p:spPr>
      </p:cxnSp>
      <p:sp>
        <p:nvSpPr>
          <p:cNvPr id="366" name="Google Shape;366;p35"/>
          <p:cNvSpPr/>
          <p:nvPr/>
        </p:nvSpPr>
        <p:spPr>
          <a:xfrm>
            <a:off x="5716616" y="1224217"/>
            <a:ext cx="1113900" cy="582300"/>
          </a:xfrm>
          <a:prstGeom prst="rect">
            <a:avLst/>
          </a:prstGeom>
          <a:solidFill>
            <a:srgbClr val="FFFFFF"/>
          </a:solidFill>
          <a:ln cap="flat" cmpd="sng" w="8500">
            <a:solidFill>
              <a:srgbClr val="CBD5E1"/>
            </a:solidFill>
            <a:prstDash val="solid"/>
            <a:round/>
            <a:headEnd len="sm" w="sm" type="none"/>
            <a:tailEnd len="sm" w="sm" type="none"/>
          </a:ln>
          <a:effectLst>
            <a:outerShdw blurRad="17028" rotWithShape="0" algn="bl" dir="2700000" dist="8514">
              <a:srgbClr val="000000">
                <a:alpha val="11760"/>
              </a:srgbClr>
            </a:outerShdw>
          </a:effectLst>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367" name="Google Shape;367;p35"/>
          <p:cNvSpPr/>
          <p:nvPr/>
        </p:nvSpPr>
        <p:spPr>
          <a:xfrm>
            <a:off x="5790179" y="1273259"/>
            <a:ext cx="966600" cy="484200"/>
          </a:xfrm>
          <a:prstGeom prst="rect">
            <a:avLst/>
          </a:prstGeom>
          <a:noFill/>
          <a:ln>
            <a:noFill/>
          </a:ln>
        </p:spPr>
        <p:txBody>
          <a:bodyPr anchorCtr="0" anchor="ctr" bIns="30650" lIns="61300" spcFirstLastPara="1" rIns="61300" wrap="square" tIns="30650">
            <a:noAutofit/>
          </a:bodyPr>
          <a:lstStyle/>
          <a:p>
            <a:pPr indent="0" lvl="0" marL="0" marR="0" rtl="0" algn="ctr">
              <a:spcBef>
                <a:spcPts val="0"/>
              </a:spcBef>
              <a:spcAft>
                <a:spcPts val="0"/>
              </a:spcAft>
              <a:buClr>
                <a:srgbClr val="1F2937"/>
              </a:buClr>
              <a:buSzPts val="804"/>
              <a:buFont typeface="Calibri"/>
              <a:buNone/>
            </a:pPr>
            <a:r>
              <a:rPr b="1" lang="en" sz="804">
                <a:solidFill>
                  <a:srgbClr val="1F2937"/>
                </a:solidFill>
                <a:latin typeface="Calibri"/>
                <a:ea typeface="Calibri"/>
                <a:cs typeface="Calibri"/>
                <a:sym typeface="Calibri"/>
              </a:rPr>
              <a:t>VLM Analysis</a:t>
            </a:r>
            <a:endParaRPr sz="804">
              <a:solidFill>
                <a:srgbClr val="000000"/>
              </a:solidFill>
              <a:latin typeface="Arial"/>
              <a:ea typeface="Arial"/>
              <a:cs typeface="Arial"/>
              <a:sym typeface="Arial"/>
            </a:endParaRPr>
          </a:p>
        </p:txBody>
      </p:sp>
      <p:sp>
        <p:nvSpPr>
          <p:cNvPr id="368" name="Google Shape;368;p35"/>
          <p:cNvSpPr/>
          <p:nvPr/>
        </p:nvSpPr>
        <p:spPr>
          <a:xfrm>
            <a:off x="5753398" y="1855630"/>
            <a:ext cx="1040100" cy="318600"/>
          </a:xfrm>
          <a:prstGeom prst="rect">
            <a:avLst/>
          </a:prstGeom>
          <a:noFill/>
          <a:ln>
            <a:noFill/>
          </a:ln>
        </p:spPr>
        <p:txBody>
          <a:bodyPr anchorCtr="0" anchor="t" bIns="30650" lIns="61300" spcFirstLastPara="1" rIns="61300" wrap="square" tIns="30650">
            <a:noAutofit/>
          </a:bodyPr>
          <a:lstStyle/>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Assess physical +</a:t>
            </a:r>
            <a:endParaRPr sz="803">
              <a:solidFill>
                <a:srgbClr val="000000"/>
              </a:solidFill>
              <a:latin typeface="Arial"/>
              <a:ea typeface="Arial"/>
              <a:cs typeface="Arial"/>
              <a:sym typeface="Arial"/>
            </a:endParaRPr>
          </a:p>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functional damage</a:t>
            </a:r>
            <a:endParaRPr sz="803">
              <a:solidFill>
                <a:srgbClr val="000000"/>
              </a:solidFill>
              <a:latin typeface="Arial"/>
              <a:ea typeface="Arial"/>
              <a:cs typeface="Arial"/>
              <a:sym typeface="Arial"/>
            </a:endParaRPr>
          </a:p>
        </p:txBody>
      </p:sp>
      <p:cxnSp>
        <p:nvCxnSpPr>
          <p:cNvPr id="369" name="Google Shape;369;p35"/>
          <p:cNvCxnSpPr>
            <a:stCxn id="367" idx="3"/>
          </p:cNvCxnSpPr>
          <p:nvPr/>
        </p:nvCxnSpPr>
        <p:spPr>
          <a:xfrm>
            <a:off x="6756779" y="1515359"/>
            <a:ext cx="183900" cy="0"/>
          </a:xfrm>
          <a:prstGeom prst="straightConnector1">
            <a:avLst/>
          </a:prstGeom>
          <a:noFill/>
          <a:ln cap="flat" cmpd="sng" w="17025">
            <a:solidFill>
              <a:srgbClr val="6B7280"/>
            </a:solidFill>
            <a:prstDash val="solid"/>
            <a:round/>
            <a:headEnd len="sm" w="sm" type="none"/>
            <a:tailEnd len="med" w="med" type="triangle"/>
          </a:ln>
        </p:spPr>
      </p:cxnSp>
      <p:sp>
        <p:nvSpPr>
          <p:cNvPr id="370" name="Google Shape;370;p35"/>
          <p:cNvSpPr/>
          <p:nvPr/>
        </p:nvSpPr>
        <p:spPr>
          <a:xfrm>
            <a:off x="6952837" y="1224217"/>
            <a:ext cx="1113900" cy="582300"/>
          </a:xfrm>
          <a:prstGeom prst="rect">
            <a:avLst/>
          </a:prstGeom>
          <a:solidFill>
            <a:srgbClr val="FFFFFF"/>
          </a:solidFill>
          <a:ln cap="flat" cmpd="sng" w="8500">
            <a:solidFill>
              <a:srgbClr val="CBD5E1"/>
            </a:solidFill>
            <a:prstDash val="solid"/>
            <a:round/>
            <a:headEnd len="sm" w="sm" type="none"/>
            <a:tailEnd len="sm" w="sm" type="none"/>
          </a:ln>
          <a:effectLst>
            <a:outerShdw blurRad="17028" rotWithShape="0" algn="bl" dir="2700000" dist="8514">
              <a:srgbClr val="000000">
                <a:alpha val="11760"/>
              </a:srgbClr>
            </a:outerShdw>
          </a:effectLst>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371" name="Google Shape;371;p35"/>
          <p:cNvSpPr/>
          <p:nvPr/>
        </p:nvSpPr>
        <p:spPr>
          <a:xfrm>
            <a:off x="7026400" y="1273259"/>
            <a:ext cx="966600" cy="484200"/>
          </a:xfrm>
          <a:prstGeom prst="rect">
            <a:avLst/>
          </a:prstGeom>
          <a:noFill/>
          <a:ln>
            <a:noFill/>
          </a:ln>
        </p:spPr>
        <p:txBody>
          <a:bodyPr anchorCtr="0" anchor="ctr" bIns="30650" lIns="61300" spcFirstLastPara="1" rIns="61300" wrap="square" tIns="30650">
            <a:noAutofit/>
          </a:bodyPr>
          <a:lstStyle/>
          <a:p>
            <a:pPr indent="0" lvl="0" marL="0" marR="0" rtl="0" algn="ctr">
              <a:spcBef>
                <a:spcPts val="0"/>
              </a:spcBef>
              <a:spcAft>
                <a:spcPts val="0"/>
              </a:spcAft>
              <a:buClr>
                <a:srgbClr val="1F2937"/>
              </a:buClr>
              <a:buSzPts val="804"/>
              <a:buFont typeface="Calibri"/>
              <a:buNone/>
            </a:pPr>
            <a:r>
              <a:rPr b="1" lang="en" sz="804">
                <a:solidFill>
                  <a:srgbClr val="1F2937"/>
                </a:solidFill>
                <a:latin typeface="Calibri"/>
                <a:ea typeface="Calibri"/>
                <a:cs typeface="Calibri"/>
                <a:sym typeface="Calibri"/>
              </a:rPr>
              <a:t>JSON Output</a:t>
            </a:r>
            <a:endParaRPr sz="804">
              <a:solidFill>
                <a:srgbClr val="000000"/>
              </a:solidFill>
              <a:latin typeface="Arial"/>
              <a:ea typeface="Arial"/>
              <a:cs typeface="Arial"/>
              <a:sym typeface="Arial"/>
            </a:endParaRPr>
          </a:p>
        </p:txBody>
      </p:sp>
      <p:sp>
        <p:nvSpPr>
          <p:cNvPr id="372" name="Google Shape;372;p35"/>
          <p:cNvSpPr/>
          <p:nvPr/>
        </p:nvSpPr>
        <p:spPr>
          <a:xfrm>
            <a:off x="6989618" y="1855630"/>
            <a:ext cx="1040100" cy="318600"/>
          </a:xfrm>
          <a:prstGeom prst="rect">
            <a:avLst/>
          </a:prstGeom>
          <a:noFill/>
          <a:ln>
            <a:noFill/>
          </a:ln>
        </p:spPr>
        <p:txBody>
          <a:bodyPr anchorCtr="0" anchor="t" bIns="30650" lIns="61300" spcFirstLastPara="1" rIns="61300" wrap="square" tIns="30650">
            <a:noAutofit/>
          </a:bodyPr>
          <a:lstStyle/>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Report: date, model,</a:t>
            </a:r>
            <a:endParaRPr sz="803">
              <a:solidFill>
                <a:srgbClr val="000000"/>
              </a:solidFill>
              <a:latin typeface="Arial"/>
              <a:ea typeface="Arial"/>
              <a:cs typeface="Arial"/>
              <a:sym typeface="Arial"/>
            </a:endParaRPr>
          </a:p>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damage, confidence,</a:t>
            </a:r>
            <a:endParaRPr sz="803">
              <a:solidFill>
                <a:srgbClr val="000000"/>
              </a:solidFill>
              <a:latin typeface="Arial"/>
              <a:ea typeface="Arial"/>
              <a:cs typeface="Arial"/>
              <a:sym typeface="Arial"/>
            </a:endParaRPr>
          </a:p>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observations, images</a:t>
            </a:r>
            <a:endParaRPr sz="803">
              <a:solidFill>
                <a:srgbClr val="000000"/>
              </a:solidFill>
              <a:latin typeface="Arial"/>
              <a:ea typeface="Arial"/>
              <a:cs typeface="Arial"/>
              <a:sym typeface="Arial"/>
            </a:endParaRPr>
          </a:p>
        </p:txBody>
      </p:sp>
      <p:sp>
        <p:nvSpPr>
          <p:cNvPr id="373" name="Google Shape;373;p35"/>
          <p:cNvSpPr/>
          <p:nvPr/>
        </p:nvSpPr>
        <p:spPr>
          <a:xfrm>
            <a:off x="506050" y="2419609"/>
            <a:ext cx="7732500" cy="1317900"/>
          </a:xfrm>
          <a:prstGeom prst="rect">
            <a:avLst/>
          </a:prstGeom>
          <a:solidFill>
            <a:srgbClr val="ECFDF5"/>
          </a:solidFill>
          <a:ln cap="flat" cmpd="sng" w="8500">
            <a:solidFill>
              <a:srgbClr val="E5E7EB"/>
            </a:solidFill>
            <a:prstDash val="solid"/>
            <a:round/>
            <a:headEnd len="sm" w="sm" type="none"/>
            <a:tailEnd len="sm" w="sm" type="none"/>
          </a:ln>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374" name="Google Shape;374;p35"/>
          <p:cNvSpPr/>
          <p:nvPr/>
        </p:nvSpPr>
        <p:spPr>
          <a:xfrm>
            <a:off x="506050" y="2419611"/>
            <a:ext cx="1379400" cy="1317900"/>
          </a:xfrm>
          <a:prstGeom prst="rect">
            <a:avLst/>
          </a:prstGeom>
          <a:solidFill>
            <a:srgbClr val="B6D7A8"/>
          </a:solidFill>
          <a:ln cap="flat" cmpd="sng" w="8500">
            <a:solidFill>
              <a:srgbClr val="E5E7EB"/>
            </a:solidFill>
            <a:prstDash val="solid"/>
            <a:round/>
            <a:headEnd len="sm" w="sm" type="none"/>
            <a:tailEnd len="sm" w="sm" type="none"/>
          </a:ln>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375" name="Google Shape;375;p35"/>
          <p:cNvSpPr/>
          <p:nvPr/>
        </p:nvSpPr>
        <p:spPr>
          <a:xfrm>
            <a:off x="598003" y="2572866"/>
            <a:ext cx="1195200" cy="337200"/>
          </a:xfrm>
          <a:prstGeom prst="rect">
            <a:avLst/>
          </a:prstGeom>
          <a:noFill/>
          <a:ln>
            <a:noFill/>
          </a:ln>
        </p:spPr>
        <p:txBody>
          <a:bodyPr anchorCtr="0" anchor="t" bIns="30650" lIns="61300" spcFirstLastPara="1" rIns="61300" wrap="square" tIns="30650">
            <a:noAutofit/>
          </a:bodyPr>
          <a:lstStyle/>
          <a:p>
            <a:pPr indent="0" lvl="0" marL="0" marR="0" rtl="0" algn="l">
              <a:spcBef>
                <a:spcPts val="0"/>
              </a:spcBef>
              <a:spcAft>
                <a:spcPts val="0"/>
              </a:spcAft>
              <a:buClr>
                <a:srgbClr val="111827"/>
              </a:buClr>
              <a:buSzPts val="1073"/>
              <a:buFont typeface="Calibri"/>
              <a:buNone/>
            </a:pPr>
            <a:r>
              <a:rPr b="1" lang="en" sz="1073">
                <a:solidFill>
                  <a:srgbClr val="111827"/>
                </a:solidFill>
                <a:latin typeface="Calibri"/>
                <a:ea typeface="Calibri"/>
                <a:cs typeface="Calibri"/>
                <a:sym typeface="Calibri"/>
              </a:rPr>
              <a:t>Deployed</a:t>
            </a:r>
            <a:endParaRPr sz="1073">
              <a:solidFill>
                <a:srgbClr val="000000"/>
              </a:solidFill>
              <a:latin typeface="Arial"/>
              <a:ea typeface="Arial"/>
              <a:cs typeface="Arial"/>
              <a:sym typeface="Arial"/>
            </a:endParaRPr>
          </a:p>
        </p:txBody>
      </p:sp>
      <p:sp>
        <p:nvSpPr>
          <p:cNvPr id="376" name="Google Shape;376;p35"/>
          <p:cNvSpPr/>
          <p:nvPr/>
        </p:nvSpPr>
        <p:spPr>
          <a:xfrm>
            <a:off x="598003" y="2814335"/>
            <a:ext cx="1195200" cy="705000"/>
          </a:xfrm>
          <a:prstGeom prst="rect">
            <a:avLst/>
          </a:prstGeom>
          <a:noFill/>
          <a:ln>
            <a:noFill/>
          </a:ln>
        </p:spPr>
        <p:txBody>
          <a:bodyPr anchorCtr="0" anchor="t" bIns="30650" lIns="61300" spcFirstLastPara="1" rIns="61300" wrap="square" tIns="30650">
            <a:noAutofit/>
          </a:bodyPr>
          <a:lstStyle/>
          <a:p>
            <a:pPr indent="0" lvl="0" marL="0" marR="0" rtl="0" algn="l">
              <a:spcBef>
                <a:spcPts val="0"/>
              </a:spcBef>
              <a:spcAft>
                <a:spcPts val="0"/>
              </a:spcAft>
              <a:buClr>
                <a:srgbClr val="374151"/>
              </a:buClr>
              <a:buSzPts val="737"/>
              <a:buFont typeface="Calibri"/>
              <a:buNone/>
            </a:pPr>
            <a:r>
              <a:rPr b="1" lang="en" sz="737">
                <a:solidFill>
                  <a:srgbClr val="374151"/>
                </a:solidFill>
                <a:latin typeface="Calibri"/>
                <a:ea typeface="Calibri"/>
                <a:cs typeface="Calibri"/>
                <a:sym typeface="Calibri"/>
              </a:rPr>
              <a:t>Production execution</a:t>
            </a:r>
            <a:endParaRPr b="1" sz="737">
              <a:solidFill>
                <a:srgbClr val="000000"/>
              </a:solidFill>
            </a:endParaRPr>
          </a:p>
          <a:p>
            <a:pPr indent="0" lvl="0" marL="0" marR="0" rtl="0" algn="l">
              <a:spcBef>
                <a:spcPts val="0"/>
              </a:spcBef>
              <a:spcAft>
                <a:spcPts val="0"/>
              </a:spcAft>
              <a:buClr>
                <a:srgbClr val="374151"/>
              </a:buClr>
              <a:buSzPts val="737"/>
              <a:buFont typeface="Calibri"/>
              <a:buNone/>
            </a:pPr>
            <a:r>
              <a:rPr b="1" lang="en" sz="737">
                <a:solidFill>
                  <a:srgbClr val="374151"/>
                </a:solidFill>
                <a:latin typeface="Calibri"/>
                <a:ea typeface="Calibri"/>
                <a:cs typeface="Calibri"/>
                <a:sym typeface="Calibri"/>
              </a:rPr>
              <a:t>Constraints</a:t>
            </a:r>
            <a:endParaRPr b="1" sz="737">
              <a:solidFill>
                <a:srgbClr val="374151"/>
              </a:solidFill>
              <a:latin typeface="Calibri"/>
              <a:ea typeface="Calibri"/>
              <a:cs typeface="Calibri"/>
              <a:sym typeface="Calibri"/>
            </a:endParaRPr>
          </a:p>
          <a:p>
            <a:pPr indent="0" lvl="0" marL="0" marR="0" rtl="0" algn="l">
              <a:spcBef>
                <a:spcPts val="0"/>
              </a:spcBef>
              <a:spcAft>
                <a:spcPts val="0"/>
              </a:spcAft>
              <a:buClr>
                <a:srgbClr val="374151"/>
              </a:buClr>
              <a:buSzPts val="737"/>
              <a:buFont typeface="Calibri"/>
              <a:buNone/>
            </a:pPr>
            <a:r>
              <a:t/>
            </a:r>
            <a:endParaRPr b="1" sz="737">
              <a:solidFill>
                <a:srgbClr val="374151"/>
              </a:solidFill>
              <a:latin typeface="Calibri"/>
              <a:ea typeface="Calibri"/>
              <a:cs typeface="Calibri"/>
              <a:sym typeface="Calibri"/>
            </a:endParaRPr>
          </a:p>
          <a:p>
            <a:pPr indent="0" lvl="0" marL="0" marR="0" rtl="0" algn="l">
              <a:spcBef>
                <a:spcPts val="0"/>
              </a:spcBef>
              <a:spcAft>
                <a:spcPts val="0"/>
              </a:spcAft>
              <a:buClr>
                <a:srgbClr val="374151"/>
              </a:buClr>
              <a:buSzPts val="737"/>
              <a:buFont typeface="Calibri"/>
              <a:buNone/>
            </a:pPr>
            <a:r>
              <a:rPr lang="en" sz="737">
                <a:solidFill>
                  <a:srgbClr val="374151"/>
                </a:solidFill>
                <a:latin typeface="Calibri"/>
                <a:ea typeface="Calibri"/>
                <a:cs typeface="Calibri"/>
                <a:sym typeface="Calibri"/>
              </a:rPr>
              <a:t>• .py file or container image</a:t>
            </a:r>
            <a:endParaRPr sz="737">
              <a:solidFill>
                <a:srgbClr val="000000"/>
              </a:solidFill>
              <a:latin typeface="Arial"/>
              <a:ea typeface="Arial"/>
              <a:cs typeface="Arial"/>
              <a:sym typeface="Arial"/>
            </a:endParaRPr>
          </a:p>
          <a:p>
            <a:pPr indent="0" lvl="0" marL="0" marR="0" rtl="0" algn="l">
              <a:spcBef>
                <a:spcPts val="0"/>
              </a:spcBef>
              <a:spcAft>
                <a:spcPts val="0"/>
              </a:spcAft>
              <a:buClr>
                <a:srgbClr val="374151"/>
              </a:buClr>
              <a:buSzPts val="737"/>
              <a:buFont typeface="Calibri"/>
              <a:buNone/>
            </a:pPr>
            <a:r>
              <a:rPr lang="en" sz="737">
                <a:solidFill>
                  <a:srgbClr val="374151"/>
                </a:solidFill>
                <a:latin typeface="Calibri"/>
                <a:ea typeface="Calibri"/>
                <a:cs typeface="Calibri"/>
                <a:sym typeface="Calibri"/>
              </a:rPr>
              <a:t>• No network required</a:t>
            </a:r>
            <a:endParaRPr sz="737">
              <a:solidFill>
                <a:srgbClr val="000000"/>
              </a:solidFill>
              <a:latin typeface="Arial"/>
              <a:ea typeface="Arial"/>
              <a:cs typeface="Arial"/>
              <a:sym typeface="Arial"/>
            </a:endParaRPr>
          </a:p>
          <a:p>
            <a:pPr indent="0" lvl="0" marL="0" marR="0" rtl="0" algn="l">
              <a:spcBef>
                <a:spcPts val="0"/>
              </a:spcBef>
              <a:spcAft>
                <a:spcPts val="0"/>
              </a:spcAft>
              <a:buClr>
                <a:srgbClr val="374151"/>
              </a:buClr>
              <a:buSzPts val="737"/>
              <a:buFont typeface="Calibri"/>
              <a:buNone/>
            </a:pPr>
            <a:r>
              <a:rPr lang="en" sz="737">
                <a:solidFill>
                  <a:srgbClr val="374151"/>
                </a:solidFill>
                <a:latin typeface="Calibri"/>
                <a:ea typeface="Calibri"/>
                <a:cs typeface="Calibri"/>
                <a:sym typeface="Calibri"/>
              </a:rPr>
              <a:t>• Console progress %</a:t>
            </a:r>
            <a:endParaRPr sz="737">
              <a:solidFill>
                <a:srgbClr val="000000"/>
              </a:solidFill>
              <a:latin typeface="Arial"/>
              <a:ea typeface="Arial"/>
              <a:cs typeface="Arial"/>
              <a:sym typeface="Arial"/>
            </a:endParaRPr>
          </a:p>
        </p:txBody>
      </p:sp>
      <p:sp>
        <p:nvSpPr>
          <p:cNvPr id="377" name="Google Shape;377;p35"/>
          <p:cNvSpPr/>
          <p:nvPr/>
        </p:nvSpPr>
        <p:spPr>
          <a:xfrm>
            <a:off x="2007954" y="2634169"/>
            <a:ext cx="1113900" cy="582300"/>
          </a:xfrm>
          <a:prstGeom prst="rect">
            <a:avLst/>
          </a:prstGeom>
          <a:solidFill>
            <a:srgbClr val="FFFFFF"/>
          </a:solidFill>
          <a:ln cap="flat" cmpd="sng" w="8500">
            <a:solidFill>
              <a:srgbClr val="CBD5E1"/>
            </a:solidFill>
            <a:prstDash val="solid"/>
            <a:round/>
            <a:headEnd len="sm" w="sm" type="none"/>
            <a:tailEnd len="sm" w="sm" type="none"/>
          </a:ln>
          <a:effectLst>
            <a:outerShdw blurRad="17028" rotWithShape="0" algn="bl" dir="2700000" dist="8514">
              <a:srgbClr val="000000">
                <a:alpha val="11760"/>
              </a:srgbClr>
            </a:outerShdw>
          </a:effectLst>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378" name="Google Shape;378;p35"/>
          <p:cNvSpPr/>
          <p:nvPr/>
        </p:nvSpPr>
        <p:spPr>
          <a:xfrm>
            <a:off x="2081517" y="2683211"/>
            <a:ext cx="966600" cy="484200"/>
          </a:xfrm>
          <a:prstGeom prst="rect">
            <a:avLst/>
          </a:prstGeom>
          <a:noFill/>
          <a:ln>
            <a:noFill/>
          </a:ln>
        </p:spPr>
        <p:txBody>
          <a:bodyPr anchorCtr="0" anchor="ctr" bIns="30650" lIns="61300" spcFirstLastPara="1" rIns="61300" wrap="square" tIns="30650">
            <a:noAutofit/>
          </a:bodyPr>
          <a:lstStyle/>
          <a:p>
            <a:pPr indent="0" lvl="0" marL="0" marR="0" rtl="0" algn="ctr">
              <a:spcBef>
                <a:spcPts val="0"/>
              </a:spcBef>
              <a:spcAft>
                <a:spcPts val="0"/>
              </a:spcAft>
              <a:buClr>
                <a:srgbClr val="1F2937"/>
              </a:buClr>
              <a:buSzPts val="804"/>
              <a:buFont typeface="Calibri"/>
              <a:buNone/>
            </a:pPr>
            <a:r>
              <a:rPr b="1" lang="en" sz="804">
                <a:solidFill>
                  <a:srgbClr val="1F2937"/>
                </a:solidFill>
                <a:latin typeface="Calibri"/>
                <a:ea typeface="Calibri"/>
                <a:cs typeface="Calibri"/>
                <a:sym typeface="Calibri"/>
              </a:rPr>
              <a:t>Executable / CLI</a:t>
            </a:r>
            <a:endParaRPr sz="804">
              <a:solidFill>
                <a:srgbClr val="000000"/>
              </a:solidFill>
              <a:latin typeface="Arial"/>
              <a:ea typeface="Arial"/>
              <a:cs typeface="Arial"/>
              <a:sym typeface="Arial"/>
            </a:endParaRPr>
          </a:p>
        </p:txBody>
      </p:sp>
      <p:sp>
        <p:nvSpPr>
          <p:cNvPr id="379" name="Google Shape;379;p35"/>
          <p:cNvSpPr/>
          <p:nvPr/>
        </p:nvSpPr>
        <p:spPr>
          <a:xfrm>
            <a:off x="2044736" y="3265582"/>
            <a:ext cx="1040100" cy="318600"/>
          </a:xfrm>
          <a:prstGeom prst="rect">
            <a:avLst/>
          </a:prstGeom>
          <a:noFill/>
          <a:ln>
            <a:noFill/>
          </a:ln>
        </p:spPr>
        <p:txBody>
          <a:bodyPr anchorCtr="0" anchor="t" bIns="30650" lIns="61300" spcFirstLastPara="1" rIns="61300" wrap="square" tIns="30650">
            <a:noAutofit/>
          </a:bodyPr>
          <a:lstStyle/>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Linux</a:t>
            </a:r>
            <a:endParaRPr sz="803">
              <a:solidFill>
                <a:srgbClr val="000000"/>
              </a:solidFill>
              <a:latin typeface="Arial"/>
              <a:ea typeface="Arial"/>
              <a:cs typeface="Arial"/>
              <a:sym typeface="Arial"/>
            </a:endParaRPr>
          </a:p>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system-wide</a:t>
            </a:r>
            <a:endParaRPr sz="803">
              <a:solidFill>
                <a:srgbClr val="000000"/>
              </a:solidFill>
              <a:latin typeface="Arial"/>
              <a:ea typeface="Arial"/>
              <a:cs typeface="Arial"/>
              <a:sym typeface="Arial"/>
            </a:endParaRPr>
          </a:p>
        </p:txBody>
      </p:sp>
      <p:cxnSp>
        <p:nvCxnSpPr>
          <p:cNvPr id="380" name="Google Shape;380;p35"/>
          <p:cNvCxnSpPr>
            <a:stCxn id="378" idx="3"/>
          </p:cNvCxnSpPr>
          <p:nvPr/>
        </p:nvCxnSpPr>
        <p:spPr>
          <a:xfrm>
            <a:off x="3048117" y="2925311"/>
            <a:ext cx="183900" cy="0"/>
          </a:xfrm>
          <a:prstGeom prst="straightConnector1">
            <a:avLst/>
          </a:prstGeom>
          <a:noFill/>
          <a:ln cap="flat" cmpd="sng" w="17025">
            <a:solidFill>
              <a:srgbClr val="6B7280"/>
            </a:solidFill>
            <a:prstDash val="solid"/>
            <a:round/>
            <a:headEnd len="sm" w="sm" type="none"/>
            <a:tailEnd len="med" w="med" type="triangle"/>
          </a:ln>
        </p:spPr>
      </p:cxnSp>
      <p:sp>
        <p:nvSpPr>
          <p:cNvPr id="381" name="Google Shape;381;p35"/>
          <p:cNvSpPr/>
          <p:nvPr/>
        </p:nvSpPr>
        <p:spPr>
          <a:xfrm>
            <a:off x="3244175" y="2634169"/>
            <a:ext cx="1113900" cy="582300"/>
          </a:xfrm>
          <a:prstGeom prst="rect">
            <a:avLst/>
          </a:prstGeom>
          <a:solidFill>
            <a:srgbClr val="FFFFFF"/>
          </a:solidFill>
          <a:ln cap="flat" cmpd="sng" w="8500">
            <a:solidFill>
              <a:srgbClr val="CBD5E1"/>
            </a:solidFill>
            <a:prstDash val="solid"/>
            <a:round/>
            <a:headEnd len="sm" w="sm" type="none"/>
            <a:tailEnd len="sm" w="sm" type="none"/>
          </a:ln>
          <a:effectLst>
            <a:outerShdw blurRad="17028" rotWithShape="0" algn="bl" dir="2700000" dist="8514">
              <a:srgbClr val="000000">
                <a:alpha val="11760"/>
              </a:srgbClr>
            </a:outerShdw>
          </a:effectLst>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382" name="Google Shape;382;p35"/>
          <p:cNvSpPr/>
          <p:nvPr/>
        </p:nvSpPr>
        <p:spPr>
          <a:xfrm>
            <a:off x="3317738" y="2683211"/>
            <a:ext cx="966600" cy="484200"/>
          </a:xfrm>
          <a:prstGeom prst="rect">
            <a:avLst/>
          </a:prstGeom>
          <a:noFill/>
          <a:ln>
            <a:noFill/>
          </a:ln>
        </p:spPr>
        <p:txBody>
          <a:bodyPr anchorCtr="0" anchor="ctr" bIns="30650" lIns="61300" spcFirstLastPara="1" rIns="61300" wrap="square" tIns="30650">
            <a:noAutofit/>
          </a:bodyPr>
          <a:lstStyle/>
          <a:p>
            <a:pPr indent="0" lvl="0" marL="0" marR="0" rtl="0" algn="ctr">
              <a:spcBef>
                <a:spcPts val="0"/>
              </a:spcBef>
              <a:spcAft>
                <a:spcPts val="0"/>
              </a:spcAft>
              <a:buClr>
                <a:srgbClr val="1F2937"/>
              </a:buClr>
              <a:buSzPts val="804"/>
              <a:buFont typeface="Calibri"/>
              <a:buNone/>
            </a:pPr>
            <a:r>
              <a:rPr b="1" lang="en" sz="804">
                <a:solidFill>
                  <a:srgbClr val="1F2937"/>
                </a:solidFill>
                <a:latin typeface="Calibri"/>
                <a:ea typeface="Calibri"/>
                <a:cs typeface="Calibri"/>
                <a:sym typeface="Calibri"/>
              </a:rPr>
              <a:t>Validate + Access</a:t>
            </a:r>
            <a:endParaRPr sz="804">
              <a:solidFill>
                <a:srgbClr val="000000"/>
              </a:solidFill>
              <a:latin typeface="Arial"/>
              <a:ea typeface="Arial"/>
              <a:cs typeface="Arial"/>
              <a:sym typeface="Arial"/>
            </a:endParaRPr>
          </a:p>
        </p:txBody>
      </p:sp>
      <p:sp>
        <p:nvSpPr>
          <p:cNvPr id="383" name="Google Shape;383;p35"/>
          <p:cNvSpPr/>
          <p:nvPr/>
        </p:nvSpPr>
        <p:spPr>
          <a:xfrm>
            <a:off x="3280956" y="3265582"/>
            <a:ext cx="1040100" cy="318600"/>
          </a:xfrm>
          <a:prstGeom prst="rect">
            <a:avLst/>
          </a:prstGeom>
          <a:noFill/>
          <a:ln>
            <a:noFill/>
          </a:ln>
        </p:spPr>
        <p:txBody>
          <a:bodyPr anchorCtr="0" anchor="t" bIns="30650" lIns="61300" spcFirstLastPara="1" rIns="61300" wrap="square" tIns="30650">
            <a:noAutofit/>
          </a:bodyPr>
          <a:lstStyle/>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Read input folder</a:t>
            </a:r>
            <a:endParaRPr sz="803">
              <a:solidFill>
                <a:srgbClr val="000000"/>
              </a:solidFill>
              <a:latin typeface="Arial"/>
              <a:ea typeface="Arial"/>
              <a:cs typeface="Arial"/>
              <a:sym typeface="Arial"/>
            </a:endParaRPr>
          </a:p>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Write output folder</a:t>
            </a:r>
            <a:endParaRPr sz="803">
              <a:solidFill>
                <a:srgbClr val="000000"/>
              </a:solidFill>
              <a:latin typeface="Arial"/>
              <a:ea typeface="Arial"/>
              <a:cs typeface="Arial"/>
              <a:sym typeface="Arial"/>
            </a:endParaRPr>
          </a:p>
        </p:txBody>
      </p:sp>
      <p:cxnSp>
        <p:nvCxnSpPr>
          <p:cNvPr id="384" name="Google Shape;384;p35"/>
          <p:cNvCxnSpPr>
            <a:stCxn id="382" idx="3"/>
          </p:cNvCxnSpPr>
          <p:nvPr/>
        </p:nvCxnSpPr>
        <p:spPr>
          <a:xfrm>
            <a:off x="4284338" y="2925311"/>
            <a:ext cx="183900" cy="0"/>
          </a:xfrm>
          <a:prstGeom prst="straightConnector1">
            <a:avLst/>
          </a:prstGeom>
          <a:noFill/>
          <a:ln cap="flat" cmpd="sng" w="17025">
            <a:solidFill>
              <a:srgbClr val="6B7280"/>
            </a:solidFill>
            <a:prstDash val="solid"/>
            <a:round/>
            <a:headEnd len="sm" w="sm" type="none"/>
            <a:tailEnd len="med" w="med" type="triangle"/>
          </a:ln>
        </p:spPr>
      </p:cxnSp>
      <p:sp>
        <p:nvSpPr>
          <p:cNvPr id="385" name="Google Shape;385;p35"/>
          <p:cNvSpPr/>
          <p:nvPr/>
        </p:nvSpPr>
        <p:spPr>
          <a:xfrm>
            <a:off x="4480396" y="2634169"/>
            <a:ext cx="1113900" cy="582300"/>
          </a:xfrm>
          <a:prstGeom prst="rect">
            <a:avLst/>
          </a:prstGeom>
          <a:solidFill>
            <a:srgbClr val="FFFFFF"/>
          </a:solidFill>
          <a:ln cap="flat" cmpd="sng" w="8500">
            <a:solidFill>
              <a:srgbClr val="CBD5E1"/>
            </a:solidFill>
            <a:prstDash val="solid"/>
            <a:round/>
            <a:headEnd len="sm" w="sm" type="none"/>
            <a:tailEnd len="sm" w="sm" type="none"/>
          </a:ln>
          <a:effectLst>
            <a:outerShdw blurRad="17028" rotWithShape="0" algn="bl" dir="2700000" dist="8514">
              <a:srgbClr val="000000">
                <a:alpha val="11760"/>
              </a:srgbClr>
            </a:outerShdw>
          </a:effectLst>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386" name="Google Shape;386;p35"/>
          <p:cNvSpPr/>
          <p:nvPr/>
        </p:nvSpPr>
        <p:spPr>
          <a:xfrm>
            <a:off x="4553958" y="2683211"/>
            <a:ext cx="966600" cy="484200"/>
          </a:xfrm>
          <a:prstGeom prst="rect">
            <a:avLst/>
          </a:prstGeom>
          <a:noFill/>
          <a:ln>
            <a:noFill/>
          </a:ln>
        </p:spPr>
        <p:txBody>
          <a:bodyPr anchorCtr="0" anchor="ctr" bIns="30650" lIns="61300" spcFirstLastPara="1" rIns="61300" wrap="square" tIns="30650">
            <a:noAutofit/>
          </a:bodyPr>
          <a:lstStyle/>
          <a:p>
            <a:pPr indent="0" lvl="0" marL="0" marR="0" rtl="0" algn="ctr">
              <a:spcBef>
                <a:spcPts val="0"/>
              </a:spcBef>
              <a:spcAft>
                <a:spcPts val="0"/>
              </a:spcAft>
              <a:buClr>
                <a:srgbClr val="1F2937"/>
              </a:buClr>
              <a:buSzPts val="804"/>
              <a:buFont typeface="Calibri"/>
              <a:buNone/>
            </a:pPr>
            <a:r>
              <a:rPr b="1" lang="en" sz="804">
                <a:solidFill>
                  <a:srgbClr val="1F2937"/>
                </a:solidFill>
                <a:latin typeface="Calibri"/>
                <a:ea typeface="Calibri"/>
                <a:cs typeface="Calibri"/>
                <a:sym typeface="Calibri"/>
              </a:rPr>
              <a:t>Preprocess Target</a:t>
            </a:r>
            <a:endParaRPr sz="804">
              <a:solidFill>
                <a:srgbClr val="000000"/>
              </a:solidFill>
              <a:latin typeface="Arial"/>
              <a:ea typeface="Arial"/>
              <a:cs typeface="Arial"/>
              <a:sym typeface="Arial"/>
            </a:endParaRPr>
          </a:p>
        </p:txBody>
      </p:sp>
      <p:sp>
        <p:nvSpPr>
          <p:cNvPr id="387" name="Google Shape;387;p35"/>
          <p:cNvSpPr/>
          <p:nvPr/>
        </p:nvSpPr>
        <p:spPr>
          <a:xfrm>
            <a:off x="4517177" y="3265582"/>
            <a:ext cx="1040100" cy="318600"/>
          </a:xfrm>
          <a:prstGeom prst="rect">
            <a:avLst/>
          </a:prstGeom>
          <a:noFill/>
          <a:ln>
            <a:noFill/>
          </a:ln>
        </p:spPr>
        <p:txBody>
          <a:bodyPr anchorCtr="0" anchor="t" bIns="30650" lIns="61300" spcFirstLastPara="1" rIns="61300" wrap="square" tIns="30650">
            <a:noAutofit/>
          </a:bodyPr>
          <a:lstStyle/>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&lt; 3s / image</a:t>
            </a:r>
            <a:endParaRPr sz="803">
              <a:solidFill>
                <a:srgbClr val="000000"/>
              </a:solidFill>
              <a:latin typeface="Arial"/>
              <a:ea typeface="Arial"/>
              <a:cs typeface="Arial"/>
              <a:sym typeface="Arial"/>
            </a:endParaRPr>
          </a:p>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(preprocessing)</a:t>
            </a:r>
            <a:endParaRPr sz="803">
              <a:solidFill>
                <a:srgbClr val="000000"/>
              </a:solidFill>
              <a:latin typeface="Arial"/>
              <a:ea typeface="Arial"/>
              <a:cs typeface="Arial"/>
              <a:sym typeface="Arial"/>
            </a:endParaRPr>
          </a:p>
        </p:txBody>
      </p:sp>
      <p:cxnSp>
        <p:nvCxnSpPr>
          <p:cNvPr id="388" name="Google Shape;388;p35"/>
          <p:cNvCxnSpPr>
            <a:stCxn id="386" idx="3"/>
          </p:cNvCxnSpPr>
          <p:nvPr/>
        </p:nvCxnSpPr>
        <p:spPr>
          <a:xfrm>
            <a:off x="5520558" y="2925311"/>
            <a:ext cx="183900" cy="0"/>
          </a:xfrm>
          <a:prstGeom prst="straightConnector1">
            <a:avLst/>
          </a:prstGeom>
          <a:noFill/>
          <a:ln cap="flat" cmpd="sng" w="17025">
            <a:solidFill>
              <a:srgbClr val="6B7280"/>
            </a:solidFill>
            <a:prstDash val="solid"/>
            <a:round/>
            <a:headEnd len="sm" w="sm" type="none"/>
            <a:tailEnd len="med" w="med" type="triangle"/>
          </a:ln>
        </p:spPr>
      </p:cxnSp>
      <p:sp>
        <p:nvSpPr>
          <p:cNvPr id="389" name="Google Shape;389;p35"/>
          <p:cNvSpPr/>
          <p:nvPr/>
        </p:nvSpPr>
        <p:spPr>
          <a:xfrm>
            <a:off x="5716616" y="2634169"/>
            <a:ext cx="1113900" cy="582300"/>
          </a:xfrm>
          <a:prstGeom prst="rect">
            <a:avLst/>
          </a:prstGeom>
          <a:solidFill>
            <a:srgbClr val="FFFFFF"/>
          </a:solidFill>
          <a:ln cap="flat" cmpd="sng" w="8500">
            <a:solidFill>
              <a:srgbClr val="CBD5E1"/>
            </a:solidFill>
            <a:prstDash val="solid"/>
            <a:round/>
            <a:headEnd len="sm" w="sm" type="none"/>
            <a:tailEnd len="sm" w="sm" type="none"/>
          </a:ln>
          <a:effectLst>
            <a:outerShdw blurRad="17028" rotWithShape="0" algn="bl" dir="2700000" dist="8514">
              <a:srgbClr val="000000">
                <a:alpha val="11760"/>
              </a:srgbClr>
            </a:outerShdw>
          </a:effectLst>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390" name="Google Shape;390;p35"/>
          <p:cNvSpPr/>
          <p:nvPr/>
        </p:nvSpPr>
        <p:spPr>
          <a:xfrm>
            <a:off x="5790179" y="2683211"/>
            <a:ext cx="966600" cy="484200"/>
          </a:xfrm>
          <a:prstGeom prst="rect">
            <a:avLst/>
          </a:prstGeom>
          <a:noFill/>
          <a:ln>
            <a:noFill/>
          </a:ln>
        </p:spPr>
        <p:txBody>
          <a:bodyPr anchorCtr="0" anchor="ctr" bIns="30650" lIns="61300" spcFirstLastPara="1" rIns="61300" wrap="square" tIns="30650">
            <a:noAutofit/>
          </a:bodyPr>
          <a:lstStyle/>
          <a:p>
            <a:pPr indent="0" lvl="0" marL="0" marR="0" rtl="0" algn="ctr">
              <a:spcBef>
                <a:spcPts val="0"/>
              </a:spcBef>
              <a:spcAft>
                <a:spcPts val="0"/>
              </a:spcAft>
              <a:buClr>
                <a:srgbClr val="1F2937"/>
              </a:buClr>
              <a:buSzPts val="804"/>
              <a:buFont typeface="Calibri"/>
              <a:buNone/>
            </a:pPr>
            <a:r>
              <a:rPr b="1" lang="en" sz="804">
                <a:solidFill>
                  <a:srgbClr val="1F2937"/>
                </a:solidFill>
                <a:latin typeface="Calibri"/>
                <a:ea typeface="Calibri"/>
                <a:cs typeface="Calibri"/>
                <a:sym typeface="Calibri"/>
              </a:rPr>
              <a:t>VLM Target</a:t>
            </a:r>
            <a:endParaRPr sz="804">
              <a:solidFill>
                <a:srgbClr val="000000"/>
              </a:solidFill>
              <a:latin typeface="Arial"/>
              <a:ea typeface="Arial"/>
              <a:cs typeface="Arial"/>
              <a:sym typeface="Arial"/>
            </a:endParaRPr>
          </a:p>
        </p:txBody>
      </p:sp>
      <p:sp>
        <p:nvSpPr>
          <p:cNvPr id="391" name="Google Shape;391;p35"/>
          <p:cNvSpPr/>
          <p:nvPr/>
        </p:nvSpPr>
        <p:spPr>
          <a:xfrm>
            <a:off x="5753398" y="3265582"/>
            <a:ext cx="1040100" cy="318600"/>
          </a:xfrm>
          <a:prstGeom prst="rect">
            <a:avLst/>
          </a:prstGeom>
          <a:noFill/>
          <a:ln>
            <a:noFill/>
          </a:ln>
        </p:spPr>
        <p:txBody>
          <a:bodyPr anchorCtr="0" anchor="t" bIns="30650" lIns="61300" spcFirstLastPara="1" rIns="61300" wrap="square" tIns="30650">
            <a:noAutofit/>
          </a:bodyPr>
          <a:lstStyle/>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&lt; 15s / image</a:t>
            </a:r>
            <a:endParaRPr sz="803">
              <a:solidFill>
                <a:srgbClr val="000000"/>
              </a:solidFill>
              <a:latin typeface="Arial"/>
              <a:ea typeface="Arial"/>
              <a:cs typeface="Arial"/>
              <a:sym typeface="Arial"/>
            </a:endParaRPr>
          </a:p>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16 GB VRAM</a:t>
            </a:r>
            <a:endParaRPr sz="803">
              <a:solidFill>
                <a:srgbClr val="000000"/>
              </a:solidFill>
              <a:latin typeface="Arial"/>
              <a:ea typeface="Arial"/>
              <a:cs typeface="Arial"/>
              <a:sym typeface="Arial"/>
            </a:endParaRPr>
          </a:p>
        </p:txBody>
      </p:sp>
      <p:cxnSp>
        <p:nvCxnSpPr>
          <p:cNvPr id="392" name="Google Shape;392;p35"/>
          <p:cNvCxnSpPr>
            <a:stCxn id="390" idx="3"/>
          </p:cNvCxnSpPr>
          <p:nvPr/>
        </p:nvCxnSpPr>
        <p:spPr>
          <a:xfrm>
            <a:off x="6756779" y="2925311"/>
            <a:ext cx="183900" cy="0"/>
          </a:xfrm>
          <a:prstGeom prst="straightConnector1">
            <a:avLst/>
          </a:prstGeom>
          <a:noFill/>
          <a:ln cap="flat" cmpd="sng" w="17025">
            <a:solidFill>
              <a:srgbClr val="6B7280"/>
            </a:solidFill>
            <a:prstDash val="solid"/>
            <a:round/>
            <a:headEnd len="sm" w="sm" type="none"/>
            <a:tailEnd len="med" w="med" type="triangle"/>
          </a:ln>
        </p:spPr>
      </p:cxnSp>
      <p:sp>
        <p:nvSpPr>
          <p:cNvPr id="393" name="Google Shape;393;p35"/>
          <p:cNvSpPr/>
          <p:nvPr/>
        </p:nvSpPr>
        <p:spPr>
          <a:xfrm>
            <a:off x="6952837" y="2634169"/>
            <a:ext cx="1113900" cy="582300"/>
          </a:xfrm>
          <a:prstGeom prst="rect">
            <a:avLst/>
          </a:prstGeom>
          <a:solidFill>
            <a:srgbClr val="FFFFFF"/>
          </a:solidFill>
          <a:ln cap="flat" cmpd="sng" w="8500">
            <a:solidFill>
              <a:srgbClr val="CBD5E1"/>
            </a:solidFill>
            <a:prstDash val="solid"/>
            <a:round/>
            <a:headEnd len="sm" w="sm" type="none"/>
            <a:tailEnd len="sm" w="sm" type="none"/>
          </a:ln>
          <a:effectLst>
            <a:outerShdw blurRad="17028" rotWithShape="0" algn="bl" dir="2700000" dist="8514">
              <a:srgbClr val="000000">
                <a:alpha val="11760"/>
              </a:srgbClr>
            </a:outerShdw>
          </a:effectLst>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394" name="Google Shape;394;p35"/>
          <p:cNvSpPr/>
          <p:nvPr/>
        </p:nvSpPr>
        <p:spPr>
          <a:xfrm>
            <a:off x="7026400" y="2683211"/>
            <a:ext cx="966600" cy="484200"/>
          </a:xfrm>
          <a:prstGeom prst="rect">
            <a:avLst/>
          </a:prstGeom>
          <a:noFill/>
          <a:ln>
            <a:noFill/>
          </a:ln>
        </p:spPr>
        <p:txBody>
          <a:bodyPr anchorCtr="0" anchor="ctr" bIns="30650" lIns="61300" spcFirstLastPara="1" rIns="61300" wrap="square" tIns="30650">
            <a:noAutofit/>
          </a:bodyPr>
          <a:lstStyle/>
          <a:p>
            <a:pPr indent="0" lvl="0" marL="0" marR="0" rtl="0" algn="ctr">
              <a:spcBef>
                <a:spcPts val="0"/>
              </a:spcBef>
              <a:spcAft>
                <a:spcPts val="0"/>
              </a:spcAft>
              <a:buClr>
                <a:srgbClr val="1F2937"/>
              </a:buClr>
              <a:buSzPts val="804"/>
              <a:buFont typeface="Calibri"/>
              <a:buNone/>
            </a:pPr>
            <a:r>
              <a:rPr b="1" lang="en" sz="804">
                <a:solidFill>
                  <a:srgbClr val="1F2937"/>
                </a:solidFill>
                <a:latin typeface="Calibri"/>
                <a:ea typeface="Calibri"/>
                <a:cs typeface="Calibri"/>
                <a:sym typeface="Calibri"/>
              </a:rPr>
              <a:t>Persist + Retrieve</a:t>
            </a:r>
            <a:endParaRPr sz="804">
              <a:solidFill>
                <a:srgbClr val="000000"/>
              </a:solidFill>
              <a:latin typeface="Arial"/>
              <a:ea typeface="Arial"/>
              <a:cs typeface="Arial"/>
              <a:sym typeface="Arial"/>
            </a:endParaRPr>
          </a:p>
        </p:txBody>
      </p:sp>
      <p:sp>
        <p:nvSpPr>
          <p:cNvPr id="395" name="Google Shape;395;p35"/>
          <p:cNvSpPr/>
          <p:nvPr/>
        </p:nvSpPr>
        <p:spPr>
          <a:xfrm>
            <a:off x="6989618" y="3265582"/>
            <a:ext cx="1040100" cy="318600"/>
          </a:xfrm>
          <a:prstGeom prst="rect">
            <a:avLst/>
          </a:prstGeom>
          <a:noFill/>
          <a:ln>
            <a:noFill/>
          </a:ln>
        </p:spPr>
        <p:txBody>
          <a:bodyPr anchorCtr="0" anchor="t" bIns="30650" lIns="61300" spcFirstLastPara="1" rIns="61300" wrap="square" tIns="30650">
            <a:noAutofit/>
          </a:bodyPr>
          <a:lstStyle/>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Standards JSON</a:t>
            </a:r>
            <a:endParaRPr sz="803">
              <a:solidFill>
                <a:srgbClr val="000000"/>
              </a:solidFill>
              <a:latin typeface="Arial"/>
              <a:ea typeface="Arial"/>
              <a:cs typeface="Arial"/>
              <a:sym typeface="Arial"/>
            </a:endParaRPr>
          </a:p>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No overwrite/delete</a:t>
            </a:r>
            <a:endParaRPr sz="803">
              <a:solidFill>
                <a:srgbClr val="000000"/>
              </a:solidFill>
              <a:latin typeface="Arial"/>
              <a:ea typeface="Arial"/>
              <a:cs typeface="Arial"/>
              <a:sym typeface="Arial"/>
            </a:endParaRPr>
          </a:p>
          <a:p>
            <a:pPr indent="0" lvl="0" marL="0" marR="0" rtl="0" algn="ctr">
              <a:spcBef>
                <a:spcPts val="0"/>
              </a:spcBef>
              <a:spcAft>
                <a:spcPts val="0"/>
              </a:spcAft>
              <a:buClr>
                <a:srgbClr val="4B5563"/>
              </a:buClr>
              <a:buSzPts val="603"/>
              <a:buFont typeface="Calibri"/>
              <a:buNone/>
            </a:pPr>
            <a:r>
              <a:rPr lang="en" sz="803">
                <a:solidFill>
                  <a:srgbClr val="4B5563"/>
                </a:solidFill>
                <a:latin typeface="Calibri"/>
                <a:ea typeface="Calibri"/>
                <a:cs typeface="Calibri"/>
                <a:sym typeface="Calibri"/>
              </a:rPr>
              <a:t>Retrieve via CLI arg</a:t>
            </a:r>
            <a:endParaRPr sz="803">
              <a:solidFill>
                <a:srgbClr val="000000"/>
              </a:solidFill>
              <a:latin typeface="Arial"/>
              <a:ea typeface="Arial"/>
              <a:cs typeface="Arial"/>
              <a:sym typeface="Arial"/>
            </a:endParaRPr>
          </a:p>
        </p:txBody>
      </p:sp>
      <p:sp>
        <p:nvSpPr>
          <p:cNvPr id="396" name="Google Shape;396;p35"/>
          <p:cNvSpPr/>
          <p:nvPr/>
        </p:nvSpPr>
        <p:spPr>
          <a:xfrm>
            <a:off x="506050" y="3860210"/>
            <a:ext cx="2417700" cy="796500"/>
          </a:xfrm>
          <a:prstGeom prst="rect">
            <a:avLst/>
          </a:prstGeom>
          <a:solidFill>
            <a:srgbClr val="A4C2F4"/>
          </a:solidFill>
          <a:ln cap="flat" cmpd="sng" w="8500">
            <a:solidFill>
              <a:srgbClr val="E5E7EB"/>
            </a:solidFill>
            <a:prstDash val="solid"/>
            <a:round/>
            <a:headEnd len="sm" w="sm" type="none"/>
            <a:tailEnd len="sm" w="sm" type="none"/>
          </a:ln>
          <a:effectLst>
            <a:outerShdw blurRad="17028" rotWithShape="0" algn="bl" dir="2700000" dist="8514">
              <a:srgbClr val="000000">
                <a:alpha val="11760"/>
              </a:srgbClr>
            </a:outerShdw>
          </a:effectLst>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397" name="Google Shape;397;p35"/>
          <p:cNvSpPr/>
          <p:nvPr/>
        </p:nvSpPr>
        <p:spPr>
          <a:xfrm>
            <a:off x="579613" y="3901317"/>
            <a:ext cx="2271000" cy="714300"/>
          </a:xfrm>
          <a:prstGeom prst="rect">
            <a:avLst/>
          </a:prstGeom>
          <a:noFill/>
          <a:ln>
            <a:noFill/>
          </a:ln>
        </p:spPr>
        <p:txBody>
          <a:bodyPr anchorCtr="0" anchor="t" bIns="30650" lIns="61300" spcFirstLastPara="1" rIns="61300" wrap="square" tIns="30650">
            <a:noAutofit/>
          </a:bodyPr>
          <a:lstStyle/>
          <a:p>
            <a:pPr indent="0" lvl="0" marL="0" marR="0" rtl="0" algn="l">
              <a:spcBef>
                <a:spcPts val="0"/>
              </a:spcBef>
              <a:spcAft>
                <a:spcPts val="0"/>
              </a:spcAft>
              <a:buClr>
                <a:srgbClr val="1F2937"/>
              </a:buClr>
              <a:buSzPts val="872"/>
              <a:buFont typeface="Calibri"/>
              <a:buNone/>
            </a:pPr>
            <a:r>
              <a:rPr b="1" lang="en" sz="1072">
                <a:solidFill>
                  <a:srgbClr val="1F2937"/>
                </a:solidFill>
                <a:latin typeface="Calibri"/>
                <a:ea typeface="Calibri"/>
                <a:cs typeface="Calibri"/>
                <a:sym typeface="Calibri"/>
              </a:rPr>
              <a:t>Inputs &amp; Configuration</a:t>
            </a:r>
            <a:endParaRPr sz="1072">
              <a:solidFill>
                <a:srgbClr val="000000"/>
              </a:solidFill>
              <a:latin typeface="Arial"/>
              <a:ea typeface="Arial"/>
              <a:cs typeface="Arial"/>
              <a:sym typeface="Arial"/>
            </a:endParaRPr>
          </a:p>
        </p:txBody>
      </p:sp>
      <p:sp>
        <p:nvSpPr>
          <p:cNvPr id="398" name="Google Shape;398;p35"/>
          <p:cNvSpPr/>
          <p:nvPr/>
        </p:nvSpPr>
        <p:spPr>
          <a:xfrm>
            <a:off x="640915" y="4117132"/>
            <a:ext cx="2172900" cy="488100"/>
          </a:xfrm>
          <a:prstGeom prst="rect">
            <a:avLst/>
          </a:prstGeom>
          <a:noFill/>
          <a:ln>
            <a:noFill/>
          </a:ln>
        </p:spPr>
        <p:txBody>
          <a:bodyPr anchorCtr="0" anchor="t" bIns="30650" lIns="61300" spcFirstLastPara="1" rIns="61300" wrap="square" tIns="30650">
            <a:noAutofit/>
          </a:bodyPr>
          <a:lstStyle/>
          <a:p>
            <a:pPr indent="-121077" lvl="0" marL="119198" marR="0" rtl="0" algn="l">
              <a:spcBef>
                <a:spcPts val="0"/>
              </a:spcBef>
              <a:spcAft>
                <a:spcPts val="0"/>
              </a:spcAft>
              <a:buClr>
                <a:srgbClr val="374151"/>
              </a:buClr>
              <a:buSzPts val="700"/>
              <a:buFont typeface="Calibri"/>
              <a:buChar char="•"/>
            </a:pPr>
            <a:r>
              <a:rPr lang="en" sz="700">
                <a:solidFill>
                  <a:srgbClr val="374151"/>
                </a:solidFill>
                <a:latin typeface="Calibri"/>
                <a:ea typeface="Calibri"/>
                <a:cs typeface="Calibri"/>
                <a:sym typeface="Calibri"/>
              </a:rPr>
              <a:t>CLI args: usage, input folder, output folder</a:t>
            </a:r>
            <a:endParaRPr sz="700">
              <a:solidFill>
                <a:srgbClr val="000000"/>
              </a:solidFill>
              <a:latin typeface="Arial"/>
              <a:ea typeface="Arial"/>
              <a:cs typeface="Arial"/>
              <a:sym typeface="Arial"/>
            </a:endParaRPr>
          </a:p>
          <a:p>
            <a:pPr indent="-121077" lvl="0" marL="119198" marR="0" rtl="0" algn="l">
              <a:spcBef>
                <a:spcPts val="0"/>
              </a:spcBef>
              <a:spcAft>
                <a:spcPts val="0"/>
              </a:spcAft>
              <a:buClr>
                <a:srgbClr val="374151"/>
              </a:buClr>
              <a:buSzPts val="700"/>
              <a:buFont typeface="Calibri"/>
              <a:buChar char="•"/>
            </a:pPr>
            <a:r>
              <a:rPr lang="en" sz="700">
                <a:solidFill>
                  <a:srgbClr val="374151"/>
                </a:solidFill>
                <a:latin typeface="Calibri"/>
                <a:ea typeface="Calibri"/>
                <a:cs typeface="Calibri"/>
                <a:sym typeface="Calibri"/>
              </a:rPr>
              <a:t>Validate data presence + formats</a:t>
            </a:r>
            <a:endParaRPr sz="700">
              <a:solidFill>
                <a:srgbClr val="000000"/>
              </a:solidFill>
              <a:latin typeface="Arial"/>
              <a:ea typeface="Arial"/>
              <a:cs typeface="Arial"/>
              <a:sym typeface="Arial"/>
            </a:endParaRPr>
          </a:p>
          <a:p>
            <a:pPr indent="-121077" lvl="0" marL="119198" marR="0" rtl="0" algn="l">
              <a:spcBef>
                <a:spcPts val="0"/>
              </a:spcBef>
              <a:spcAft>
                <a:spcPts val="0"/>
              </a:spcAft>
              <a:buClr>
                <a:srgbClr val="374151"/>
              </a:buClr>
              <a:buSzPts val="700"/>
              <a:buFont typeface="Calibri"/>
              <a:buChar char="•"/>
            </a:pPr>
            <a:r>
              <a:rPr lang="en" sz="700">
                <a:solidFill>
                  <a:srgbClr val="374151"/>
                </a:solidFill>
                <a:latin typeface="Calibri"/>
                <a:ea typeface="Calibri"/>
                <a:cs typeface="Calibri"/>
                <a:sym typeface="Calibri"/>
              </a:rPr>
              <a:t>Choose VLM + prompt via text config</a:t>
            </a:r>
            <a:endParaRPr sz="700">
              <a:solidFill>
                <a:srgbClr val="000000"/>
              </a:solidFill>
              <a:latin typeface="Arial"/>
              <a:ea typeface="Arial"/>
              <a:cs typeface="Arial"/>
              <a:sym typeface="Arial"/>
            </a:endParaRPr>
          </a:p>
        </p:txBody>
      </p:sp>
      <p:sp>
        <p:nvSpPr>
          <p:cNvPr id="399" name="Google Shape;399;p35"/>
          <p:cNvSpPr/>
          <p:nvPr/>
        </p:nvSpPr>
        <p:spPr>
          <a:xfrm>
            <a:off x="3077267" y="3860210"/>
            <a:ext cx="2417700" cy="796500"/>
          </a:xfrm>
          <a:prstGeom prst="rect">
            <a:avLst/>
          </a:prstGeom>
          <a:solidFill>
            <a:srgbClr val="B4A7D6"/>
          </a:solidFill>
          <a:ln cap="flat" cmpd="sng" w="8500">
            <a:solidFill>
              <a:srgbClr val="E5E7EB"/>
            </a:solidFill>
            <a:prstDash val="solid"/>
            <a:round/>
            <a:headEnd len="sm" w="sm" type="none"/>
            <a:tailEnd len="sm" w="sm" type="none"/>
          </a:ln>
          <a:effectLst>
            <a:outerShdw blurRad="17028" rotWithShape="0" algn="bl" dir="2700000" dist="8514">
              <a:srgbClr val="000000">
                <a:alpha val="11760"/>
              </a:srgbClr>
            </a:outerShdw>
          </a:effectLst>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400" name="Google Shape;400;p35"/>
          <p:cNvSpPr/>
          <p:nvPr/>
        </p:nvSpPr>
        <p:spPr>
          <a:xfrm>
            <a:off x="3150830" y="3901317"/>
            <a:ext cx="2271000" cy="714300"/>
          </a:xfrm>
          <a:prstGeom prst="rect">
            <a:avLst/>
          </a:prstGeom>
          <a:noFill/>
          <a:ln>
            <a:noFill/>
          </a:ln>
        </p:spPr>
        <p:txBody>
          <a:bodyPr anchorCtr="0" anchor="t" bIns="30650" lIns="61300" spcFirstLastPara="1" rIns="61300" wrap="square" tIns="30650">
            <a:noAutofit/>
          </a:bodyPr>
          <a:lstStyle/>
          <a:p>
            <a:pPr indent="0" lvl="0" marL="0" marR="0" rtl="0" algn="l">
              <a:spcBef>
                <a:spcPts val="0"/>
              </a:spcBef>
              <a:spcAft>
                <a:spcPts val="0"/>
              </a:spcAft>
              <a:buClr>
                <a:srgbClr val="1F2937"/>
              </a:buClr>
              <a:buSzPts val="872"/>
              <a:buFont typeface="Calibri"/>
              <a:buNone/>
            </a:pPr>
            <a:r>
              <a:rPr b="1" lang="en" sz="872">
                <a:solidFill>
                  <a:srgbClr val="1F2937"/>
                </a:solidFill>
                <a:latin typeface="Calibri"/>
                <a:ea typeface="Calibri"/>
                <a:cs typeface="Calibri"/>
                <a:sym typeface="Calibri"/>
              </a:rPr>
              <a:t>Outputs</a:t>
            </a:r>
            <a:endParaRPr sz="872">
              <a:solidFill>
                <a:srgbClr val="000000"/>
              </a:solidFill>
              <a:latin typeface="Arial"/>
              <a:ea typeface="Arial"/>
              <a:cs typeface="Arial"/>
              <a:sym typeface="Arial"/>
            </a:endParaRPr>
          </a:p>
        </p:txBody>
      </p:sp>
      <p:sp>
        <p:nvSpPr>
          <p:cNvPr id="401" name="Google Shape;401;p35"/>
          <p:cNvSpPr/>
          <p:nvPr/>
        </p:nvSpPr>
        <p:spPr>
          <a:xfrm>
            <a:off x="3212132" y="4117132"/>
            <a:ext cx="2172900" cy="488100"/>
          </a:xfrm>
          <a:prstGeom prst="rect">
            <a:avLst/>
          </a:prstGeom>
          <a:noFill/>
          <a:ln>
            <a:noFill/>
          </a:ln>
        </p:spPr>
        <p:txBody>
          <a:bodyPr anchorCtr="0" anchor="t" bIns="30650" lIns="61300" spcFirstLastPara="1" rIns="61300" wrap="square" tIns="30650">
            <a:noAutofit/>
          </a:bodyPr>
          <a:lstStyle/>
          <a:p>
            <a:pPr indent="-121077" lvl="0" marL="119198" marR="0" rtl="0" algn="l">
              <a:spcBef>
                <a:spcPts val="0"/>
              </a:spcBef>
              <a:spcAft>
                <a:spcPts val="0"/>
              </a:spcAft>
              <a:buClr>
                <a:srgbClr val="374151"/>
              </a:buClr>
              <a:buSzPts val="700"/>
              <a:buFont typeface="Calibri"/>
              <a:buChar char="•"/>
            </a:pPr>
            <a:r>
              <a:rPr lang="en" sz="700">
                <a:solidFill>
                  <a:srgbClr val="374151"/>
                </a:solidFill>
                <a:latin typeface="Calibri"/>
                <a:ea typeface="Calibri"/>
                <a:cs typeface="Calibri"/>
                <a:sym typeface="Calibri"/>
              </a:rPr>
              <a:t>JSON report + supporting imagery</a:t>
            </a:r>
            <a:endParaRPr sz="700">
              <a:solidFill>
                <a:srgbClr val="000000"/>
              </a:solidFill>
              <a:latin typeface="Arial"/>
              <a:ea typeface="Arial"/>
              <a:cs typeface="Arial"/>
              <a:sym typeface="Arial"/>
            </a:endParaRPr>
          </a:p>
          <a:p>
            <a:pPr indent="-121077" lvl="0" marL="119198" marR="0" rtl="0" algn="l">
              <a:spcBef>
                <a:spcPts val="0"/>
              </a:spcBef>
              <a:spcAft>
                <a:spcPts val="0"/>
              </a:spcAft>
              <a:buClr>
                <a:srgbClr val="374151"/>
              </a:buClr>
              <a:buSzPts val="700"/>
              <a:buFont typeface="Calibri"/>
              <a:buChar char="•"/>
            </a:pPr>
            <a:r>
              <a:rPr lang="en" sz="700">
                <a:solidFill>
                  <a:srgbClr val="374151"/>
                </a:solidFill>
                <a:latin typeface="Calibri"/>
                <a:ea typeface="Calibri"/>
                <a:cs typeface="Calibri"/>
                <a:sym typeface="Calibri"/>
              </a:rPr>
              <a:t>Notify user + output location</a:t>
            </a:r>
            <a:endParaRPr sz="700">
              <a:solidFill>
                <a:srgbClr val="000000"/>
              </a:solidFill>
              <a:latin typeface="Arial"/>
              <a:ea typeface="Arial"/>
              <a:cs typeface="Arial"/>
              <a:sym typeface="Arial"/>
            </a:endParaRPr>
          </a:p>
          <a:p>
            <a:pPr indent="-121077" lvl="0" marL="119198" marR="0" rtl="0" algn="l">
              <a:spcBef>
                <a:spcPts val="0"/>
              </a:spcBef>
              <a:spcAft>
                <a:spcPts val="0"/>
              </a:spcAft>
              <a:buClr>
                <a:srgbClr val="374151"/>
              </a:buClr>
              <a:buSzPts val="700"/>
              <a:buFont typeface="Calibri"/>
              <a:buChar char="•"/>
            </a:pPr>
            <a:r>
              <a:rPr lang="en" sz="700">
                <a:solidFill>
                  <a:srgbClr val="374151"/>
                </a:solidFill>
                <a:latin typeface="Calibri"/>
                <a:ea typeface="Calibri"/>
                <a:cs typeface="Calibri"/>
                <a:sym typeface="Calibri"/>
              </a:rPr>
              <a:t>Retrieval mode for completed assessments</a:t>
            </a:r>
            <a:endParaRPr sz="700">
              <a:solidFill>
                <a:srgbClr val="000000"/>
              </a:solidFill>
              <a:latin typeface="Arial"/>
              <a:ea typeface="Arial"/>
              <a:cs typeface="Arial"/>
              <a:sym typeface="Arial"/>
            </a:endParaRPr>
          </a:p>
        </p:txBody>
      </p:sp>
      <p:sp>
        <p:nvSpPr>
          <p:cNvPr id="402" name="Google Shape;402;p35"/>
          <p:cNvSpPr/>
          <p:nvPr/>
        </p:nvSpPr>
        <p:spPr>
          <a:xfrm>
            <a:off x="5648474" y="3860209"/>
            <a:ext cx="2590200" cy="796500"/>
          </a:xfrm>
          <a:prstGeom prst="rect">
            <a:avLst/>
          </a:prstGeom>
          <a:solidFill>
            <a:srgbClr val="FFE599"/>
          </a:solidFill>
          <a:ln cap="flat" cmpd="sng" w="8500">
            <a:solidFill>
              <a:srgbClr val="E5E7EB"/>
            </a:solidFill>
            <a:prstDash val="solid"/>
            <a:round/>
            <a:headEnd len="sm" w="sm" type="none"/>
            <a:tailEnd len="sm" w="sm" type="none"/>
          </a:ln>
          <a:effectLst>
            <a:outerShdw blurRad="17028" rotWithShape="0" algn="bl" dir="2700000" dist="8514">
              <a:srgbClr val="000000">
                <a:alpha val="11760"/>
              </a:srgbClr>
            </a:outerShdw>
          </a:effectLst>
        </p:spPr>
        <p:txBody>
          <a:bodyPr anchorCtr="0" anchor="t" bIns="30650" lIns="61300" spcFirstLastPara="1" rIns="61300" wrap="square" tIns="30650">
            <a:noAutofit/>
          </a:bodyPr>
          <a:lstStyle/>
          <a:p>
            <a:pPr indent="0" lvl="0" marL="0" marR="0" rtl="0" algn="l">
              <a:spcBef>
                <a:spcPts val="0"/>
              </a:spcBef>
              <a:spcAft>
                <a:spcPts val="0"/>
              </a:spcAft>
              <a:buNone/>
            </a:pPr>
            <a:r>
              <a:t/>
            </a:r>
            <a:endParaRPr sz="1207">
              <a:solidFill>
                <a:srgbClr val="000000"/>
              </a:solidFill>
              <a:latin typeface="Arial"/>
              <a:ea typeface="Arial"/>
              <a:cs typeface="Arial"/>
              <a:sym typeface="Arial"/>
            </a:endParaRPr>
          </a:p>
        </p:txBody>
      </p:sp>
      <p:sp>
        <p:nvSpPr>
          <p:cNvPr id="403" name="Google Shape;403;p35"/>
          <p:cNvSpPr/>
          <p:nvPr/>
        </p:nvSpPr>
        <p:spPr>
          <a:xfrm>
            <a:off x="5722047" y="3901317"/>
            <a:ext cx="2271000" cy="714300"/>
          </a:xfrm>
          <a:prstGeom prst="rect">
            <a:avLst/>
          </a:prstGeom>
          <a:noFill/>
          <a:ln>
            <a:noFill/>
          </a:ln>
        </p:spPr>
        <p:txBody>
          <a:bodyPr anchorCtr="0" anchor="t" bIns="30650" lIns="61300" spcFirstLastPara="1" rIns="61300" wrap="square" tIns="30650">
            <a:noAutofit/>
          </a:bodyPr>
          <a:lstStyle/>
          <a:p>
            <a:pPr indent="0" lvl="0" marL="0" marR="0" rtl="0" algn="l">
              <a:spcBef>
                <a:spcPts val="0"/>
              </a:spcBef>
              <a:spcAft>
                <a:spcPts val="0"/>
              </a:spcAft>
              <a:buClr>
                <a:srgbClr val="1F2937"/>
              </a:buClr>
              <a:buSzPts val="872"/>
              <a:buFont typeface="Calibri"/>
              <a:buNone/>
            </a:pPr>
            <a:r>
              <a:rPr b="1" lang="en" sz="872">
                <a:solidFill>
                  <a:srgbClr val="1F2937"/>
                </a:solidFill>
                <a:latin typeface="Calibri"/>
                <a:ea typeface="Calibri"/>
                <a:cs typeface="Calibri"/>
                <a:sym typeface="Calibri"/>
              </a:rPr>
              <a:t>Edge Cases &amp; Constraints</a:t>
            </a:r>
            <a:endParaRPr sz="872">
              <a:solidFill>
                <a:srgbClr val="000000"/>
              </a:solidFill>
              <a:latin typeface="Arial"/>
              <a:ea typeface="Arial"/>
              <a:cs typeface="Arial"/>
              <a:sym typeface="Arial"/>
            </a:endParaRPr>
          </a:p>
        </p:txBody>
      </p:sp>
      <p:sp>
        <p:nvSpPr>
          <p:cNvPr id="404" name="Google Shape;404;p35"/>
          <p:cNvSpPr/>
          <p:nvPr/>
        </p:nvSpPr>
        <p:spPr>
          <a:xfrm>
            <a:off x="5758424" y="4093157"/>
            <a:ext cx="2172900" cy="488100"/>
          </a:xfrm>
          <a:prstGeom prst="rect">
            <a:avLst/>
          </a:prstGeom>
          <a:noFill/>
          <a:ln>
            <a:noFill/>
          </a:ln>
        </p:spPr>
        <p:txBody>
          <a:bodyPr anchorCtr="0" anchor="t" bIns="30650" lIns="61300" spcFirstLastPara="1" rIns="61300" wrap="square" tIns="30650">
            <a:noAutofit/>
          </a:bodyPr>
          <a:lstStyle/>
          <a:p>
            <a:pPr indent="-125549" lvl="0" marL="119198" marR="0" rtl="0" algn="l">
              <a:spcBef>
                <a:spcPts val="0"/>
              </a:spcBef>
              <a:spcAft>
                <a:spcPts val="0"/>
              </a:spcAft>
              <a:buClr>
                <a:srgbClr val="374151"/>
              </a:buClr>
              <a:buSzPts val="737"/>
              <a:buFont typeface="Calibri"/>
              <a:buChar char="•"/>
            </a:pPr>
            <a:r>
              <a:rPr lang="en" sz="737">
                <a:solidFill>
                  <a:srgbClr val="374151"/>
                </a:solidFill>
                <a:latin typeface="Calibri"/>
                <a:ea typeface="Calibri"/>
                <a:cs typeface="Calibri"/>
                <a:sym typeface="Calibri"/>
              </a:rPr>
              <a:t>Invalid/corrupt → notify; continue or re-run</a:t>
            </a:r>
            <a:endParaRPr sz="737">
              <a:solidFill>
                <a:srgbClr val="000000"/>
              </a:solidFill>
              <a:latin typeface="Arial"/>
              <a:ea typeface="Arial"/>
              <a:cs typeface="Arial"/>
              <a:sym typeface="Arial"/>
            </a:endParaRPr>
          </a:p>
          <a:p>
            <a:pPr indent="-125549" lvl="0" marL="119198" marR="0" rtl="0" algn="l">
              <a:spcBef>
                <a:spcPts val="0"/>
              </a:spcBef>
              <a:spcAft>
                <a:spcPts val="0"/>
              </a:spcAft>
              <a:buClr>
                <a:srgbClr val="374151"/>
              </a:buClr>
              <a:buSzPts val="737"/>
              <a:buFont typeface="Calibri"/>
              <a:buChar char="•"/>
            </a:pPr>
            <a:r>
              <a:rPr lang="en" sz="737">
                <a:solidFill>
                  <a:srgbClr val="374151"/>
                </a:solidFill>
                <a:latin typeface="Calibri"/>
                <a:ea typeface="Calibri"/>
                <a:cs typeface="Calibri"/>
                <a:sym typeface="Calibri"/>
              </a:rPr>
              <a:t>Low confidence → flag; manual review/reprocess</a:t>
            </a:r>
            <a:endParaRPr sz="737">
              <a:solidFill>
                <a:srgbClr val="000000"/>
              </a:solidFill>
              <a:latin typeface="Arial"/>
              <a:ea typeface="Arial"/>
              <a:cs typeface="Arial"/>
              <a:sym typeface="Arial"/>
            </a:endParaRPr>
          </a:p>
          <a:p>
            <a:pPr indent="-125549" lvl="0" marL="119198" marR="0" rtl="0" algn="l">
              <a:spcBef>
                <a:spcPts val="0"/>
              </a:spcBef>
              <a:spcAft>
                <a:spcPts val="0"/>
              </a:spcAft>
              <a:buClr>
                <a:srgbClr val="374151"/>
              </a:buClr>
              <a:buSzPts val="737"/>
              <a:buFont typeface="Calibri"/>
              <a:buChar char="•"/>
            </a:pPr>
            <a:r>
              <a:rPr lang="en" sz="737">
                <a:solidFill>
                  <a:srgbClr val="374151"/>
                </a:solidFill>
                <a:latin typeface="Calibri"/>
                <a:ea typeface="Calibri"/>
                <a:cs typeface="Calibri"/>
                <a:sym typeface="Calibri"/>
              </a:rPr>
              <a:t>System failure → log; alert admin; retry later</a:t>
            </a:r>
            <a:endParaRPr sz="737">
              <a:solidFill>
                <a:srgbClr val="000000"/>
              </a:solidFill>
              <a:latin typeface="Arial"/>
              <a:ea typeface="Arial"/>
              <a:cs typeface="Arial"/>
              <a:sym typeface="Arial"/>
            </a:endParaRPr>
          </a:p>
          <a:p>
            <a:pPr indent="-125549" lvl="0" marL="119198" marR="0" rtl="0" algn="l">
              <a:spcBef>
                <a:spcPts val="0"/>
              </a:spcBef>
              <a:spcAft>
                <a:spcPts val="0"/>
              </a:spcAft>
              <a:buClr>
                <a:srgbClr val="374151"/>
              </a:buClr>
              <a:buSzPts val="737"/>
              <a:buFont typeface="Calibri"/>
              <a:buChar char="•"/>
            </a:pPr>
            <a:r>
              <a:rPr lang="en" sz="737">
                <a:solidFill>
                  <a:srgbClr val="374151"/>
                </a:solidFill>
                <a:latin typeface="Calibri"/>
                <a:ea typeface="Calibri"/>
                <a:cs typeface="Calibri"/>
                <a:sym typeface="Calibri"/>
              </a:rPr>
              <a:t>Offline, no external deps, ≤ 20 GB footprint</a:t>
            </a:r>
            <a:endParaRPr sz="737">
              <a:solidFill>
                <a:srgbClr val="000000"/>
              </a:solidFill>
              <a:latin typeface="Arial"/>
              <a:ea typeface="Arial"/>
              <a:cs typeface="Arial"/>
              <a:sym typeface="Arial"/>
            </a:endParaRPr>
          </a:p>
        </p:txBody>
      </p:sp>
      <p:sp>
        <p:nvSpPr>
          <p:cNvPr id="405" name="Google Shape;405;p35"/>
          <p:cNvSpPr txBox="1"/>
          <p:nvPr/>
        </p:nvSpPr>
        <p:spPr>
          <a:xfrm>
            <a:off x="3485550" y="2365109"/>
            <a:ext cx="2172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latin typeface="Fira Sans"/>
                <a:ea typeface="Fira Sans"/>
                <a:cs typeface="Fira Sans"/>
                <a:sym typeface="Fira Sans"/>
              </a:rPr>
              <a:t>Robotic Platform</a:t>
            </a:r>
            <a:endParaRPr sz="1200">
              <a:solidFill>
                <a:schemeClr val="dk2"/>
              </a:solidFill>
              <a:latin typeface="Fira Sans"/>
              <a:ea typeface="Fira Sans"/>
              <a:cs typeface="Fira Sans"/>
              <a:sym typeface="Fira Sans"/>
            </a:endParaRPr>
          </a:p>
        </p:txBody>
      </p:sp>
      <p:sp>
        <p:nvSpPr>
          <p:cNvPr id="406" name="Google Shape;406;p35"/>
          <p:cNvSpPr txBox="1"/>
          <p:nvPr/>
        </p:nvSpPr>
        <p:spPr>
          <a:xfrm>
            <a:off x="3485550" y="903959"/>
            <a:ext cx="2172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latin typeface="Fira Sans"/>
                <a:ea typeface="Fira Sans"/>
                <a:cs typeface="Fira Sans"/>
                <a:sym typeface="Fira Sans"/>
              </a:rPr>
              <a:t>Local Dev Environment</a:t>
            </a:r>
            <a:endParaRPr sz="1200">
              <a:solidFill>
                <a:schemeClr val="dk2"/>
              </a:solidFill>
              <a:latin typeface="Fira Sans"/>
              <a:ea typeface="Fira Sans"/>
              <a:cs typeface="Fira Sans"/>
              <a:sym typeface="Fira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0" name="Shape 410"/>
        <p:cNvGrpSpPr/>
        <p:nvPr/>
      </p:nvGrpSpPr>
      <p:grpSpPr>
        <a:xfrm>
          <a:off x="0" y="0"/>
          <a:ext cx="0" cy="0"/>
          <a:chOff x="0" y="0"/>
          <a:chExt cx="0" cy="0"/>
        </a:xfrm>
      </p:grpSpPr>
      <p:sp>
        <p:nvSpPr>
          <p:cNvPr id="411" name="Google Shape;411;p36"/>
          <p:cNvSpPr txBox="1"/>
          <p:nvPr>
            <p:ph type="title"/>
          </p:nvPr>
        </p:nvSpPr>
        <p:spPr>
          <a:xfrm>
            <a:off x="351025"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Evaluation</a:t>
            </a:r>
            <a:endParaRPr/>
          </a:p>
        </p:txBody>
      </p:sp>
      <p:sp>
        <p:nvSpPr>
          <p:cNvPr id="412" name="Google Shape;412;p36"/>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pic>
        <p:nvPicPr>
          <p:cNvPr id="413" name="Google Shape;413;p36" title="Screenshot 2026-02-19 152442.png"/>
          <p:cNvPicPr preferRelativeResize="0"/>
          <p:nvPr/>
        </p:nvPicPr>
        <p:blipFill>
          <a:blip r:embed="rId3">
            <a:alphaModFix/>
          </a:blip>
          <a:stretch>
            <a:fillRect/>
          </a:stretch>
        </p:blipFill>
        <p:spPr>
          <a:xfrm>
            <a:off x="729561" y="1553250"/>
            <a:ext cx="868975" cy="859007"/>
          </a:xfrm>
          <a:prstGeom prst="rect">
            <a:avLst/>
          </a:prstGeom>
          <a:noFill/>
          <a:ln>
            <a:noFill/>
          </a:ln>
        </p:spPr>
      </p:pic>
      <p:sp>
        <p:nvSpPr>
          <p:cNvPr id="414" name="Google Shape;414;p36"/>
          <p:cNvSpPr txBox="1"/>
          <p:nvPr>
            <p:ph idx="1" type="body"/>
          </p:nvPr>
        </p:nvSpPr>
        <p:spPr>
          <a:xfrm>
            <a:off x="1208111" y="1017725"/>
            <a:ext cx="1159800" cy="393600"/>
          </a:xfrm>
          <a:prstGeom prst="rect">
            <a:avLst/>
          </a:prstGeom>
          <a:noFill/>
          <a:ln>
            <a:noFill/>
          </a:ln>
        </p:spPr>
        <p:txBody>
          <a:bodyPr anchorCtr="0" anchor="ctr" bIns="91425" lIns="91425" spcFirstLastPara="1" rIns="91425" wrap="square" tIns="91425">
            <a:noAutofit/>
          </a:bodyPr>
          <a:lstStyle/>
          <a:p>
            <a:pPr indent="0" lvl="0" marL="0" rtl="0" algn="ctr">
              <a:lnSpc>
                <a:spcPct val="95000"/>
              </a:lnSpc>
              <a:spcBef>
                <a:spcPts val="0"/>
              </a:spcBef>
              <a:spcAft>
                <a:spcPts val="0"/>
              </a:spcAft>
              <a:buClr>
                <a:schemeClr val="dk1"/>
              </a:buClr>
              <a:buSzPts val="1100"/>
              <a:buFont typeface="Arial"/>
              <a:buNone/>
            </a:pPr>
            <a:r>
              <a:rPr b="1" lang="en" sz="1600">
                <a:solidFill>
                  <a:schemeClr val="dk1"/>
                </a:solidFill>
                <a:latin typeface="Arial"/>
                <a:ea typeface="Arial"/>
                <a:cs typeface="Arial"/>
                <a:sym typeface="Arial"/>
              </a:rPr>
              <a:t>Inputs</a:t>
            </a:r>
            <a:endParaRPr b="1" sz="1600">
              <a:solidFill>
                <a:schemeClr val="dk1"/>
              </a:solidFill>
              <a:latin typeface="Arial"/>
              <a:ea typeface="Arial"/>
              <a:cs typeface="Arial"/>
              <a:sym typeface="Arial"/>
            </a:endParaRPr>
          </a:p>
        </p:txBody>
      </p:sp>
      <p:pic>
        <p:nvPicPr>
          <p:cNvPr id="415" name="Google Shape;415;p36" title="Screenshot 2026-02-19 152442.png"/>
          <p:cNvPicPr preferRelativeResize="0"/>
          <p:nvPr/>
        </p:nvPicPr>
        <p:blipFill>
          <a:blip r:embed="rId3">
            <a:alphaModFix/>
          </a:blip>
          <a:stretch>
            <a:fillRect/>
          </a:stretch>
        </p:blipFill>
        <p:spPr>
          <a:xfrm>
            <a:off x="2019311" y="1553250"/>
            <a:ext cx="868975" cy="859007"/>
          </a:xfrm>
          <a:prstGeom prst="rect">
            <a:avLst/>
          </a:prstGeom>
          <a:noFill/>
          <a:ln>
            <a:noFill/>
          </a:ln>
        </p:spPr>
      </p:pic>
      <p:sp>
        <p:nvSpPr>
          <p:cNvPr id="416" name="Google Shape;416;p36"/>
          <p:cNvSpPr txBox="1"/>
          <p:nvPr>
            <p:ph idx="1" type="body"/>
          </p:nvPr>
        </p:nvSpPr>
        <p:spPr>
          <a:xfrm>
            <a:off x="416452" y="2374950"/>
            <a:ext cx="14952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770"/>
              <a:buFont typeface="Arial"/>
              <a:buNone/>
            </a:pPr>
            <a:r>
              <a:rPr lang="en" sz="1200">
                <a:solidFill>
                  <a:schemeClr val="dk1"/>
                </a:solidFill>
                <a:latin typeface="Arial"/>
                <a:ea typeface="Arial"/>
                <a:cs typeface="Arial"/>
                <a:sym typeface="Arial"/>
              </a:rPr>
              <a:t>Reference Outputs</a:t>
            </a:r>
            <a:endParaRPr sz="1200">
              <a:solidFill>
                <a:schemeClr val="dk1"/>
              </a:solidFill>
              <a:latin typeface="Arial"/>
              <a:ea typeface="Arial"/>
              <a:cs typeface="Arial"/>
              <a:sym typeface="Arial"/>
            </a:endParaRPr>
          </a:p>
        </p:txBody>
      </p:sp>
      <p:sp>
        <p:nvSpPr>
          <p:cNvPr id="417" name="Google Shape;417;p36"/>
          <p:cNvSpPr txBox="1"/>
          <p:nvPr>
            <p:ph idx="1" type="body"/>
          </p:nvPr>
        </p:nvSpPr>
        <p:spPr>
          <a:xfrm>
            <a:off x="1706202" y="2374950"/>
            <a:ext cx="14952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770"/>
              <a:buFont typeface="Arial"/>
              <a:buNone/>
            </a:pPr>
            <a:r>
              <a:rPr lang="en" sz="1200">
                <a:solidFill>
                  <a:schemeClr val="dk1"/>
                </a:solidFill>
                <a:latin typeface="Arial"/>
                <a:ea typeface="Arial"/>
                <a:cs typeface="Arial"/>
                <a:sym typeface="Arial"/>
              </a:rPr>
              <a:t>Model Outputs</a:t>
            </a:r>
            <a:endParaRPr sz="1200">
              <a:solidFill>
                <a:schemeClr val="dk1"/>
              </a:solidFill>
              <a:latin typeface="Arial"/>
              <a:ea typeface="Arial"/>
              <a:cs typeface="Arial"/>
              <a:sym typeface="Arial"/>
            </a:endParaRPr>
          </a:p>
        </p:txBody>
      </p:sp>
      <p:sp>
        <p:nvSpPr>
          <p:cNvPr id="418" name="Google Shape;418;p36"/>
          <p:cNvSpPr txBox="1"/>
          <p:nvPr>
            <p:ph idx="1" type="body"/>
          </p:nvPr>
        </p:nvSpPr>
        <p:spPr>
          <a:xfrm>
            <a:off x="846000" y="2768562"/>
            <a:ext cx="1884000" cy="1090800"/>
          </a:xfrm>
          <a:prstGeom prst="rect">
            <a:avLst/>
          </a:prstGeom>
          <a:noFill/>
          <a:ln>
            <a:noFill/>
          </a:ln>
        </p:spPr>
        <p:txBody>
          <a:bodyPr anchorCtr="0" anchor="ctr" bIns="91425" lIns="91425" spcFirstLastPara="1" rIns="91425" wrap="square" tIns="91425">
            <a:noAutofit/>
          </a:bodyPr>
          <a:lstStyle/>
          <a:p>
            <a:pPr indent="-304800" lvl="0" marL="457200" rtl="0" algn="l">
              <a:spcBef>
                <a:spcPts val="0"/>
              </a:spcBef>
              <a:spcAft>
                <a:spcPts val="0"/>
              </a:spcAft>
              <a:buClr>
                <a:schemeClr val="dk1"/>
              </a:buClr>
              <a:buSzPts val="1200"/>
              <a:buFont typeface="Arial"/>
              <a:buChar char="●"/>
            </a:pPr>
            <a:r>
              <a:rPr lang="en" sz="1200">
                <a:solidFill>
                  <a:schemeClr val="dk1"/>
                </a:solidFill>
                <a:latin typeface="Arial"/>
                <a:ea typeface="Arial"/>
                <a:cs typeface="Arial"/>
                <a:sym typeface="Arial"/>
              </a:rPr>
              <a:t>Target type</a:t>
            </a:r>
            <a:endParaRPr sz="1200">
              <a:solidFill>
                <a:schemeClr val="dk1"/>
              </a:solidFill>
              <a:latin typeface="Arial"/>
              <a:ea typeface="Arial"/>
              <a:cs typeface="Arial"/>
              <a:sym typeface="Arial"/>
            </a:endParaRPr>
          </a:p>
          <a:p>
            <a:pPr indent="-304800" lvl="0" marL="457200" rtl="0" algn="l">
              <a:spcBef>
                <a:spcPts val="0"/>
              </a:spcBef>
              <a:spcAft>
                <a:spcPts val="0"/>
              </a:spcAft>
              <a:buClr>
                <a:schemeClr val="dk1"/>
              </a:buClr>
              <a:buSzPts val="1200"/>
              <a:buFont typeface="Arial"/>
              <a:buChar char="●"/>
            </a:pPr>
            <a:r>
              <a:rPr lang="en" sz="1200">
                <a:solidFill>
                  <a:schemeClr val="dk1"/>
                </a:solidFill>
                <a:latin typeface="Arial"/>
                <a:ea typeface="Arial"/>
                <a:cs typeface="Arial"/>
                <a:sym typeface="Arial"/>
              </a:rPr>
              <a:t>Damage level</a:t>
            </a:r>
            <a:endParaRPr sz="1200">
              <a:solidFill>
                <a:schemeClr val="dk1"/>
              </a:solidFill>
              <a:latin typeface="Arial"/>
              <a:ea typeface="Arial"/>
              <a:cs typeface="Arial"/>
              <a:sym typeface="Arial"/>
            </a:endParaRPr>
          </a:p>
          <a:p>
            <a:pPr indent="-304800" lvl="0" marL="457200" rtl="0" algn="l">
              <a:spcBef>
                <a:spcPts val="0"/>
              </a:spcBef>
              <a:spcAft>
                <a:spcPts val="0"/>
              </a:spcAft>
              <a:buClr>
                <a:schemeClr val="dk1"/>
              </a:buClr>
              <a:buSzPts val="1200"/>
              <a:buFont typeface="Arial"/>
              <a:buChar char="●"/>
            </a:pPr>
            <a:r>
              <a:rPr lang="en" sz="1200">
                <a:solidFill>
                  <a:schemeClr val="dk1"/>
                </a:solidFill>
                <a:latin typeface="Arial"/>
                <a:ea typeface="Arial"/>
                <a:cs typeface="Arial"/>
                <a:sym typeface="Arial"/>
              </a:rPr>
              <a:t>Confidence</a:t>
            </a:r>
            <a:endParaRPr sz="1200">
              <a:solidFill>
                <a:schemeClr val="dk1"/>
              </a:solidFill>
              <a:latin typeface="Arial"/>
              <a:ea typeface="Arial"/>
              <a:cs typeface="Arial"/>
              <a:sym typeface="Arial"/>
            </a:endParaRPr>
          </a:p>
          <a:p>
            <a:pPr indent="-304800" lvl="0" marL="457200" rtl="0" algn="l">
              <a:spcBef>
                <a:spcPts val="0"/>
              </a:spcBef>
              <a:spcAft>
                <a:spcPts val="0"/>
              </a:spcAft>
              <a:buClr>
                <a:schemeClr val="dk1"/>
              </a:buClr>
              <a:buSzPts val="1200"/>
              <a:buFont typeface="Arial"/>
              <a:buChar char="●"/>
            </a:pPr>
            <a:r>
              <a:rPr lang="en" sz="1200">
                <a:solidFill>
                  <a:schemeClr val="dk1"/>
                </a:solidFill>
                <a:latin typeface="Arial"/>
                <a:ea typeface="Arial"/>
                <a:cs typeface="Arial"/>
                <a:sym typeface="Arial"/>
              </a:rPr>
              <a:t>Supporting logic</a:t>
            </a:r>
            <a:endParaRPr sz="1200">
              <a:solidFill>
                <a:schemeClr val="dk1"/>
              </a:solidFill>
              <a:latin typeface="Arial"/>
              <a:ea typeface="Arial"/>
              <a:cs typeface="Arial"/>
              <a:sym typeface="Arial"/>
            </a:endParaRPr>
          </a:p>
        </p:txBody>
      </p:sp>
      <p:cxnSp>
        <p:nvCxnSpPr>
          <p:cNvPr id="419" name="Google Shape;419;p36"/>
          <p:cNvCxnSpPr/>
          <p:nvPr/>
        </p:nvCxnSpPr>
        <p:spPr>
          <a:xfrm>
            <a:off x="3192550" y="967642"/>
            <a:ext cx="32700" cy="2885700"/>
          </a:xfrm>
          <a:prstGeom prst="straightConnector1">
            <a:avLst/>
          </a:prstGeom>
          <a:noFill/>
          <a:ln cap="flat" cmpd="sng" w="28575">
            <a:solidFill>
              <a:schemeClr val="dk2"/>
            </a:solidFill>
            <a:prstDash val="solid"/>
            <a:round/>
            <a:headEnd len="med" w="med" type="none"/>
            <a:tailEnd len="med" w="med" type="none"/>
          </a:ln>
          <a:effectLst>
            <a:outerShdw blurRad="57150" rotWithShape="0" algn="bl" dir="5400000" dist="19050">
              <a:srgbClr val="000000">
                <a:alpha val="50000"/>
              </a:srgbClr>
            </a:outerShdw>
          </a:effectLst>
        </p:spPr>
      </p:cxnSp>
      <p:cxnSp>
        <p:nvCxnSpPr>
          <p:cNvPr id="420" name="Google Shape;420;p36"/>
          <p:cNvCxnSpPr/>
          <p:nvPr/>
        </p:nvCxnSpPr>
        <p:spPr>
          <a:xfrm>
            <a:off x="5921450" y="967642"/>
            <a:ext cx="28500" cy="2919600"/>
          </a:xfrm>
          <a:prstGeom prst="straightConnector1">
            <a:avLst/>
          </a:prstGeom>
          <a:noFill/>
          <a:ln cap="flat" cmpd="sng" w="28575">
            <a:solidFill>
              <a:schemeClr val="dk2"/>
            </a:solidFill>
            <a:prstDash val="solid"/>
            <a:round/>
            <a:headEnd len="med" w="med" type="none"/>
            <a:tailEnd len="med" w="med" type="none"/>
          </a:ln>
          <a:effectLst>
            <a:outerShdw blurRad="57150" rotWithShape="0" algn="bl" dir="5400000" dist="19050">
              <a:srgbClr val="000000">
                <a:alpha val="50000"/>
              </a:srgbClr>
            </a:outerShdw>
          </a:effectLst>
        </p:spPr>
      </p:cxnSp>
      <p:sp>
        <p:nvSpPr>
          <p:cNvPr id="421" name="Google Shape;421;p36"/>
          <p:cNvSpPr txBox="1"/>
          <p:nvPr>
            <p:ph idx="1" type="body"/>
          </p:nvPr>
        </p:nvSpPr>
        <p:spPr>
          <a:xfrm>
            <a:off x="3527423" y="1017725"/>
            <a:ext cx="2167800" cy="393600"/>
          </a:xfrm>
          <a:prstGeom prst="rect">
            <a:avLst/>
          </a:prstGeom>
          <a:noFill/>
          <a:ln>
            <a:noFill/>
          </a:ln>
        </p:spPr>
        <p:txBody>
          <a:bodyPr anchorCtr="0" anchor="ctr" bIns="91425" lIns="91425" spcFirstLastPara="1" rIns="91425" wrap="square" tIns="91425">
            <a:noAutofit/>
          </a:bodyPr>
          <a:lstStyle/>
          <a:p>
            <a:pPr indent="0" lvl="0" marL="0" rtl="0" algn="ctr">
              <a:lnSpc>
                <a:spcPct val="95000"/>
              </a:lnSpc>
              <a:spcBef>
                <a:spcPts val="0"/>
              </a:spcBef>
              <a:spcAft>
                <a:spcPts val="0"/>
              </a:spcAft>
              <a:buClr>
                <a:schemeClr val="dk1"/>
              </a:buClr>
              <a:buSzPts val="1100"/>
              <a:buFont typeface="Arial"/>
              <a:buNone/>
            </a:pPr>
            <a:r>
              <a:rPr b="1" lang="en" sz="1600">
                <a:solidFill>
                  <a:schemeClr val="dk1"/>
                </a:solidFill>
                <a:latin typeface="Arial"/>
                <a:ea typeface="Arial"/>
                <a:cs typeface="Arial"/>
                <a:sym typeface="Arial"/>
              </a:rPr>
              <a:t>Object Matching</a:t>
            </a:r>
            <a:endParaRPr b="1" sz="1600">
              <a:solidFill>
                <a:schemeClr val="dk1"/>
              </a:solidFill>
              <a:latin typeface="Arial"/>
              <a:ea typeface="Arial"/>
              <a:cs typeface="Arial"/>
              <a:sym typeface="Arial"/>
            </a:endParaRPr>
          </a:p>
        </p:txBody>
      </p:sp>
      <p:sp>
        <p:nvSpPr>
          <p:cNvPr id="422" name="Google Shape;422;p36"/>
          <p:cNvSpPr txBox="1"/>
          <p:nvPr>
            <p:ph idx="1" type="body"/>
          </p:nvPr>
        </p:nvSpPr>
        <p:spPr>
          <a:xfrm>
            <a:off x="3383525" y="1411325"/>
            <a:ext cx="2423700" cy="2484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Arial"/>
                <a:ea typeface="Arial"/>
                <a:cs typeface="Arial"/>
                <a:sym typeface="Arial"/>
              </a:rPr>
              <a:t>1. Group targets by target type.</a:t>
            </a:r>
            <a:endParaRPr sz="1200">
              <a:solidFill>
                <a:schemeClr val="dk1"/>
              </a:solidFill>
              <a:latin typeface="Arial"/>
              <a:ea typeface="Arial"/>
              <a:cs typeface="Arial"/>
              <a:sym typeface="Arial"/>
            </a:endParaRPr>
          </a:p>
          <a:p>
            <a:pPr indent="0" lvl="0" marL="0" rtl="0" algn="l">
              <a:spcBef>
                <a:spcPts val="0"/>
              </a:spcBef>
              <a:spcAft>
                <a:spcPts val="0"/>
              </a:spcAft>
              <a:buNone/>
            </a:pPr>
            <a:r>
              <a:t/>
            </a:r>
            <a:endParaRPr sz="1200">
              <a:solidFill>
                <a:schemeClr val="dk1"/>
              </a:solidFill>
              <a:latin typeface="Arial"/>
              <a:ea typeface="Arial"/>
              <a:cs typeface="Arial"/>
              <a:sym typeface="Arial"/>
            </a:endParaRPr>
          </a:p>
          <a:p>
            <a:pPr indent="0" lvl="0" marL="0" rtl="0" algn="l">
              <a:spcBef>
                <a:spcPts val="0"/>
              </a:spcBef>
              <a:spcAft>
                <a:spcPts val="0"/>
              </a:spcAft>
              <a:buNone/>
            </a:pPr>
            <a:r>
              <a:rPr lang="en" sz="1200">
                <a:solidFill>
                  <a:schemeClr val="dk1"/>
                </a:solidFill>
                <a:latin typeface="Arial"/>
                <a:ea typeface="Arial"/>
                <a:cs typeface="Arial"/>
                <a:sym typeface="Arial"/>
              </a:rPr>
              <a:t>2. Using bounding boxes, match predicted objects with reference objects.</a:t>
            </a:r>
            <a:endParaRPr sz="1200">
              <a:solidFill>
                <a:schemeClr val="dk1"/>
              </a:solidFill>
              <a:latin typeface="Arial"/>
              <a:ea typeface="Arial"/>
              <a:cs typeface="Arial"/>
              <a:sym typeface="Arial"/>
            </a:endParaRPr>
          </a:p>
          <a:p>
            <a:pPr indent="0" lvl="0" marL="0" rtl="0" algn="l">
              <a:spcBef>
                <a:spcPts val="0"/>
              </a:spcBef>
              <a:spcAft>
                <a:spcPts val="0"/>
              </a:spcAft>
              <a:buNone/>
            </a:pPr>
            <a:r>
              <a:t/>
            </a:r>
            <a:endParaRPr sz="1200">
              <a:solidFill>
                <a:schemeClr val="dk1"/>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 sz="1200">
                <a:solidFill>
                  <a:schemeClr val="dk1"/>
                </a:solidFill>
                <a:latin typeface="Arial"/>
                <a:ea typeface="Arial"/>
                <a:cs typeface="Arial"/>
                <a:sym typeface="Arial"/>
              </a:rPr>
              <a:t>3. Compare key attributes:</a:t>
            </a:r>
            <a:endParaRPr sz="1200">
              <a:solidFill>
                <a:schemeClr val="dk1"/>
              </a:solidFill>
              <a:latin typeface="Arial"/>
              <a:ea typeface="Arial"/>
              <a:cs typeface="Arial"/>
              <a:sym typeface="Arial"/>
            </a:endParaRPr>
          </a:p>
          <a:p>
            <a:pPr indent="-304800" lvl="0" marL="457200" rtl="0" algn="l">
              <a:spcBef>
                <a:spcPts val="0"/>
              </a:spcBef>
              <a:spcAft>
                <a:spcPts val="0"/>
              </a:spcAft>
              <a:buClr>
                <a:schemeClr val="dk1"/>
              </a:buClr>
              <a:buSzPts val="1200"/>
              <a:buFont typeface="Arial"/>
              <a:buChar char="●"/>
            </a:pPr>
            <a:r>
              <a:rPr lang="en" sz="1200">
                <a:solidFill>
                  <a:schemeClr val="dk1"/>
                </a:solidFill>
                <a:latin typeface="Arial"/>
                <a:ea typeface="Arial"/>
                <a:cs typeface="Arial"/>
                <a:sym typeface="Arial"/>
              </a:rPr>
              <a:t>Damage level</a:t>
            </a:r>
            <a:endParaRPr sz="1200">
              <a:solidFill>
                <a:schemeClr val="dk1"/>
              </a:solidFill>
              <a:latin typeface="Arial"/>
              <a:ea typeface="Arial"/>
              <a:cs typeface="Arial"/>
              <a:sym typeface="Arial"/>
            </a:endParaRPr>
          </a:p>
          <a:p>
            <a:pPr indent="-304800" lvl="0" marL="457200" rtl="0" algn="l">
              <a:spcBef>
                <a:spcPts val="0"/>
              </a:spcBef>
              <a:spcAft>
                <a:spcPts val="0"/>
              </a:spcAft>
              <a:buClr>
                <a:schemeClr val="dk1"/>
              </a:buClr>
              <a:buSzPts val="1200"/>
              <a:buFont typeface="Arial"/>
              <a:buChar char="●"/>
            </a:pPr>
            <a:r>
              <a:rPr lang="en" sz="1200">
                <a:solidFill>
                  <a:schemeClr val="dk1"/>
                </a:solidFill>
                <a:latin typeface="Arial"/>
                <a:ea typeface="Arial"/>
                <a:cs typeface="Arial"/>
                <a:sym typeface="Arial"/>
              </a:rPr>
              <a:t>Confidence</a:t>
            </a:r>
            <a:endParaRPr sz="1200">
              <a:solidFill>
                <a:schemeClr val="dk1"/>
              </a:solidFill>
              <a:latin typeface="Arial"/>
              <a:ea typeface="Arial"/>
              <a:cs typeface="Arial"/>
              <a:sym typeface="Arial"/>
            </a:endParaRPr>
          </a:p>
        </p:txBody>
      </p:sp>
      <p:sp>
        <p:nvSpPr>
          <p:cNvPr id="423" name="Google Shape;423;p36"/>
          <p:cNvSpPr txBox="1"/>
          <p:nvPr>
            <p:ph idx="1" type="body"/>
          </p:nvPr>
        </p:nvSpPr>
        <p:spPr>
          <a:xfrm>
            <a:off x="6427498" y="1017725"/>
            <a:ext cx="2167800" cy="393600"/>
          </a:xfrm>
          <a:prstGeom prst="rect">
            <a:avLst/>
          </a:prstGeom>
          <a:noFill/>
          <a:ln>
            <a:noFill/>
          </a:ln>
        </p:spPr>
        <p:txBody>
          <a:bodyPr anchorCtr="0" anchor="ctr" bIns="91425" lIns="91425" spcFirstLastPara="1" rIns="91425" wrap="square" tIns="91425">
            <a:noAutofit/>
          </a:bodyPr>
          <a:lstStyle/>
          <a:p>
            <a:pPr indent="0" lvl="0" marL="0" rtl="0" algn="ctr">
              <a:lnSpc>
                <a:spcPct val="95000"/>
              </a:lnSpc>
              <a:spcBef>
                <a:spcPts val="0"/>
              </a:spcBef>
              <a:spcAft>
                <a:spcPts val="0"/>
              </a:spcAft>
              <a:buClr>
                <a:schemeClr val="dk1"/>
              </a:buClr>
              <a:buSzPts val="1100"/>
              <a:buFont typeface="Arial"/>
              <a:buNone/>
            </a:pPr>
            <a:r>
              <a:rPr b="1" lang="en" sz="1600">
                <a:solidFill>
                  <a:schemeClr val="dk1"/>
                </a:solidFill>
                <a:latin typeface="Arial"/>
                <a:ea typeface="Arial"/>
                <a:cs typeface="Arial"/>
                <a:sym typeface="Arial"/>
              </a:rPr>
              <a:t>Logic Evaluation</a:t>
            </a:r>
            <a:endParaRPr b="1" sz="1600">
              <a:solidFill>
                <a:schemeClr val="dk1"/>
              </a:solidFill>
              <a:latin typeface="Arial"/>
              <a:ea typeface="Arial"/>
              <a:cs typeface="Arial"/>
              <a:sym typeface="Arial"/>
            </a:endParaRPr>
          </a:p>
        </p:txBody>
      </p:sp>
      <p:sp>
        <p:nvSpPr>
          <p:cNvPr id="424" name="Google Shape;424;p36"/>
          <p:cNvSpPr txBox="1"/>
          <p:nvPr>
            <p:ph idx="1" type="body"/>
          </p:nvPr>
        </p:nvSpPr>
        <p:spPr>
          <a:xfrm>
            <a:off x="6370650" y="3121275"/>
            <a:ext cx="2281500" cy="6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Arial"/>
                <a:ea typeface="Arial"/>
                <a:cs typeface="Arial"/>
                <a:sym typeface="Arial"/>
              </a:rPr>
              <a:t>Produce logic quality scores.</a:t>
            </a:r>
            <a:endParaRPr sz="1200">
              <a:solidFill>
                <a:schemeClr val="dk1"/>
              </a:solidFill>
              <a:latin typeface="Arial"/>
              <a:ea typeface="Arial"/>
              <a:cs typeface="Arial"/>
              <a:sym typeface="Arial"/>
            </a:endParaRPr>
          </a:p>
        </p:txBody>
      </p:sp>
      <p:sp>
        <p:nvSpPr>
          <p:cNvPr id="425" name="Google Shape;425;p36"/>
          <p:cNvSpPr txBox="1"/>
          <p:nvPr>
            <p:ph idx="1" type="body"/>
          </p:nvPr>
        </p:nvSpPr>
        <p:spPr>
          <a:xfrm>
            <a:off x="849750" y="3944225"/>
            <a:ext cx="7444500" cy="723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accent5"/>
                </a:solidFill>
                <a:latin typeface="Arial"/>
                <a:ea typeface="Arial"/>
                <a:cs typeface="Arial"/>
                <a:sym typeface="Arial"/>
              </a:rPr>
              <a:t>Final Score = IoU - Attribute Penalties + Logic Quality</a:t>
            </a:r>
            <a:endParaRPr sz="1600">
              <a:solidFill>
                <a:schemeClr val="accent5"/>
              </a:solidFill>
              <a:latin typeface="Arial"/>
              <a:ea typeface="Arial"/>
              <a:cs typeface="Arial"/>
              <a:sym typeface="Arial"/>
            </a:endParaRPr>
          </a:p>
        </p:txBody>
      </p:sp>
      <p:pic>
        <p:nvPicPr>
          <p:cNvPr id="426" name="Google Shape;426;p36" title="Screenshot 2026-02-19 154907.png"/>
          <p:cNvPicPr preferRelativeResize="0"/>
          <p:nvPr/>
        </p:nvPicPr>
        <p:blipFill>
          <a:blip r:embed="rId4">
            <a:alphaModFix/>
          </a:blip>
          <a:stretch>
            <a:fillRect/>
          </a:stretch>
        </p:blipFill>
        <p:spPr>
          <a:xfrm>
            <a:off x="6064174" y="1553250"/>
            <a:ext cx="2890814" cy="15680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0" name="Shape 430"/>
        <p:cNvGrpSpPr/>
        <p:nvPr/>
      </p:nvGrpSpPr>
      <p:grpSpPr>
        <a:xfrm>
          <a:off x="0" y="0"/>
          <a:ext cx="0" cy="0"/>
          <a:chOff x="0" y="0"/>
          <a:chExt cx="0" cy="0"/>
        </a:xfrm>
      </p:grpSpPr>
      <p:sp>
        <p:nvSpPr>
          <p:cNvPr id="431" name="Google Shape;431;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Challenges</a:t>
            </a:r>
            <a:endParaRPr/>
          </a:p>
        </p:txBody>
      </p:sp>
      <p:sp>
        <p:nvSpPr>
          <p:cNvPr id="432" name="Google Shape;432;p37"/>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433" name="Google Shape;433;p37"/>
          <p:cNvSpPr txBox="1"/>
          <p:nvPr>
            <p:ph idx="1" type="body"/>
          </p:nvPr>
        </p:nvSpPr>
        <p:spPr>
          <a:xfrm>
            <a:off x="660975" y="1073500"/>
            <a:ext cx="79344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sz="1800" strike="sngStrike"/>
              <a:t>Integration of Phase 2 Functional Damage Assessment (FDA)s</a:t>
            </a:r>
            <a:endParaRPr sz="1800" strike="sngStrike"/>
          </a:p>
          <a:p>
            <a:pPr indent="-342900" lvl="1" marL="914400" rtl="0" algn="l">
              <a:spcBef>
                <a:spcPts val="0"/>
              </a:spcBef>
              <a:spcAft>
                <a:spcPts val="0"/>
              </a:spcAft>
              <a:buSzPts val="1800"/>
              <a:buChar char="-"/>
            </a:pPr>
            <a:r>
              <a:rPr lang="en" sz="1800" strike="sngStrike"/>
              <a:t>Insufficient details</a:t>
            </a:r>
            <a:endParaRPr sz="1800" strike="sngStrike"/>
          </a:p>
          <a:p>
            <a:pPr indent="0" lvl="0" marL="0" rtl="0" algn="l">
              <a:spcBef>
                <a:spcPts val="0"/>
              </a:spcBef>
              <a:spcAft>
                <a:spcPts val="0"/>
              </a:spcAft>
              <a:buNone/>
            </a:pPr>
            <a:r>
              <a:t/>
            </a:r>
            <a:endParaRPr sz="1800"/>
          </a:p>
          <a:p>
            <a:pPr indent="-342900" lvl="0" marL="457200" rtl="0" algn="l">
              <a:spcBef>
                <a:spcPts val="0"/>
              </a:spcBef>
              <a:spcAft>
                <a:spcPts val="0"/>
              </a:spcAft>
              <a:buSzPts val="1800"/>
              <a:buChar char="-"/>
            </a:pPr>
            <a:r>
              <a:rPr lang="en" sz="1800" strike="sngStrike"/>
              <a:t>16GB GPU VRAM Limits Model Size </a:t>
            </a:r>
            <a:endParaRPr sz="1800" strike="sngStrike"/>
          </a:p>
          <a:p>
            <a:pPr indent="-342900" lvl="1" marL="914400" rtl="0" algn="l">
              <a:spcBef>
                <a:spcPts val="0"/>
              </a:spcBef>
              <a:spcAft>
                <a:spcPts val="0"/>
              </a:spcAft>
              <a:buSzPts val="1800"/>
              <a:buChar char="-"/>
            </a:pPr>
            <a:r>
              <a:rPr lang="en" sz="1800" strike="sngStrike"/>
              <a:t>Approximate 8B limit</a:t>
            </a:r>
            <a:endParaRPr sz="1800" strike="sngStrike"/>
          </a:p>
          <a:p>
            <a:pPr indent="-342900" lvl="1" marL="914400" rtl="0" algn="l">
              <a:spcBef>
                <a:spcPts val="0"/>
              </a:spcBef>
              <a:spcAft>
                <a:spcPts val="0"/>
              </a:spcAft>
              <a:buSzPts val="1800"/>
              <a:buChar char="-"/>
            </a:pPr>
            <a:r>
              <a:rPr lang="en" sz="1800" strike="sngStrike"/>
              <a:t>Mitigation: Testing Quantization Reductions</a:t>
            </a:r>
            <a:endParaRPr sz="1800" strike="sngStrike"/>
          </a:p>
          <a:p>
            <a:pPr indent="0" lvl="0" marL="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No way to test software on robot without full deployment</a:t>
            </a:r>
            <a:endParaRPr sz="1800"/>
          </a:p>
          <a:p>
            <a:pPr indent="0" lvl="0" marL="457200" rtl="0" algn="l">
              <a:spcBef>
                <a:spcPts val="0"/>
              </a:spcBef>
              <a:spcAft>
                <a:spcPts val="0"/>
              </a:spcAft>
              <a:buNone/>
            </a:pPr>
            <a:r>
              <a:t/>
            </a:r>
            <a:endParaRPr sz="1800"/>
          </a:p>
          <a:p>
            <a:pPr indent="0" lvl="0" marL="0" rtl="0" algn="l">
              <a:spcBef>
                <a:spcPts val="0"/>
              </a:spcBef>
              <a:spcAft>
                <a:spcPts val="0"/>
              </a:spcAft>
              <a:buNone/>
            </a:pPr>
            <a:r>
              <a:t/>
            </a:r>
            <a:endParaRPr b="1" sz="1800"/>
          </a:p>
          <a:p>
            <a:pPr indent="0" lvl="0" marL="0" rtl="0" algn="l">
              <a:spcBef>
                <a:spcPts val="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7" name="Shape 437"/>
        <p:cNvGrpSpPr/>
        <p:nvPr/>
      </p:nvGrpSpPr>
      <p:grpSpPr>
        <a:xfrm>
          <a:off x="0" y="0"/>
          <a:ext cx="0" cy="0"/>
          <a:chOff x="0" y="0"/>
          <a:chExt cx="0" cy="0"/>
        </a:xfrm>
      </p:grpSpPr>
      <p:sp>
        <p:nvSpPr>
          <p:cNvPr id="438" name="Google Shape;438;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Future Work</a:t>
            </a:r>
            <a:endParaRPr/>
          </a:p>
        </p:txBody>
      </p:sp>
      <p:sp>
        <p:nvSpPr>
          <p:cNvPr id="439" name="Google Shape;439;p38"/>
          <p:cNvSpPr txBox="1"/>
          <p:nvPr>
            <p:ph idx="12" type="sldNum"/>
          </p:nvPr>
        </p:nvSpPr>
        <p:spPr>
          <a:xfrm>
            <a:off x="8595308" y="47430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440" name="Google Shape;440;p38"/>
          <p:cNvSpPr txBox="1"/>
          <p:nvPr>
            <p:ph idx="1" type="body"/>
          </p:nvPr>
        </p:nvSpPr>
        <p:spPr>
          <a:xfrm>
            <a:off x="660975" y="1073500"/>
            <a:ext cx="79344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sz="1800"/>
              <a:t>Dataset </a:t>
            </a:r>
            <a:r>
              <a:rPr lang="en" sz="1800"/>
              <a:t>Expansion</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Model Evaluation Pipeline</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Prompt Tuning</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Object Detection Integration</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Comprehensive Pipeline Testing</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Docker Image Development</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I Tech F23 Template">
  <a:themeElements>
    <a:clrScheme name="Simple Light">
      <a:dk1>
        <a:srgbClr val="000000"/>
      </a:dk1>
      <a:lt1>
        <a:srgbClr val="FFFFFF"/>
      </a:lt1>
      <a:dk2>
        <a:srgbClr val="132C3E"/>
      </a:dk2>
      <a:lt2>
        <a:srgbClr val="EEEEEE"/>
      </a:lt2>
      <a:accent1>
        <a:srgbClr val="2F7F6F"/>
      </a:accent1>
      <a:accent2>
        <a:srgbClr val="67D7B6"/>
      </a:accent2>
      <a:accent3>
        <a:srgbClr val="204E5D"/>
      </a:accent3>
      <a:accent4>
        <a:srgbClr val="5ABE72"/>
      </a:accent4>
      <a:accent5>
        <a:srgbClr val="2071DE"/>
      </a:accent5>
      <a:accent6>
        <a:srgbClr val="FF514A"/>
      </a:accent6>
      <a:hlink>
        <a:srgbClr val="2F7F6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