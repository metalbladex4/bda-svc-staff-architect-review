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Fira Sans"/>
      <p:regular r:id="rId24"/>
      <p:bold r:id="rId25"/>
      <p:italic r:id="rId26"/>
      <p:boldItalic r:id="rId27"/>
    </p:embeddedFont>
    <p:embeddedFont>
      <p:font typeface="Quattrocento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FiraSans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-italic.fntdata"/><Relationship Id="rId25" Type="http://schemas.openxmlformats.org/officeDocument/2006/relationships/font" Target="fonts/FiraSans-bold.fntdata"/><Relationship Id="rId28" Type="http://schemas.openxmlformats.org/officeDocument/2006/relationships/font" Target="fonts/QuattrocentoSans-regular.fntdata"/><Relationship Id="rId27" Type="http://schemas.openxmlformats.org/officeDocument/2006/relationships/font" Target="fonts/Fira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ttrocento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attrocentoSans-boldItalic.fntdata"/><Relationship Id="rId30" Type="http://schemas.openxmlformats.org/officeDocument/2006/relationships/font" Target="fonts/Quattrocento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3f8ab9a5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c3f8ab9a5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3f8ab9a5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c3f8ab9a5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3f8ab9a5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c3f8ab9a5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3f8ab9a5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c3f8ab9a5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nick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3f8ab9a5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3f8ab9a5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system automates Phase 1 of the BDA process and includes limited Phase 2 functionality when the image supports it. This slide shows that transformation: raw image in, structured JSON assessment out, with categories, labels, and confidence scores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449aa83f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449aa83f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goal is to collect representative data reflecting real world conditions, variations and edge cases the model will face. Pictures will come from everywhere, drone, satellite, ground-level, as well as different zoom and distances.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current collection goal is 50 images, however we intend to expand to at least 250 and reach greater heights around the 1000 image mark.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pictures we are collecting will be diverse and will show different situations that can simulate the chaotic nature of war.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Finally we as a group will validate the images and grade them, to allow a baseline criteria.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3f8ab9a5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c3f8ab9a5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3f8ab9a51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c3f8ab9a5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3f8ab9a51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c3f8ab9a51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3f8ab9a51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c3f8ab9a5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3f8ab9a51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c3f8ab9a5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449aa83fe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c449aa83fe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14752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5E4C"/>
              </a:buClr>
              <a:buSzPts val="5200"/>
              <a:buNone/>
              <a:defRPr sz="5200">
                <a:solidFill>
                  <a:srgbClr val="125E4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5802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1639" y="542775"/>
            <a:ext cx="1440725" cy="52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0" y="4697575"/>
            <a:ext cx="9144000" cy="44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ail()">
  <p:cSld name="CUSTOM">
    <p:bg>
      <p:bgPr>
        <a:solidFill>
          <a:schemeClr val="l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49731" y="2274428"/>
            <a:ext cx="1644550" cy="594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5E4C"/>
              </a:buClr>
              <a:buSzPts val="4800"/>
              <a:buNone/>
              <a:defRPr sz="4800">
                <a:solidFill>
                  <a:srgbClr val="125E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5E4C"/>
              </a:buClr>
              <a:buSzPts val="4200"/>
              <a:buNone/>
              <a:defRPr sz="4200">
                <a:solidFill>
                  <a:srgbClr val="125E4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42898" y="171450"/>
            <a:ext cx="8458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b="0" i="0" sz="36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42898" y="1085849"/>
            <a:ext cx="84582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736275"/>
            <a:ext cx="9420300" cy="407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                 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r>
              <a:rPr lang="en" sz="1200"/>
              <a:t>6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 Technicians - Capstone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ira Sans"/>
              <a:buChar char="●"/>
              <a:defRPr b="0" i="0" sz="18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17689" y="4850612"/>
            <a:ext cx="493400" cy="17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311708" y="14752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VLMs for Autonomous Battle Damage Assessment (BDA)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End-Phase I</a:t>
            </a:r>
            <a:endParaRPr/>
          </a:p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311700" y="35802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91"/>
              <a:buNone/>
            </a:pPr>
            <a:r>
              <a:rPr lang="en"/>
              <a:t>FEB 9, 2026</a:t>
            </a:r>
            <a:endParaRPr/>
          </a:p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VLMs for Autonomous Battle Damage Assessment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Project Overview: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Background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Data Engineering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Modeling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Software Design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Challenges</a:t>
            </a:r>
            <a:endParaRPr/>
          </a:p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4121588" y="1152475"/>
            <a:ext cx="4710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Team Members:</a:t>
            </a:r>
            <a:r>
              <a:rPr lang="en"/>
              <a:t>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William Benitez:	  Prompt Engineer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Carlos Gil: 		  Software Developer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Nicholas Lind: 	  Data Engineer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Benjamin Siegel:   ML Engineer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Cory Wingate: 	  Project Manager/DevOps</a:t>
            </a:r>
            <a:endParaRPr/>
          </a:p>
          <a:p>
            <a:pPr indent="0" lvl="0" marL="0" rtl="0" algn="l">
              <a:lnSpc>
                <a:spcPct val="1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AI2C Scholar and Mentors:</a:t>
            </a:r>
            <a:r>
              <a:rPr lang="en"/>
              <a:t>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Jesse Barkley:        AI Scholar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Derrik</a:t>
            </a:r>
            <a:r>
              <a:rPr lang="en"/>
              <a:t> Asher:         Army Research Lab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Jason Pusey:          Army Research Lab</a:t>
            </a:r>
            <a:endParaRPr b="1"/>
          </a:p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4083600" y="1017725"/>
            <a:ext cx="4748700" cy="34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Battle Damage Assessment (BDA) “provides the timely and accurate </a:t>
            </a: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estimate of damage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resulting from the </a:t>
            </a: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of lethal and nonlethal military force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.”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for Combat Assessment - Joint Staff)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Human Analyst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Slow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Dangerous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Inconsistent, Not Standardized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7" title="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79163"/>
            <a:ext cx="3571425" cy="279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Background - Current </a:t>
            </a:r>
            <a:r>
              <a:rPr lang="en"/>
              <a:t>Methodology</a:t>
            </a:r>
            <a:endParaRPr/>
          </a:p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18" title="Model Desig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600" y="1017725"/>
            <a:ext cx="5380803" cy="20466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93300" y="3436825"/>
            <a:ext cx="83574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#1: 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Vague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doctrinal adherence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#2: How good is the model?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#3: Jupyter Notebooks…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Proposed Solution</a:t>
            </a:r>
            <a:endParaRPr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017725"/>
            <a:ext cx="8357400" cy="35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are objectively </a:t>
            </a:r>
            <a:r>
              <a:rPr b="1"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evaluating</a:t>
            </a:r>
            <a:r>
              <a:rPr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VLM-generated BDAs using </a:t>
            </a:r>
            <a:r>
              <a:rPr b="1"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open-source data</a:t>
            </a:r>
            <a:r>
              <a:rPr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as well as developing a </a:t>
            </a:r>
            <a:r>
              <a:rPr b="1"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portable environment</a:t>
            </a:r>
            <a:r>
              <a:rPr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create VLM-generated BDAs on edge devices operating within </a:t>
            </a:r>
            <a:r>
              <a:rPr b="1"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environments</a:t>
            </a:r>
            <a:r>
              <a:rPr lang="en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Requirements For BDA</a:t>
            </a:r>
            <a:endParaRPr/>
          </a:p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20" title="image_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774850" cy="357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/>
          <p:nvPr/>
        </p:nvSpPr>
        <p:spPr>
          <a:xfrm>
            <a:off x="6242700" y="2319673"/>
            <a:ext cx="2589600" cy="112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Fira Sans"/>
              <a:buChar char="●"/>
            </a:pPr>
            <a:r>
              <a:rPr lang="en">
                <a:latin typeface="Fira Sans"/>
                <a:ea typeface="Fira Sans"/>
                <a:cs typeface="Fira Sans"/>
                <a:sym typeface="Fira Sans"/>
              </a:rPr>
              <a:t>Target-Element Level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Fira Sans"/>
              <a:buChar char="●"/>
            </a:pPr>
            <a:r>
              <a:rPr lang="en">
                <a:latin typeface="Fira Sans"/>
                <a:ea typeface="Fira Sans"/>
                <a:cs typeface="Fira Sans"/>
                <a:sym typeface="Fira Sans"/>
              </a:rPr>
              <a:t>Damage Category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Fira Sans"/>
              <a:buChar char="●"/>
            </a:pPr>
            <a:r>
              <a:rPr lang="en">
                <a:latin typeface="Fira Sans"/>
                <a:ea typeface="Fira Sans"/>
                <a:cs typeface="Fira Sans"/>
                <a:sym typeface="Fira Sans"/>
              </a:rPr>
              <a:t>Confidence Level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" name="Google Shape;107;p20"/>
          <p:cNvSpPr/>
          <p:nvPr/>
        </p:nvSpPr>
        <p:spPr>
          <a:xfrm rot="2290852">
            <a:off x="5524971" y="2798357"/>
            <a:ext cx="285855" cy="1497785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6037500" y="3671425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“One vehicle is assessed as DESTROYED (CONFIRMED)”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Requirements For BDA</a:t>
            </a:r>
            <a:endParaRPr/>
          </a:p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21" title="image_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774850" cy="357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/>
          <p:nvPr/>
        </p:nvSpPr>
        <p:spPr>
          <a:xfrm>
            <a:off x="6056100" y="1726075"/>
            <a:ext cx="2794800" cy="112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Fira Sans"/>
              <a:buChar char="●"/>
            </a:pPr>
            <a:r>
              <a:rPr lang="en">
                <a:latin typeface="Fira Sans"/>
                <a:ea typeface="Fira Sans"/>
                <a:cs typeface="Fira Sans"/>
                <a:sym typeface="Fira Sans"/>
              </a:rPr>
              <a:t>Scene </a:t>
            </a:r>
            <a:r>
              <a:rPr lang="en">
                <a:latin typeface="Fira Sans"/>
                <a:ea typeface="Fira Sans"/>
                <a:cs typeface="Fira Sans"/>
                <a:sym typeface="Fira Sans"/>
              </a:rPr>
              <a:t>Level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Fira Sans"/>
              <a:buChar char="●"/>
            </a:pPr>
            <a:r>
              <a:rPr lang="en">
                <a:latin typeface="Fira Sans"/>
                <a:ea typeface="Fira Sans"/>
                <a:cs typeface="Fira Sans"/>
                <a:sym typeface="Fira Sans"/>
              </a:rPr>
              <a:t>Functional Damage Level</a:t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" name="Google Shape;117;p21"/>
          <p:cNvSpPr/>
          <p:nvPr/>
        </p:nvSpPr>
        <p:spPr>
          <a:xfrm rot="2290852">
            <a:off x="5450499" y="2359658"/>
            <a:ext cx="285855" cy="1278132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5763000" y="3223450"/>
            <a:ext cx="33810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“The target is assessed as having SEVERE FUNCTIONAL DAMAGE, indicating a significant degradation in its ability to perform its intended mission.”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Requirements For BDA</a:t>
            </a:r>
            <a:endParaRPr/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" name="Google Shape;125;p22" title="image_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774850" cy="357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6100425" y="1017725"/>
            <a:ext cx="2794800" cy="112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Fira Sans"/>
              <a:buChar char="●"/>
            </a:pPr>
            <a:r>
              <a:rPr lang="en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Recuperation Time</a:t>
            </a:r>
            <a:endParaRPr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Fira Sans"/>
              <a:buChar char="●"/>
            </a:pPr>
            <a:r>
              <a:rPr lang="en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Re-Attack Rec.</a:t>
            </a:r>
            <a:endParaRPr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Fira Sans"/>
              <a:buChar char="●"/>
            </a:pPr>
            <a:r>
              <a:rPr lang="en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Task Assessment</a:t>
            </a:r>
            <a:endParaRPr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7" name="Google Shape;127;p22"/>
          <p:cNvSpPr/>
          <p:nvPr/>
        </p:nvSpPr>
        <p:spPr>
          <a:xfrm rot="2290852">
            <a:off x="5450624" y="1545208"/>
            <a:ext cx="285855" cy="1278132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5763000" y="3223450"/>
            <a:ext cx="33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Requires Mission Context (OPORD)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23" title="Screenshot 2026-02-04 at 10.44.0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3150" y="1148712"/>
            <a:ext cx="2727391" cy="313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 title="0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925" y="1476969"/>
            <a:ext cx="3166824" cy="247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/>
          <p:nvPr/>
        </p:nvSpPr>
        <p:spPr>
          <a:xfrm rot="5403607">
            <a:off x="4599225" y="1946100"/>
            <a:ext cx="285900" cy="15372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43" name="Google Shape;143;p24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4" name="Google Shape;144;p24" title="Screenshot 2026-02-06 17152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5" y="1017725"/>
            <a:ext cx="9048750" cy="357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Modeling</a:t>
            </a:r>
            <a:endParaRPr/>
          </a:p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1" name="Google Shape;151;p25" title="fig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025" y="978402"/>
            <a:ext cx="6469951" cy="372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51025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157" name="Google Shape;157;p26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6"/>
          <p:cNvSpPr txBox="1"/>
          <p:nvPr/>
        </p:nvSpPr>
        <p:spPr>
          <a:xfrm>
            <a:off x="9629100" y="2848375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59" name="Google Shape;159;p26" title="asd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8000" y="1065413"/>
            <a:ext cx="3387049" cy="318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fig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5043200" cy="2962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66" name="Google Shape;166;p27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7" name="Google Shape;167;p27" title="fig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625" y="1224677"/>
            <a:ext cx="3592174" cy="2694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7" title="fig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025" y="1224675"/>
            <a:ext cx="3592174" cy="269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/>
          <p:nvPr/>
        </p:nvSpPr>
        <p:spPr>
          <a:xfrm>
            <a:off x="705750" y="3005850"/>
            <a:ext cx="7732500" cy="284700"/>
          </a:xfrm>
          <a:prstGeom prst="rect">
            <a:avLst/>
          </a:prstGeom>
          <a:solidFill>
            <a:srgbClr val="ECFDF5"/>
          </a:solidFill>
          <a:ln cap="flat" cmpd="sng" w="85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/>
              <a:t>Docker Runtime</a:t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8"/>
          <p:cNvSpPr txBox="1"/>
          <p:nvPr>
            <p:ph idx="12" type="sldNum"/>
          </p:nvPr>
        </p:nvSpPr>
        <p:spPr>
          <a:xfrm>
            <a:off x="8595301" y="4776204"/>
            <a:ext cx="548700" cy="33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28"/>
          <p:cNvSpPr/>
          <p:nvPr/>
        </p:nvSpPr>
        <p:spPr>
          <a:xfrm>
            <a:off x="705750" y="1104880"/>
            <a:ext cx="7732500" cy="1867200"/>
          </a:xfrm>
          <a:prstGeom prst="rect">
            <a:avLst/>
          </a:prstGeom>
          <a:solidFill>
            <a:srgbClr val="ECFDF5"/>
          </a:solidFill>
          <a:ln cap="flat" cmpd="sng" w="85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705750" y="1104925"/>
            <a:ext cx="1379400" cy="1867200"/>
          </a:xfrm>
          <a:prstGeom prst="rect">
            <a:avLst/>
          </a:prstGeom>
          <a:solidFill>
            <a:srgbClr val="B6D7A8"/>
          </a:solidFill>
          <a:ln cap="flat" cmpd="sng" w="85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2207654" y="1576577"/>
            <a:ext cx="1113900" cy="5823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2115625" y="1625625"/>
            <a:ext cx="12978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4"/>
              <a:buFont typeface="Calibri"/>
              <a:buNone/>
            </a:pPr>
            <a:r>
              <a:rPr b="1" lang="en" sz="1204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Executable / CLI</a:t>
            </a:r>
            <a:endParaRPr sz="12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2244425" y="2199584"/>
            <a:ext cx="10401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12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Self-contained with software and model</a:t>
            </a:r>
            <a:endParaRPr sz="12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3443875" y="1576577"/>
            <a:ext cx="1113900" cy="5823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3517438" y="1625619"/>
            <a:ext cx="9666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4"/>
              <a:buFont typeface="Calibri"/>
              <a:buNone/>
            </a:pPr>
            <a:r>
              <a:rPr b="1" lang="en" sz="1204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Validate + Access</a:t>
            </a:r>
            <a:endParaRPr sz="12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8"/>
          <p:cNvSpPr/>
          <p:nvPr/>
        </p:nvSpPr>
        <p:spPr>
          <a:xfrm>
            <a:off x="3262150" y="2200313"/>
            <a:ext cx="14772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12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Read input folder</a:t>
            </a:r>
            <a:endParaRPr sz="12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12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Write output folder</a:t>
            </a:r>
            <a:endParaRPr sz="12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28"/>
          <p:cNvCxnSpPr>
            <a:stCxn id="181" idx="3"/>
          </p:cNvCxnSpPr>
          <p:nvPr/>
        </p:nvCxnSpPr>
        <p:spPr>
          <a:xfrm>
            <a:off x="4484038" y="1867719"/>
            <a:ext cx="183900" cy="0"/>
          </a:xfrm>
          <a:prstGeom prst="straightConnector1">
            <a:avLst/>
          </a:prstGeom>
          <a:noFill/>
          <a:ln cap="flat" cmpd="sng" w="170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" name="Google Shape;184;p28"/>
          <p:cNvSpPr/>
          <p:nvPr/>
        </p:nvSpPr>
        <p:spPr>
          <a:xfrm>
            <a:off x="4680096" y="1576577"/>
            <a:ext cx="1113900" cy="5823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4753658" y="1625619"/>
            <a:ext cx="9666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4"/>
              <a:buFont typeface="Calibri"/>
              <a:buNone/>
            </a:pPr>
            <a:r>
              <a:rPr b="1" lang="en" sz="1204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Preprocess Targets</a:t>
            </a:r>
            <a:endParaRPr sz="12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28"/>
          <p:cNvCxnSpPr>
            <a:stCxn id="185" idx="3"/>
          </p:cNvCxnSpPr>
          <p:nvPr/>
        </p:nvCxnSpPr>
        <p:spPr>
          <a:xfrm>
            <a:off x="5720258" y="1867719"/>
            <a:ext cx="183900" cy="0"/>
          </a:xfrm>
          <a:prstGeom prst="straightConnector1">
            <a:avLst/>
          </a:prstGeom>
          <a:noFill/>
          <a:ln cap="flat" cmpd="sng" w="170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7" name="Google Shape;187;p28"/>
          <p:cNvSpPr/>
          <p:nvPr/>
        </p:nvSpPr>
        <p:spPr>
          <a:xfrm>
            <a:off x="5916316" y="1576577"/>
            <a:ext cx="1113900" cy="5823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5989879" y="1625619"/>
            <a:ext cx="9666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4"/>
              <a:buFont typeface="Calibri"/>
              <a:buNone/>
            </a:pPr>
            <a:r>
              <a:rPr b="1" lang="en" sz="1204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VLM Output</a:t>
            </a:r>
            <a:endParaRPr sz="12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5953098" y="2207990"/>
            <a:ext cx="1040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12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BDA Analysis</a:t>
            </a:r>
            <a:endParaRPr sz="12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28"/>
          <p:cNvCxnSpPr>
            <a:stCxn id="188" idx="3"/>
          </p:cNvCxnSpPr>
          <p:nvPr/>
        </p:nvCxnSpPr>
        <p:spPr>
          <a:xfrm>
            <a:off x="6956479" y="1867719"/>
            <a:ext cx="183900" cy="0"/>
          </a:xfrm>
          <a:prstGeom prst="straightConnector1">
            <a:avLst/>
          </a:prstGeom>
          <a:noFill/>
          <a:ln cap="flat" cmpd="sng" w="170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" name="Google Shape;191;p28"/>
          <p:cNvSpPr/>
          <p:nvPr/>
        </p:nvSpPr>
        <p:spPr>
          <a:xfrm>
            <a:off x="7152537" y="1576577"/>
            <a:ext cx="1113900" cy="5823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7226100" y="1625619"/>
            <a:ext cx="9666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4"/>
              <a:buFont typeface="Calibri"/>
              <a:buNone/>
            </a:pPr>
            <a:r>
              <a:rPr b="1" lang="en" sz="1204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 sz="12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7189318" y="2207990"/>
            <a:ext cx="1040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12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JSON Output</a:t>
            </a:r>
            <a:endParaRPr sz="12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705750" y="1127275"/>
            <a:ext cx="773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Robotic Platform</a:t>
            </a:r>
            <a:endParaRPr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5" name="Google Shape;19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Software Deliverable</a:t>
            </a:r>
            <a:endParaRPr/>
          </a:p>
        </p:txBody>
      </p:sp>
      <p:pic>
        <p:nvPicPr>
          <p:cNvPr id="196" name="Google Shape;1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0888" y="3029804"/>
            <a:ext cx="905576" cy="23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8"/>
          <p:cNvSpPr/>
          <p:nvPr/>
        </p:nvSpPr>
        <p:spPr>
          <a:xfrm>
            <a:off x="705750" y="3324325"/>
            <a:ext cx="7732500" cy="714300"/>
          </a:xfrm>
          <a:prstGeom prst="rect">
            <a:avLst/>
          </a:prstGeom>
          <a:solidFill>
            <a:srgbClr val="ECFDF5"/>
          </a:solidFill>
          <a:ln cap="flat" cmpd="sng" w="85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7"/>
              <a:t>NVIDIA Jetson</a:t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9325" y="1688125"/>
            <a:ext cx="612247" cy="7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9338" y="3381325"/>
            <a:ext cx="548700" cy="57727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8"/>
          <p:cNvSpPr/>
          <p:nvPr/>
        </p:nvSpPr>
        <p:spPr>
          <a:xfrm>
            <a:off x="4716873" y="2207970"/>
            <a:ext cx="1040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12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Prompt input</a:t>
            </a:r>
            <a:endParaRPr sz="12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p28"/>
          <p:cNvCxnSpPr>
            <a:endCxn id="181" idx="1"/>
          </p:cNvCxnSpPr>
          <p:nvPr/>
        </p:nvCxnSpPr>
        <p:spPr>
          <a:xfrm>
            <a:off x="3308638" y="1867719"/>
            <a:ext cx="208800" cy="0"/>
          </a:xfrm>
          <a:prstGeom prst="straightConnector1">
            <a:avLst/>
          </a:prstGeom>
          <a:noFill/>
          <a:ln cap="flat" cmpd="sng" w="170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29"/>
          <p:cNvSpPr txBox="1"/>
          <p:nvPr>
            <p:ph idx="1" type="body"/>
          </p:nvPr>
        </p:nvSpPr>
        <p:spPr>
          <a:xfrm>
            <a:off x="660975" y="1073500"/>
            <a:ext cx="793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No publicly available labeled dataset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Limited access to robotic platform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Edge platform hardware limits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>
            <p:ph type="title"/>
          </p:nvPr>
        </p:nvSpPr>
        <p:spPr>
          <a:xfrm>
            <a:off x="185875" y="1999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214" name="Google Shape;214;p30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311700" y="1901550"/>
            <a:ext cx="8520600" cy="13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Hidden Slides</a:t>
            </a:r>
            <a:endParaRPr/>
          </a:p>
        </p:txBody>
      </p:sp>
      <p:sp>
        <p:nvSpPr>
          <p:cNvPr id="220" name="Google Shape;220;p31"/>
          <p:cNvSpPr txBox="1"/>
          <p:nvPr>
            <p:ph idx="12" type="sldNum"/>
          </p:nvPr>
        </p:nvSpPr>
        <p:spPr>
          <a:xfrm>
            <a:off x="8595308" y="4743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BDA Pipeline - Process Flow Diagram</a:t>
            </a:r>
            <a:endParaRPr/>
          </a:p>
        </p:txBody>
      </p:sp>
      <p:sp>
        <p:nvSpPr>
          <p:cNvPr id="226" name="Google Shape;226;p32"/>
          <p:cNvSpPr txBox="1"/>
          <p:nvPr>
            <p:ph idx="12" type="sldNum"/>
          </p:nvPr>
        </p:nvSpPr>
        <p:spPr>
          <a:xfrm>
            <a:off x="8595301" y="4589304"/>
            <a:ext cx="548700" cy="33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2"/>
          <p:cNvSpPr/>
          <p:nvPr/>
        </p:nvSpPr>
        <p:spPr>
          <a:xfrm>
            <a:off x="506050" y="1009659"/>
            <a:ext cx="7732500" cy="1317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2"/>
          <p:cNvSpPr/>
          <p:nvPr/>
        </p:nvSpPr>
        <p:spPr>
          <a:xfrm>
            <a:off x="506050" y="1009659"/>
            <a:ext cx="1379400" cy="1317900"/>
          </a:xfrm>
          <a:prstGeom prst="rect">
            <a:avLst/>
          </a:prstGeom>
          <a:solidFill>
            <a:srgbClr val="F9CB9C"/>
          </a:solidFill>
          <a:ln cap="flat" cmpd="sng" w="85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598003" y="1162915"/>
            <a:ext cx="1195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3"/>
              <a:buFont typeface="Calibri"/>
              <a:buNone/>
            </a:pPr>
            <a:r>
              <a:rPr b="1" lang="en" sz="1073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Research / Testing</a:t>
            </a:r>
            <a:endParaRPr sz="107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2"/>
          <p:cNvSpPr/>
          <p:nvPr/>
        </p:nvSpPr>
        <p:spPr>
          <a:xfrm>
            <a:off x="598003" y="1411859"/>
            <a:ext cx="1195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None/>
            </a:pPr>
            <a:r>
              <a:rPr b="1" lang="en" sz="737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Iterate to validate</a:t>
            </a:r>
            <a:endParaRPr b="1" sz="737">
              <a:solidFill>
                <a:srgbClr val="00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None/>
            </a:pPr>
            <a:r>
              <a:rPr b="1" lang="en" sz="737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end-to-end behavior</a:t>
            </a:r>
            <a:endParaRPr b="1" sz="737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None/>
            </a:pPr>
            <a:r>
              <a:t/>
            </a:r>
            <a:endParaRPr b="1" sz="737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None/>
            </a:pPr>
            <a:r>
              <a:rPr lang="en" sz="737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Start VLM-only baseline</a:t>
            </a:r>
            <a:endParaRPr sz="7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None/>
            </a:pPr>
            <a:r>
              <a:rPr lang="en" sz="737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Then add object detection</a:t>
            </a:r>
            <a:endParaRPr sz="7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None/>
            </a:pPr>
            <a:r>
              <a:rPr lang="en" sz="737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Refine prompts/templates</a:t>
            </a:r>
            <a:endParaRPr sz="7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2"/>
          <p:cNvSpPr/>
          <p:nvPr/>
        </p:nvSpPr>
        <p:spPr>
          <a:xfrm>
            <a:off x="2007954" y="1224217"/>
            <a:ext cx="1113900" cy="5823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2"/>
          <p:cNvSpPr/>
          <p:nvPr/>
        </p:nvSpPr>
        <p:spPr>
          <a:xfrm>
            <a:off x="2081517" y="1273259"/>
            <a:ext cx="9666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4"/>
              <a:buFont typeface="Calibri"/>
              <a:buNone/>
            </a:pPr>
            <a:r>
              <a:rPr b="1" lang="en" sz="804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CLI + Config</a:t>
            </a:r>
            <a:endParaRPr sz="8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2"/>
          <p:cNvSpPr/>
          <p:nvPr/>
        </p:nvSpPr>
        <p:spPr>
          <a:xfrm>
            <a:off x="2044736" y="1855630"/>
            <a:ext cx="1040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Select VLM + prompt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via text config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32"/>
          <p:cNvCxnSpPr>
            <a:stCxn id="232" idx="3"/>
          </p:cNvCxnSpPr>
          <p:nvPr/>
        </p:nvCxnSpPr>
        <p:spPr>
          <a:xfrm>
            <a:off x="3048117" y="1515359"/>
            <a:ext cx="183900" cy="0"/>
          </a:xfrm>
          <a:prstGeom prst="straightConnector1">
            <a:avLst/>
          </a:prstGeom>
          <a:noFill/>
          <a:ln cap="flat" cmpd="sng" w="170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" name="Google Shape;235;p32"/>
          <p:cNvSpPr/>
          <p:nvPr/>
        </p:nvSpPr>
        <p:spPr>
          <a:xfrm>
            <a:off x="3244175" y="1224217"/>
            <a:ext cx="1113900" cy="5823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2"/>
          <p:cNvSpPr/>
          <p:nvPr/>
        </p:nvSpPr>
        <p:spPr>
          <a:xfrm>
            <a:off x="3317738" y="1273259"/>
            <a:ext cx="9666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4"/>
              <a:buFont typeface="Calibri"/>
              <a:buNone/>
            </a:pPr>
            <a:r>
              <a:rPr b="1" lang="en" sz="804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Validate Input</a:t>
            </a:r>
            <a:endParaRPr sz="8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2"/>
          <p:cNvSpPr/>
          <p:nvPr/>
        </p:nvSpPr>
        <p:spPr>
          <a:xfrm>
            <a:off x="3280956" y="1855630"/>
            <a:ext cx="1040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Folders + usage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JPG/PNG/GIF/TIFF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32"/>
          <p:cNvCxnSpPr>
            <a:stCxn id="236" idx="3"/>
          </p:cNvCxnSpPr>
          <p:nvPr/>
        </p:nvCxnSpPr>
        <p:spPr>
          <a:xfrm>
            <a:off x="4284338" y="1515359"/>
            <a:ext cx="183900" cy="0"/>
          </a:xfrm>
          <a:prstGeom prst="straightConnector1">
            <a:avLst/>
          </a:prstGeom>
          <a:noFill/>
          <a:ln cap="flat" cmpd="sng" w="170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" name="Google Shape;239;p32"/>
          <p:cNvSpPr/>
          <p:nvPr/>
        </p:nvSpPr>
        <p:spPr>
          <a:xfrm>
            <a:off x="4480396" y="1224217"/>
            <a:ext cx="1113900" cy="5823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2"/>
          <p:cNvSpPr/>
          <p:nvPr/>
        </p:nvSpPr>
        <p:spPr>
          <a:xfrm>
            <a:off x="4553958" y="1273259"/>
            <a:ext cx="9666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4"/>
              <a:buFont typeface="Calibri"/>
              <a:buNone/>
            </a:pPr>
            <a:r>
              <a:rPr b="1" lang="en" sz="804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Preprocess</a:t>
            </a:r>
            <a:endParaRPr sz="8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2"/>
          <p:cNvSpPr/>
          <p:nvPr/>
        </p:nvSpPr>
        <p:spPr>
          <a:xfrm>
            <a:off x="4517177" y="1855630"/>
            <a:ext cx="1040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Object extraction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Quality checks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Log &amp; continue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32"/>
          <p:cNvCxnSpPr>
            <a:stCxn id="240" idx="3"/>
          </p:cNvCxnSpPr>
          <p:nvPr/>
        </p:nvCxnSpPr>
        <p:spPr>
          <a:xfrm>
            <a:off x="5520558" y="1515359"/>
            <a:ext cx="183900" cy="0"/>
          </a:xfrm>
          <a:prstGeom prst="straightConnector1">
            <a:avLst/>
          </a:prstGeom>
          <a:noFill/>
          <a:ln cap="flat" cmpd="sng" w="170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" name="Google Shape;243;p32"/>
          <p:cNvSpPr/>
          <p:nvPr/>
        </p:nvSpPr>
        <p:spPr>
          <a:xfrm>
            <a:off x="5716616" y="1224217"/>
            <a:ext cx="1113900" cy="5823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2"/>
          <p:cNvSpPr/>
          <p:nvPr/>
        </p:nvSpPr>
        <p:spPr>
          <a:xfrm>
            <a:off x="5790179" y="1273259"/>
            <a:ext cx="9666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4"/>
              <a:buFont typeface="Calibri"/>
              <a:buNone/>
            </a:pPr>
            <a:r>
              <a:rPr b="1" lang="en" sz="804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VLM Analysis</a:t>
            </a:r>
            <a:endParaRPr sz="8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2"/>
          <p:cNvSpPr/>
          <p:nvPr/>
        </p:nvSpPr>
        <p:spPr>
          <a:xfrm>
            <a:off x="5753398" y="1855630"/>
            <a:ext cx="1040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Assess physical +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functional damage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p32"/>
          <p:cNvCxnSpPr>
            <a:stCxn id="244" idx="3"/>
          </p:cNvCxnSpPr>
          <p:nvPr/>
        </p:nvCxnSpPr>
        <p:spPr>
          <a:xfrm>
            <a:off x="6756779" y="1515359"/>
            <a:ext cx="183900" cy="0"/>
          </a:xfrm>
          <a:prstGeom prst="straightConnector1">
            <a:avLst/>
          </a:prstGeom>
          <a:noFill/>
          <a:ln cap="flat" cmpd="sng" w="170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7" name="Google Shape;247;p32"/>
          <p:cNvSpPr/>
          <p:nvPr/>
        </p:nvSpPr>
        <p:spPr>
          <a:xfrm>
            <a:off x="6952837" y="1224217"/>
            <a:ext cx="1113900" cy="5823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2"/>
          <p:cNvSpPr/>
          <p:nvPr/>
        </p:nvSpPr>
        <p:spPr>
          <a:xfrm>
            <a:off x="7026400" y="1273259"/>
            <a:ext cx="9666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4"/>
              <a:buFont typeface="Calibri"/>
              <a:buNone/>
            </a:pPr>
            <a:r>
              <a:rPr b="1" lang="en" sz="804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JSON Output</a:t>
            </a:r>
            <a:endParaRPr sz="8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2"/>
          <p:cNvSpPr/>
          <p:nvPr/>
        </p:nvSpPr>
        <p:spPr>
          <a:xfrm>
            <a:off x="6989618" y="1855630"/>
            <a:ext cx="1040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Report: date, model,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damage, confidence,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observations, images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2"/>
          <p:cNvSpPr/>
          <p:nvPr/>
        </p:nvSpPr>
        <p:spPr>
          <a:xfrm>
            <a:off x="506050" y="2419609"/>
            <a:ext cx="7732500" cy="1317900"/>
          </a:xfrm>
          <a:prstGeom prst="rect">
            <a:avLst/>
          </a:prstGeom>
          <a:solidFill>
            <a:srgbClr val="ECFDF5"/>
          </a:solidFill>
          <a:ln cap="flat" cmpd="sng" w="85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2"/>
          <p:cNvSpPr/>
          <p:nvPr/>
        </p:nvSpPr>
        <p:spPr>
          <a:xfrm>
            <a:off x="506050" y="2419611"/>
            <a:ext cx="1379400" cy="1317900"/>
          </a:xfrm>
          <a:prstGeom prst="rect">
            <a:avLst/>
          </a:prstGeom>
          <a:solidFill>
            <a:srgbClr val="B6D7A8"/>
          </a:solidFill>
          <a:ln cap="flat" cmpd="sng" w="85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2"/>
          <p:cNvSpPr/>
          <p:nvPr/>
        </p:nvSpPr>
        <p:spPr>
          <a:xfrm>
            <a:off x="598003" y="2572866"/>
            <a:ext cx="1195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73"/>
              <a:buFont typeface="Calibri"/>
              <a:buNone/>
            </a:pPr>
            <a:r>
              <a:rPr b="1" lang="en" sz="1073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Deployed</a:t>
            </a:r>
            <a:endParaRPr sz="107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2"/>
          <p:cNvSpPr/>
          <p:nvPr/>
        </p:nvSpPr>
        <p:spPr>
          <a:xfrm>
            <a:off x="598003" y="2814335"/>
            <a:ext cx="1195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None/>
            </a:pPr>
            <a:r>
              <a:rPr b="1" lang="en" sz="737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Production execution</a:t>
            </a:r>
            <a:endParaRPr b="1" sz="737">
              <a:solidFill>
                <a:srgbClr val="00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None/>
            </a:pPr>
            <a:r>
              <a:rPr b="1" lang="en" sz="737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 b="1" sz="737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None/>
            </a:pPr>
            <a:r>
              <a:t/>
            </a:r>
            <a:endParaRPr b="1" sz="737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None/>
            </a:pPr>
            <a:r>
              <a:rPr lang="en" sz="737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.py file or container image</a:t>
            </a:r>
            <a:endParaRPr sz="7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None/>
            </a:pPr>
            <a:r>
              <a:rPr lang="en" sz="737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No network required</a:t>
            </a:r>
            <a:endParaRPr sz="7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None/>
            </a:pPr>
            <a:r>
              <a:rPr lang="en" sz="737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Console progress %</a:t>
            </a:r>
            <a:endParaRPr sz="7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2"/>
          <p:cNvSpPr/>
          <p:nvPr/>
        </p:nvSpPr>
        <p:spPr>
          <a:xfrm>
            <a:off x="2007954" y="2634169"/>
            <a:ext cx="1113900" cy="5823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2081517" y="2683211"/>
            <a:ext cx="9666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4"/>
              <a:buFont typeface="Calibri"/>
              <a:buNone/>
            </a:pPr>
            <a:r>
              <a:rPr b="1" lang="en" sz="804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Executable / CLI</a:t>
            </a:r>
            <a:endParaRPr sz="8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2"/>
          <p:cNvSpPr/>
          <p:nvPr/>
        </p:nvSpPr>
        <p:spPr>
          <a:xfrm>
            <a:off x="2044736" y="3265582"/>
            <a:ext cx="1040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system-wide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32"/>
          <p:cNvCxnSpPr>
            <a:stCxn id="255" idx="3"/>
          </p:cNvCxnSpPr>
          <p:nvPr/>
        </p:nvCxnSpPr>
        <p:spPr>
          <a:xfrm>
            <a:off x="3048117" y="2925311"/>
            <a:ext cx="183900" cy="0"/>
          </a:xfrm>
          <a:prstGeom prst="straightConnector1">
            <a:avLst/>
          </a:prstGeom>
          <a:noFill/>
          <a:ln cap="flat" cmpd="sng" w="170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8" name="Google Shape;258;p32"/>
          <p:cNvSpPr/>
          <p:nvPr/>
        </p:nvSpPr>
        <p:spPr>
          <a:xfrm>
            <a:off x="3244175" y="2634169"/>
            <a:ext cx="1113900" cy="5823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2"/>
          <p:cNvSpPr/>
          <p:nvPr/>
        </p:nvSpPr>
        <p:spPr>
          <a:xfrm>
            <a:off x="3317738" y="2683211"/>
            <a:ext cx="9666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4"/>
              <a:buFont typeface="Calibri"/>
              <a:buNone/>
            </a:pPr>
            <a:r>
              <a:rPr b="1" lang="en" sz="804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Validate + Access</a:t>
            </a:r>
            <a:endParaRPr sz="8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2"/>
          <p:cNvSpPr/>
          <p:nvPr/>
        </p:nvSpPr>
        <p:spPr>
          <a:xfrm>
            <a:off x="3280956" y="3265582"/>
            <a:ext cx="1040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Read input folder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Write output folder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32"/>
          <p:cNvCxnSpPr>
            <a:stCxn id="259" idx="3"/>
          </p:cNvCxnSpPr>
          <p:nvPr/>
        </p:nvCxnSpPr>
        <p:spPr>
          <a:xfrm>
            <a:off x="4284338" y="2925311"/>
            <a:ext cx="183900" cy="0"/>
          </a:xfrm>
          <a:prstGeom prst="straightConnector1">
            <a:avLst/>
          </a:prstGeom>
          <a:noFill/>
          <a:ln cap="flat" cmpd="sng" w="170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2" name="Google Shape;262;p32"/>
          <p:cNvSpPr/>
          <p:nvPr/>
        </p:nvSpPr>
        <p:spPr>
          <a:xfrm>
            <a:off x="4480396" y="2634169"/>
            <a:ext cx="1113900" cy="5823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2"/>
          <p:cNvSpPr/>
          <p:nvPr/>
        </p:nvSpPr>
        <p:spPr>
          <a:xfrm>
            <a:off x="4553958" y="2683211"/>
            <a:ext cx="9666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4"/>
              <a:buFont typeface="Calibri"/>
              <a:buNone/>
            </a:pPr>
            <a:r>
              <a:rPr b="1" lang="en" sz="804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Preprocess Target</a:t>
            </a:r>
            <a:endParaRPr sz="8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2"/>
          <p:cNvSpPr/>
          <p:nvPr/>
        </p:nvSpPr>
        <p:spPr>
          <a:xfrm>
            <a:off x="4517177" y="3265582"/>
            <a:ext cx="1040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&lt; 3s / image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(preprocessing)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32"/>
          <p:cNvCxnSpPr>
            <a:stCxn id="263" idx="3"/>
          </p:cNvCxnSpPr>
          <p:nvPr/>
        </p:nvCxnSpPr>
        <p:spPr>
          <a:xfrm>
            <a:off x="5520558" y="2925311"/>
            <a:ext cx="183900" cy="0"/>
          </a:xfrm>
          <a:prstGeom prst="straightConnector1">
            <a:avLst/>
          </a:prstGeom>
          <a:noFill/>
          <a:ln cap="flat" cmpd="sng" w="170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6" name="Google Shape;266;p32"/>
          <p:cNvSpPr/>
          <p:nvPr/>
        </p:nvSpPr>
        <p:spPr>
          <a:xfrm>
            <a:off x="5716616" y="2634169"/>
            <a:ext cx="1113900" cy="5823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2"/>
          <p:cNvSpPr/>
          <p:nvPr/>
        </p:nvSpPr>
        <p:spPr>
          <a:xfrm>
            <a:off x="5790179" y="2683211"/>
            <a:ext cx="9666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4"/>
              <a:buFont typeface="Calibri"/>
              <a:buNone/>
            </a:pPr>
            <a:r>
              <a:rPr b="1" lang="en" sz="804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VLM Target</a:t>
            </a:r>
            <a:endParaRPr sz="8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2"/>
          <p:cNvSpPr/>
          <p:nvPr/>
        </p:nvSpPr>
        <p:spPr>
          <a:xfrm>
            <a:off x="5753398" y="3265582"/>
            <a:ext cx="1040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&lt; 15s / image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16 GB VRAM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32"/>
          <p:cNvCxnSpPr>
            <a:stCxn id="267" idx="3"/>
          </p:cNvCxnSpPr>
          <p:nvPr/>
        </p:nvCxnSpPr>
        <p:spPr>
          <a:xfrm>
            <a:off x="6756779" y="2925311"/>
            <a:ext cx="183900" cy="0"/>
          </a:xfrm>
          <a:prstGeom prst="straightConnector1">
            <a:avLst/>
          </a:prstGeom>
          <a:noFill/>
          <a:ln cap="flat" cmpd="sng" w="17025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" name="Google Shape;270;p32"/>
          <p:cNvSpPr/>
          <p:nvPr/>
        </p:nvSpPr>
        <p:spPr>
          <a:xfrm>
            <a:off x="6952837" y="2634169"/>
            <a:ext cx="1113900" cy="582300"/>
          </a:xfrm>
          <a:prstGeom prst="rect">
            <a:avLst/>
          </a:prstGeom>
          <a:solidFill>
            <a:srgbClr val="FFFFFF"/>
          </a:solidFill>
          <a:ln cap="flat" cmpd="sng" w="85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2"/>
          <p:cNvSpPr/>
          <p:nvPr/>
        </p:nvSpPr>
        <p:spPr>
          <a:xfrm>
            <a:off x="7026400" y="2683211"/>
            <a:ext cx="9666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4"/>
              <a:buFont typeface="Calibri"/>
              <a:buNone/>
            </a:pPr>
            <a:r>
              <a:rPr b="1" lang="en" sz="804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Persist + Retrieve</a:t>
            </a:r>
            <a:endParaRPr sz="80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2"/>
          <p:cNvSpPr/>
          <p:nvPr/>
        </p:nvSpPr>
        <p:spPr>
          <a:xfrm>
            <a:off x="6989618" y="3265582"/>
            <a:ext cx="1040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Standards JSON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No overwrite/delete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603"/>
              <a:buFont typeface="Calibri"/>
              <a:buNone/>
            </a:pPr>
            <a:r>
              <a:rPr lang="en" sz="803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Retrieve via CLI arg</a:t>
            </a:r>
            <a:endParaRPr sz="80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2"/>
          <p:cNvSpPr/>
          <p:nvPr/>
        </p:nvSpPr>
        <p:spPr>
          <a:xfrm>
            <a:off x="506050" y="3860210"/>
            <a:ext cx="2417700" cy="796500"/>
          </a:xfrm>
          <a:prstGeom prst="rect">
            <a:avLst/>
          </a:prstGeom>
          <a:solidFill>
            <a:srgbClr val="A4C2F4"/>
          </a:solidFill>
          <a:ln cap="flat" cmpd="sng" w="85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2"/>
          <p:cNvSpPr/>
          <p:nvPr/>
        </p:nvSpPr>
        <p:spPr>
          <a:xfrm>
            <a:off x="579613" y="3901317"/>
            <a:ext cx="2271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72"/>
              <a:buFont typeface="Calibri"/>
              <a:buNone/>
            </a:pPr>
            <a:r>
              <a:rPr b="1" lang="en" sz="1072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Inputs &amp; Configuration</a:t>
            </a:r>
            <a:endParaRPr sz="10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2"/>
          <p:cNvSpPr/>
          <p:nvPr/>
        </p:nvSpPr>
        <p:spPr>
          <a:xfrm>
            <a:off x="640915" y="4117132"/>
            <a:ext cx="2172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-121077" lvl="0" marL="119198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Calibri"/>
              <a:buChar char="•"/>
            </a:pPr>
            <a:r>
              <a:rPr lang="en" sz="7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CLI args: usage, input folder, output folder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1077" lvl="0" marL="119198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Calibri"/>
              <a:buChar char="•"/>
            </a:pPr>
            <a:r>
              <a:rPr lang="en" sz="7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Validate data presence + formats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1077" lvl="0" marL="119198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Calibri"/>
              <a:buChar char="•"/>
            </a:pPr>
            <a:r>
              <a:rPr lang="en" sz="7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Choose VLM + prompt via text config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2"/>
          <p:cNvSpPr/>
          <p:nvPr/>
        </p:nvSpPr>
        <p:spPr>
          <a:xfrm>
            <a:off x="3077267" y="3860210"/>
            <a:ext cx="2417700" cy="796500"/>
          </a:xfrm>
          <a:prstGeom prst="rect">
            <a:avLst/>
          </a:prstGeom>
          <a:solidFill>
            <a:srgbClr val="B4A7D6"/>
          </a:solidFill>
          <a:ln cap="flat" cmpd="sng" w="85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2"/>
          <p:cNvSpPr/>
          <p:nvPr/>
        </p:nvSpPr>
        <p:spPr>
          <a:xfrm>
            <a:off x="3150830" y="3901317"/>
            <a:ext cx="2271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72"/>
              <a:buFont typeface="Calibri"/>
              <a:buNone/>
            </a:pPr>
            <a:r>
              <a:rPr b="1" lang="en" sz="872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Outputs</a:t>
            </a:r>
            <a:endParaRPr sz="8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2"/>
          <p:cNvSpPr/>
          <p:nvPr/>
        </p:nvSpPr>
        <p:spPr>
          <a:xfrm>
            <a:off x="3212132" y="4117132"/>
            <a:ext cx="2172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-121077" lvl="0" marL="119198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Calibri"/>
              <a:buChar char="•"/>
            </a:pPr>
            <a:r>
              <a:rPr lang="en" sz="7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JSON report + supporting imagery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1077" lvl="0" marL="119198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Calibri"/>
              <a:buChar char="•"/>
            </a:pPr>
            <a:r>
              <a:rPr lang="en" sz="7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Notify user + output location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1077" lvl="0" marL="119198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00"/>
              <a:buFont typeface="Calibri"/>
              <a:buChar char="•"/>
            </a:pPr>
            <a:r>
              <a:rPr lang="en" sz="7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Retrieval mode for completed assessments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2"/>
          <p:cNvSpPr/>
          <p:nvPr/>
        </p:nvSpPr>
        <p:spPr>
          <a:xfrm>
            <a:off x="5648474" y="3860209"/>
            <a:ext cx="2590200" cy="796500"/>
          </a:xfrm>
          <a:prstGeom prst="rect">
            <a:avLst/>
          </a:prstGeom>
          <a:solidFill>
            <a:srgbClr val="FFE599"/>
          </a:solidFill>
          <a:ln cap="flat" cmpd="sng" w="85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7028" rotWithShape="0" algn="bl" dir="2700000" dist="8514">
              <a:srgbClr val="000000">
                <a:alpha val="11760"/>
              </a:srgbClr>
            </a:outerShdw>
          </a:effectLst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2"/>
          <p:cNvSpPr/>
          <p:nvPr/>
        </p:nvSpPr>
        <p:spPr>
          <a:xfrm>
            <a:off x="5722047" y="3901317"/>
            <a:ext cx="2271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72"/>
              <a:buFont typeface="Calibri"/>
              <a:buNone/>
            </a:pPr>
            <a:r>
              <a:rPr b="1" lang="en" sz="872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Edge Cases &amp; Constraints</a:t>
            </a:r>
            <a:endParaRPr sz="8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2"/>
          <p:cNvSpPr/>
          <p:nvPr/>
        </p:nvSpPr>
        <p:spPr>
          <a:xfrm>
            <a:off x="5758424" y="4093157"/>
            <a:ext cx="2172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650" lIns="61300" spcFirstLastPara="1" rIns="61300" wrap="square" tIns="30650">
            <a:noAutofit/>
          </a:bodyPr>
          <a:lstStyle/>
          <a:p>
            <a:pPr indent="-125549" lvl="0" marL="119198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Char char="•"/>
            </a:pPr>
            <a:r>
              <a:rPr lang="en" sz="737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Invalid/corrupt → notify; continue or re-run</a:t>
            </a:r>
            <a:endParaRPr sz="7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5549" lvl="0" marL="119198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Char char="•"/>
            </a:pPr>
            <a:r>
              <a:rPr lang="en" sz="737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Low confidence → flag; manual review/reprocess</a:t>
            </a:r>
            <a:endParaRPr sz="7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5549" lvl="0" marL="119198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Char char="•"/>
            </a:pPr>
            <a:r>
              <a:rPr lang="en" sz="737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System failure → log; alert admin; retry later</a:t>
            </a:r>
            <a:endParaRPr sz="7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5549" lvl="0" marL="119198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737"/>
              <a:buFont typeface="Calibri"/>
              <a:buChar char="•"/>
            </a:pPr>
            <a:r>
              <a:rPr lang="en" sz="737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Offline, no external deps, ≤ 20 GB footprint</a:t>
            </a:r>
            <a:endParaRPr sz="7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2"/>
          <p:cNvSpPr txBox="1"/>
          <p:nvPr/>
        </p:nvSpPr>
        <p:spPr>
          <a:xfrm>
            <a:off x="3485550" y="2365109"/>
            <a:ext cx="21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Robotic Platform</a:t>
            </a:r>
            <a:endParaRPr sz="1200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3" name="Google Shape;283;p32"/>
          <p:cNvSpPr txBox="1"/>
          <p:nvPr/>
        </p:nvSpPr>
        <p:spPr>
          <a:xfrm>
            <a:off x="3485550" y="903959"/>
            <a:ext cx="21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Local Dev Environment</a:t>
            </a:r>
            <a:endParaRPr sz="1200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 Tech F23 Template">
  <a:themeElements>
    <a:clrScheme name="Simple Light">
      <a:dk1>
        <a:srgbClr val="000000"/>
      </a:dk1>
      <a:lt1>
        <a:srgbClr val="FFFFFF"/>
      </a:lt1>
      <a:dk2>
        <a:srgbClr val="132C3E"/>
      </a:dk2>
      <a:lt2>
        <a:srgbClr val="EEEEEE"/>
      </a:lt2>
      <a:accent1>
        <a:srgbClr val="2F7F6F"/>
      </a:accent1>
      <a:accent2>
        <a:srgbClr val="67D7B6"/>
      </a:accent2>
      <a:accent3>
        <a:srgbClr val="204E5D"/>
      </a:accent3>
      <a:accent4>
        <a:srgbClr val="5ABE72"/>
      </a:accent4>
      <a:accent5>
        <a:srgbClr val="2071DE"/>
      </a:accent5>
      <a:accent6>
        <a:srgbClr val="FF514A"/>
      </a:accent6>
      <a:hlink>
        <a:srgbClr val="2F7F6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